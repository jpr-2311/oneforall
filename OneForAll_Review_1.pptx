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04CD04-A168-4952-A883-29AB56346ABF}" type="datetimeFigureOut">
              <a:rPr lang="en-IN" smtClean="0"/>
              <a:t>08-10-2026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B21C63-0AC1-4E33-8CB5-6ECB5B09CB36}" type="slidenum">
              <a:rPr lang="en-IN" smtClean="0"/>
              <a:t>‹#›</a:t>
            </a:fld>
            <a:endParaRPr lang="en-IN"/>
          </a:p>
        </p:txBody>
      </p:sp>
    </p:spTree>
    <p:extLst>
      <p:ext uri="{BB962C8B-B14F-4D97-AF65-F5344CB8AC3E}">
        <p14:creationId xmlns:p14="http://schemas.microsoft.com/office/powerpoint/2010/main" val="3135363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team and guide. One line: OneForAll is a permission-aware engineering intelligence platform; this review shows the implemented foundation (workspace, requirements, repository intelligence) and the plan for engineering context, AI assistance and explainable defect-risk prediction. Fill in the co-guide and the individual contribution placeholders before presenting.</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a:t>
            </a:fld>
            <a:endParaRPr lang="en-IN"/>
          </a:p>
        </p:txBody>
      </p:sp>
    </p:spTree>
    <p:extLst>
      <p:ext uri="{BB962C8B-B14F-4D97-AF65-F5344CB8AC3E}">
        <p14:creationId xmlns:p14="http://schemas.microsoft.com/office/powerpoint/2010/main" val="1689857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problem, motivation and need. The ring shows where OneForAll sits in the SDLC: requirements and code are implemented today (requirements/tasks, repository snapshots and structure analysis). The shared engineering context in the centre is the next phase (2I). Review, test, deploy and feedback stages are future work.</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2</a:t>
            </a:fld>
            <a:endParaRPr lang="en-IN"/>
          </a:p>
        </p:txBody>
      </p:sp>
    </p:spTree>
    <p:extLst>
      <p:ext uri="{BB962C8B-B14F-4D97-AF65-F5344CB8AC3E}">
        <p14:creationId xmlns:p14="http://schemas.microsoft.com/office/powerpoint/2010/main" val="3087896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Required by the Review-1 template. Highlight the stack change: the proposed .NET / Angular / SQL Server design was replaced by Next.js + Supabase, where PostgreSQL Row-Level Security enforces tenant isolation inside the database. Fill in the committee suggestions before presenting. Note that the refined title needs Department approval.</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3</a:t>
            </a:fld>
            <a:endParaRPr lang="en-IN"/>
          </a:p>
        </p:txBody>
      </p:sp>
    </p:spTree>
    <p:extLst>
      <p:ext uri="{BB962C8B-B14F-4D97-AF65-F5344CB8AC3E}">
        <p14:creationId xmlns:p14="http://schemas.microsoft.com/office/powerpoint/2010/main" val="67181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State the problem in one breath, then the three cards. Avoid statistics we have not measured. SDGs carried over from the Zeroth Review (8 and 9).</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4</a:t>
            </a:fld>
            <a:endParaRPr lang="en-IN"/>
          </a:p>
        </p:txBody>
      </p:sp>
    </p:spTree>
    <p:extLst>
      <p:ext uri="{BB962C8B-B14F-4D97-AF65-F5344CB8AC3E}">
        <p14:creationId xmlns:p14="http://schemas.microsoft.com/office/powerpoint/2010/main" val="450317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fair to existing tools: each is good at its slice. The gap is the connection between slices, under access control. Product capabilities change quickly, so keep claims about tools general.</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5</a:t>
            </a:fld>
            <a:endParaRPr lang="en-IN"/>
          </a:p>
        </p:txBody>
      </p:sp>
    </p:spTree>
    <p:extLst>
      <p:ext uri="{BB962C8B-B14F-4D97-AF65-F5344CB8AC3E}">
        <p14:creationId xmlns:p14="http://schemas.microsoft.com/office/powerpoint/2010/main" val="3951796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each paper: one sentence of idea, one of result, one of limitation. Numbers are as reported by the authors. The stage tag shows where the paper sits in our Represent → Understand → Plan → Predict → Explain pipeline.</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6</a:t>
            </a:fld>
            <a:endParaRPr lang="en-IN"/>
          </a:p>
        </p:txBody>
      </p:sp>
    </p:spTree>
    <p:extLst>
      <p:ext uri="{BB962C8B-B14F-4D97-AF65-F5344CB8AC3E}">
        <p14:creationId xmlns:p14="http://schemas.microsoft.com/office/powerpoint/2010/main" val="2988099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JIT-BiCC predicts; FoX explains. Together they define the Predict and Explain stages we plan to adopt. Supporting references give the wider context from our Zeroth survey.</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7</a:t>
            </a:fld>
            <a:endParaRPr lang="en-IN"/>
          </a:p>
        </p:txBody>
      </p:sp>
    </p:spTree>
    <p:extLst>
      <p:ext uri="{BB962C8B-B14F-4D97-AF65-F5344CB8AC3E}">
        <p14:creationId xmlns:p14="http://schemas.microsoft.com/office/powerpoint/2010/main" val="3729849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message for the rubric (research gap and novelty): we do not claim to invent code graphs or JIT prediction. The contribution is the engineering-context architecture that connects the five stages under database-enforced access control. Only the Represent stage has an implemented foundation today.</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8</a:t>
            </a:fld>
            <a:endParaRPr lang="en-IN"/>
          </a:p>
        </p:txBody>
      </p:sp>
    </p:spTree>
    <p:extLst>
      <p:ext uri="{BB962C8B-B14F-4D97-AF65-F5344CB8AC3E}">
        <p14:creationId xmlns:p14="http://schemas.microsoft.com/office/powerpoint/2010/main" val="3741291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objectives are implemented, one is next, two are future. Measures for future objectives are planned evaluation criteria, not results.</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9</a:t>
            </a:fld>
            <a:endParaRPr lang="en-IN"/>
          </a:p>
        </p:txBody>
      </p:sp>
    </p:spTree>
    <p:extLst>
      <p:ext uri="{BB962C8B-B14F-4D97-AF65-F5344CB8AC3E}">
        <p14:creationId xmlns:p14="http://schemas.microsoft.com/office/powerpoint/2010/main" val="2395870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at the three columns: everything on the left runs today; the middle is the next phase; the right is the plan. Nothing in the right column is claimed as implemented.</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10</a:t>
            </a:fld>
            <a:endParaRPr lang="en-IN"/>
          </a:p>
        </p:txBody>
      </p:sp>
    </p:spTree>
    <p:extLst>
      <p:ext uri="{BB962C8B-B14F-4D97-AF65-F5344CB8AC3E}">
        <p14:creationId xmlns:p14="http://schemas.microsoft.com/office/powerpoint/2010/main" val="3079553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Functional requirements map one-to-one to implemented modules, plus the next and future rows. For non-functional requirements, we state design constraints and limits — we do not claim performance figures we have not measured.</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11</a:t>
            </a:fld>
            <a:endParaRPr lang="en-IN"/>
          </a:p>
        </p:txBody>
      </p:sp>
    </p:spTree>
    <p:extLst>
      <p:ext uri="{BB962C8B-B14F-4D97-AF65-F5344CB8AC3E}">
        <p14:creationId xmlns:p14="http://schemas.microsoft.com/office/powerpoint/2010/main" val="2838164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top to bottom: every request passes access control and the organisation hierarchy before it touches workspace data. The first four bands are implemented. The engineering context (amber) is next. AI, risk and delivery bands are future work; the dashed loop shows deployment feedback updating the context.</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12</a:t>
            </a:fld>
            <a:endParaRPr lang="en-IN"/>
          </a:p>
        </p:txBody>
      </p:sp>
    </p:spTree>
    <p:extLst>
      <p:ext uri="{BB962C8B-B14F-4D97-AF65-F5344CB8AC3E}">
        <p14:creationId xmlns:p14="http://schemas.microsoft.com/office/powerpoint/2010/main" val="3203565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real stack. One technical advantage over the Zeroth proposal: database-level Row-Level Security keeps tenant isolation in force even if application code has a bug. Be explicit that no AI component runs today.</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13</a:t>
            </a:fld>
            <a:endParaRPr lang="en-IN"/>
          </a:p>
        </p:txBody>
      </p:sp>
    </p:spTree>
    <p:extLst>
      <p:ext uri="{BB962C8B-B14F-4D97-AF65-F5344CB8AC3E}">
        <p14:creationId xmlns:p14="http://schemas.microsoft.com/office/powerpoint/2010/main" val="4214891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Methodology slide. Phase 2G stores file-level facts (manifest); Phase 2H extracts structure from ASTs. Explain the four decisions per file and the signed persistence. The numbers on the right are the real output of the analyzer on our 10-file demo snapshot, shown in the UI on the next slides. Calls and references are reserved in the schema but not extracted yet.</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14</a:t>
            </a:fld>
            <a:endParaRPr lang="en-IN"/>
          </a:p>
        </p:txBody>
      </p:sp>
    </p:spTree>
    <p:extLst>
      <p:ext uri="{BB962C8B-B14F-4D97-AF65-F5344CB8AC3E}">
        <p14:creationId xmlns:p14="http://schemas.microsoft.com/office/powerpoint/2010/main" val="1615856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the request path top to bottom. The green layers run inside PostgreSQL, so a bug in application code cannot bypass them. The role matrix is enforced by RLS policies, which the next slide's tests check (153/153 PostgREST checks, including cross-tenant attempts).</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15</a:t>
            </a:fld>
            <a:endParaRPr lang="en-IN"/>
          </a:p>
        </p:txBody>
      </p:sp>
    </p:spTree>
    <p:extLst>
      <p:ext uri="{BB962C8B-B14F-4D97-AF65-F5344CB8AC3E}">
        <p14:creationId xmlns:p14="http://schemas.microsoft.com/office/powerpoint/2010/main" val="35534578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Screenshots are from the running prototype (production build on localhost). The analysis numbers are the real output from the demo snapshot. Offer a live demo if time allows: sign in → open the project → requirements board → repository intelligence.</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16</a:t>
            </a:fld>
            <a:endParaRPr lang="en-IN"/>
          </a:p>
        </p:txBody>
      </p:sp>
    </p:spTree>
    <p:extLst>
      <p:ext uri="{BB962C8B-B14F-4D97-AF65-F5344CB8AC3E}">
        <p14:creationId xmlns:p14="http://schemas.microsoft.com/office/powerpoint/2010/main" val="19191688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numbers come from our own test runs on the local stack. Mutation testing deliberately breaks the code (for example the HMAC check) and confirms a test fails. Equivalent mutants cannot be detected by any test by definition, so we report them separately rather than inflating the score.</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17</a:t>
            </a:fld>
            <a:endParaRPr lang="en-IN"/>
          </a:p>
        </p:txBody>
      </p:sp>
    </p:spTree>
    <p:extLst>
      <p:ext uri="{BB962C8B-B14F-4D97-AF65-F5344CB8AC3E}">
        <p14:creationId xmlns:p14="http://schemas.microsoft.com/office/powerpoint/2010/main" val="1559356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Pick two or three of these to explain in detail, depending on time. All five happened during implementation and are visible in the code and migrations.</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18</a:t>
            </a:fld>
            <a:endParaRPr lang="en-IN"/>
          </a:p>
        </p:txBody>
      </p:sp>
    </p:spTree>
    <p:extLst>
      <p:ext uri="{BB962C8B-B14F-4D97-AF65-F5344CB8AC3E}">
        <p14:creationId xmlns:p14="http://schemas.microsoft.com/office/powerpoint/2010/main" val="10571584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Completed bars cover work between the Zeroth Review (August) and Review 1 (October); the implementation phases were committed in early October. Future bars are a plan, not a commitment. The percentage of overall completion is left for the team to agree; the phase count is a fact, but phases differ in size — the AI and risk phases carry most of the research work.</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19</a:t>
            </a:fld>
            <a:endParaRPr lang="en-IN"/>
          </a:p>
        </p:txBody>
      </p:sp>
    </p:spTree>
    <p:extLst>
      <p:ext uri="{BB962C8B-B14F-4D97-AF65-F5344CB8AC3E}">
        <p14:creationId xmlns:p14="http://schemas.microsoft.com/office/powerpoint/2010/main" val="16997305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the three conclusion points, then open for questions. References [1]–[5] are the core papers; [6]–[12] are supporting literature cited on slides 5 and 7; [13]–[15] are the technical documentation behind slide 13.</a:t>
            </a:r>
            <a:endParaRPr lang="en-IN"/>
          </a:p>
        </p:txBody>
      </p:sp>
      <p:sp>
        <p:nvSpPr>
          <p:cNvPr id="4" name="Slide Number Placeholder 3"/>
          <p:cNvSpPr>
            <a:spLocks noGrp="1"/>
          </p:cNvSpPr>
          <p:nvPr>
            <p:ph type="sldNum" sz="quarter" idx="5"/>
          </p:nvPr>
        </p:nvSpPr>
        <p:spPr/>
        <p:txBody>
          <a:bodyPr/>
          <a:lstStyle/>
          <a:p>
            <a:fld id="{B3B21C63-0AC1-4E33-8CB5-6ECB5B09CB36}" type="slidenum">
              <a:rPr lang="en-IN" smtClean="0"/>
              <a:t>20</a:t>
            </a:fld>
            <a:endParaRPr lang="en-IN"/>
          </a:p>
        </p:txBody>
      </p:sp>
    </p:spTree>
    <p:extLst>
      <p:ext uri="{BB962C8B-B14F-4D97-AF65-F5344CB8AC3E}">
        <p14:creationId xmlns:p14="http://schemas.microsoft.com/office/powerpoint/2010/main" val="2198959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C216C-6E43-56F6-42B1-0A39AF744A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9B4CEA-4502-A0F1-2BB5-5A9FB4DB91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983AA8-A8F1-85BD-C202-7ACC7A7F6E12}"/>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5" name="Footer Placeholder 4">
            <a:extLst>
              <a:ext uri="{FF2B5EF4-FFF2-40B4-BE49-F238E27FC236}">
                <a16:creationId xmlns:a16="http://schemas.microsoft.com/office/drawing/2014/main" id="{6D429F30-9DD3-455D-A12C-1C76BFAEC1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4F23B6-E6AF-2516-4B07-F47F4B90A55A}"/>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1235789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0C51E-FFAE-D934-309E-7795E68774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DD025F-B015-21A3-CD39-9490901B4B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1D2829-00AC-7B6A-884A-6CBF340ABD8B}"/>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5" name="Footer Placeholder 4">
            <a:extLst>
              <a:ext uri="{FF2B5EF4-FFF2-40B4-BE49-F238E27FC236}">
                <a16:creationId xmlns:a16="http://schemas.microsoft.com/office/drawing/2014/main" id="{A5808AF4-F422-3B55-AC8A-C65CFFA5E4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F8872A-0DD3-D85F-E4C3-983DDD56017B}"/>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1293381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9DD0C-4FCB-F524-D21A-0506120A55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7E3263-CA71-C544-60E9-B38F0F4F72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3BDE59-6901-71D0-D174-2D570DBB0837}"/>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5" name="Footer Placeholder 4">
            <a:extLst>
              <a:ext uri="{FF2B5EF4-FFF2-40B4-BE49-F238E27FC236}">
                <a16:creationId xmlns:a16="http://schemas.microsoft.com/office/drawing/2014/main" id="{05959DCB-D1FC-14F9-B6B7-71D4322535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3B86BD-B8E0-27B0-73A0-83E4349B38E2}"/>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220907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B8596-5BE8-8380-1726-0CD5FC5C8B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F3F364-86CF-F1C9-1F3D-2F4C0E33C7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8CED9E7-6F6D-90CD-BA61-A865A5BBDE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B85141-ACB8-68F1-0B9C-F28EC76E39E6}"/>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6" name="Footer Placeholder 5">
            <a:extLst>
              <a:ext uri="{FF2B5EF4-FFF2-40B4-BE49-F238E27FC236}">
                <a16:creationId xmlns:a16="http://schemas.microsoft.com/office/drawing/2014/main" id="{67F4F091-758A-D647-62BB-FCFF0A2AD3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B5E6C5-479D-00DA-A37C-F25BDECCE246}"/>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1443819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5778B-4908-DCE2-13D3-ABF3E0D61F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C243C2-CCFF-AA40-4250-942D2E9A0F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309FCF-DF11-7FE3-92B4-2FD442A288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614BB72-205C-6D21-BD95-A3302324DB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64C417-671E-0E52-E568-6D15021DE2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7D998D9-EAF8-20D1-03C7-9FAD72690457}"/>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8" name="Footer Placeholder 7">
            <a:extLst>
              <a:ext uri="{FF2B5EF4-FFF2-40B4-BE49-F238E27FC236}">
                <a16:creationId xmlns:a16="http://schemas.microsoft.com/office/drawing/2014/main" id="{0E0C18F4-2C3C-FBA8-783B-A3C6EC8C26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95A079-178C-D0B1-C78B-979816ED955A}"/>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3292462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5457B-4695-86ED-D047-C4C0A1A368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C5EEFD-73BF-E194-ED05-04D26B0C24FF}"/>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4" name="Footer Placeholder 3">
            <a:extLst>
              <a:ext uri="{FF2B5EF4-FFF2-40B4-BE49-F238E27FC236}">
                <a16:creationId xmlns:a16="http://schemas.microsoft.com/office/drawing/2014/main" id="{388EF307-59ED-989B-BA0F-778FBA62886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41AA0DF-6C42-7139-D333-0EBAB3912BD1}"/>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1537481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0E08F-4F88-EC52-5F63-6210BDEC4565}"/>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3" name="Footer Placeholder 2">
            <a:extLst>
              <a:ext uri="{FF2B5EF4-FFF2-40B4-BE49-F238E27FC236}">
                <a16:creationId xmlns:a16="http://schemas.microsoft.com/office/drawing/2014/main" id="{E094CC54-9892-4568-8FD9-EBC54D009D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F58347A-74CC-CE2F-9FED-F29771547D9A}"/>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1574325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CB8BD-B155-4650-D712-DF3953661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478666-9AB6-BEBE-8CAA-DF48EFE088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713141-6822-0BB7-2D65-EC51CC4744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DF71BE-3330-E839-EE8D-1CABE3723164}"/>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6" name="Footer Placeholder 5">
            <a:extLst>
              <a:ext uri="{FF2B5EF4-FFF2-40B4-BE49-F238E27FC236}">
                <a16:creationId xmlns:a16="http://schemas.microsoft.com/office/drawing/2014/main" id="{FEB42206-2F93-F2D6-93F3-5B1A5BB21D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9661FC-C0C5-4F44-C743-C209CE1F4F86}"/>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3007674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895AB-5FCA-1261-64DA-80FCE4D218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864223D-A26F-30B3-2990-4F0E1986715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7DFEA42-EBAB-836B-D3A2-AB502C5ABC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C8505-03E7-DF72-B03B-84641A5CF136}"/>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6" name="Footer Placeholder 5">
            <a:extLst>
              <a:ext uri="{FF2B5EF4-FFF2-40B4-BE49-F238E27FC236}">
                <a16:creationId xmlns:a16="http://schemas.microsoft.com/office/drawing/2014/main" id="{46FE9833-B414-AD40-235C-8F899F769E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DE52F2-A21D-F2C1-8520-8DE9B2BF2F8A}"/>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1745193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42BB0-6C35-2680-6ACF-8C12233F0B9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D7844D-187C-B97E-47A9-61B345F46B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F92C9B-A49F-8572-826C-FCFC26EAF817}"/>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5" name="Footer Placeholder 4">
            <a:extLst>
              <a:ext uri="{FF2B5EF4-FFF2-40B4-BE49-F238E27FC236}">
                <a16:creationId xmlns:a16="http://schemas.microsoft.com/office/drawing/2014/main" id="{11CF849E-5E86-24A7-6D1F-174A9F990C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587534-7773-21EF-4234-650DCA813E48}"/>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1398215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8E886D-EFC4-A876-05FA-1FC717BACE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F602C2-F209-5706-93F1-5B14A95C8D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B4DB45-CF1B-885B-3611-D5EC5340BE23}"/>
              </a:ext>
            </a:extLst>
          </p:cNvPr>
          <p:cNvSpPr>
            <a:spLocks noGrp="1"/>
          </p:cNvSpPr>
          <p:nvPr>
            <p:ph type="dt" sz="half" idx="10"/>
          </p:nvPr>
        </p:nvSpPr>
        <p:spPr/>
        <p:txBody>
          <a:bodyPr/>
          <a:lstStyle/>
          <a:p>
            <a:fld id="{153F0509-D393-4099-839B-7E179A4ECCE1}" type="datetimeFigureOut">
              <a:rPr lang="en-IN" smtClean="0"/>
              <a:t>08-10-2026</a:t>
            </a:fld>
            <a:endParaRPr lang="en-IN"/>
          </a:p>
        </p:txBody>
      </p:sp>
      <p:sp>
        <p:nvSpPr>
          <p:cNvPr id="5" name="Footer Placeholder 4">
            <a:extLst>
              <a:ext uri="{FF2B5EF4-FFF2-40B4-BE49-F238E27FC236}">
                <a16:creationId xmlns:a16="http://schemas.microsoft.com/office/drawing/2014/main" id="{7EE59DE9-3DEF-F55F-99CD-2D6CD9541D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42C22E-BC5F-32B0-391E-6E60D098EB84}"/>
              </a:ext>
            </a:extLst>
          </p:cNvPr>
          <p:cNvSpPr>
            <a:spLocks noGrp="1"/>
          </p:cNvSpPr>
          <p:nvPr>
            <p:ph type="sldNum" sz="quarter" idx="12"/>
          </p:nvPr>
        </p:nvSpPr>
        <p:spPr/>
        <p:txBody>
          <a:bodyPr/>
          <a:lstStyle/>
          <a:p>
            <a:fld id="{6C336C76-3CD2-488B-BE55-C0B84022D5C8}" type="slidenum">
              <a:rPr lang="en-IN" smtClean="0"/>
              <a:t>‹#›</a:t>
            </a:fld>
            <a:endParaRPr lang="en-IN"/>
          </a:p>
        </p:txBody>
      </p:sp>
    </p:spTree>
    <p:extLst>
      <p:ext uri="{BB962C8B-B14F-4D97-AF65-F5344CB8AC3E}">
        <p14:creationId xmlns:p14="http://schemas.microsoft.com/office/powerpoint/2010/main" val="8109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2B24A5-8FC0-2CFE-7EC8-1C15586D4C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B6E557-4491-98BE-31EC-2B0A4F7F54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F1A2CA-76F0-85D2-5464-A083F0FFE5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3F0509-D393-4099-839B-7E179A4ECCE1}" type="datetimeFigureOut">
              <a:rPr lang="en-IN" smtClean="0"/>
              <a:t>08-10-2026</a:t>
            </a:fld>
            <a:endParaRPr lang="en-IN"/>
          </a:p>
        </p:txBody>
      </p:sp>
      <p:sp>
        <p:nvSpPr>
          <p:cNvPr id="5" name="Footer Placeholder 4">
            <a:extLst>
              <a:ext uri="{FF2B5EF4-FFF2-40B4-BE49-F238E27FC236}">
                <a16:creationId xmlns:a16="http://schemas.microsoft.com/office/drawing/2014/main" id="{50D252A0-BF7F-29D0-73A2-0AAA0DBDCA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2041F1E-420C-FED5-8391-684C8CC0F4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336C76-3CD2-488B-BE55-C0B84022D5C8}" type="slidenum">
              <a:rPr lang="en-IN" smtClean="0"/>
              <a:t>‹#›</a:t>
            </a:fld>
            <a:endParaRPr lang="en-IN"/>
          </a:p>
        </p:txBody>
      </p:sp>
    </p:spTree>
    <p:extLst>
      <p:ext uri="{BB962C8B-B14F-4D97-AF65-F5344CB8AC3E}">
        <p14:creationId xmlns:p14="http://schemas.microsoft.com/office/powerpoint/2010/main" val="3393550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CF5935-B1D9-A9C7-5F73-C04CBF732B1F}"/>
              </a:ext>
            </a:extLst>
          </p:cNvPr>
          <p:cNvSpPr txBox="1"/>
          <p:nvPr/>
        </p:nvSpPr>
        <p:spPr>
          <a:xfrm>
            <a:off x="711200" y="584200"/>
            <a:ext cx="8128000" cy="152400"/>
          </a:xfrm>
          <a:prstGeom prst="rect">
            <a:avLst/>
          </a:prstGeom>
          <a:noFill/>
        </p:spPr>
        <p:txBody>
          <a:bodyPr vert="horz" wrap="square" lIns="0" tIns="0" rIns="0" bIns="0" rtlCol="0" anchor="t">
            <a:noAutofit/>
          </a:bodyPr>
          <a:lstStyle/>
          <a:p>
            <a:r>
              <a:rPr lang="en-US" sz="750" spc="110">
                <a:solidFill>
                  <a:srgbClr val="B3BDCF"/>
                </a:solidFill>
                <a:latin typeface="Segoe UI Semibold" panose="020B0702040204020203" pitchFamily="34" charset="0"/>
              </a:rPr>
              <a:t>MUTHOOT INSTITUTE OF TECHNOLOGY AND SCIENCE  ·  DEPARTMENT OF COMPUTER SCIENCE AND ENGINEERING</a:t>
            </a:r>
            <a:endParaRPr lang="en-IN" sz="750" spc="110">
              <a:solidFill>
                <a:srgbClr val="B3BDCF"/>
              </a:solidFill>
              <a:latin typeface="Segoe UI Semibold" panose="020B0702040204020203" pitchFamily="34" charset="0"/>
            </a:endParaRPr>
          </a:p>
        </p:txBody>
      </p:sp>
      <p:sp>
        <p:nvSpPr>
          <p:cNvPr id="3" name="Rectangle: Rounded Corners 2">
            <a:extLst>
              <a:ext uri="{FF2B5EF4-FFF2-40B4-BE49-F238E27FC236}">
                <a16:creationId xmlns:a16="http://schemas.microsoft.com/office/drawing/2014/main" id="{8AA88720-BF16-61AA-A320-229CDCA6F5D4}"/>
              </a:ext>
            </a:extLst>
          </p:cNvPr>
          <p:cNvSpPr/>
          <p:nvPr/>
        </p:nvSpPr>
        <p:spPr>
          <a:xfrm>
            <a:off x="711200" y="838200"/>
            <a:ext cx="3327400" cy="254000"/>
          </a:xfrm>
          <a:prstGeom prst="roundRect">
            <a:avLst>
              <a:gd name="adj" fmla="val 50000"/>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750" spc="80">
                <a:solidFill>
                  <a:srgbClr val="8B9BFF"/>
                </a:solidFill>
                <a:latin typeface="Segoe UI Semibold" panose="020B0702040204020203" pitchFamily="34" charset="0"/>
              </a:rPr>
              <a:t>CSD 415 PROJECT WORK  ·  PROJECT PHASE I  ·  REVIEW 1</a:t>
            </a:r>
            <a:endParaRPr lang="en-IN" sz="750" spc="80">
              <a:solidFill>
                <a:srgbClr val="8B9BFF"/>
              </a:solidFill>
              <a:latin typeface="Segoe UI Semibold" panose="020B0702040204020203" pitchFamily="34" charset="0"/>
            </a:endParaRPr>
          </a:p>
        </p:txBody>
      </p:sp>
      <p:sp>
        <p:nvSpPr>
          <p:cNvPr id="4" name="TextBox 3">
            <a:extLst>
              <a:ext uri="{FF2B5EF4-FFF2-40B4-BE49-F238E27FC236}">
                <a16:creationId xmlns:a16="http://schemas.microsoft.com/office/drawing/2014/main" id="{E82F3636-6AB3-C59A-843C-8CC0EFFBC67F}"/>
              </a:ext>
            </a:extLst>
          </p:cNvPr>
          <p:cNvSpPr txBox="1"/>
          <p:nvPr/>
        </p:nvSpPr>
        <p:spPr>
          <a:xfrm>
            <a:off x="685800" y="1320800"/>
            <a:ext cx="6604000" cy="812800"/>
          </a:xfrm>
          <a:prstGeom prst="rect">
            <a:avLst/>
          </a:prstGeom>
          <a:noFill/>
        </p:spPr>
        <p:txBody>
          <a:bodyPr vert="horz" wrap="square" lIns="0" tIns="0" rIns="0" bIns="0" rtlCol="0" anchor="t">
            <a:noAutofit/>
          </a:bodyPr>
          <a:lstStyle/>
          <a:p>
            <a:r>
              <a:rPr lang="en-IN" sz="5000">
                <a:solidFill>
                  <a:srgbClr val="F1F4F9"/>
                </a:solidFill>
                <a:latin typeface="Segoe UI Semibold" panose="020B0702040204020203" pitchFamily="34" charset="0"/>
              </a:rPr>
              <a:t>OneForAll</a:t>
            </a:r>
          </a:p>
        </p:txBody>
      </p:sp>
      <p:sp>
        <p:nvSpPr>
          <p:cNvPr id="5" name="TextBox 4">
            <a:extLst>
              <a:ext uri="{FF2B5EF4-FFF2-40B4-BE49-F238E27FC236}">
                <a16:creationId xmlns:a16="http://schemas.microsoft.com/office/drawing/2014/main" id="{714BE256-2D76-8368-D176-3F087E500E4A}"/>
              </a:ext>
            </a:extLst>
          </p:cNvPr>
          <p:cNvSpPr txBox="1"/>
          <p:nvPr/>
        </p:nvSpPr>
        <p:spPr>
          <a:xfrm>
            <a:off x="711200" y="2184400"/>
            <a:ext cx="7112000" cy="762000"/>
          </a:xfrm>
          <a:prstGeom prst="rect">
            <a:avLst/>
          </a:prstGeom>
          <a:noFill/>
        </p:spPr>
        <p:txBody>
          <a:bodyPr vert="horz" wrap="square" lIns="0" tIns="0" rIns="0" bIns="0" rtlCol="0" anchor="t">
            <a:noAutofit/>
          </a:bodyPr>
          <a:lstStyle/>
          <a:p>
            <a:r>
              <a:rPr lang="en-US" sz="1900">
                <a:solidFill>
                  <a:srgbClr val="B3BDCF"/>
                </a:solidFill>
                <a:latin typeface="Segoe UI" panose="020B0502040204020203" pitchFamily="34" charset="0"/>
              </a:rPr>
              <a:t>Repository Intelligence, Engineering Knowledge and Software Defect Risk Prediction</a:t>
            </a:r>
            <a:endParaRPr lang="en-IN" sz="1900">
              <a:solidFill>
                <a:srgbClr val="B3BDCF"/>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A1F73BEA-A2F6-828D-1142-C436248BC5F3}"/>
              </a:ext>
            </a:extLst>
          </p:cNvPr>
          <p:cNvCxnSpPr/>
          <p:nvPr/>
        </p:nvCxnSpPr>
        <p:spPr>
          <a:xfrm>
            <a:off x="723900" y="3124200"/>
            <a:ext cx="508000" cy="0"/>
          </a:xfrm>
          <a:prstGeom prst="line">
            <a:avLst/>
          </a:prstGeom>
          <a:ln w="31750">
            <a:solidFill>
              <a:srgbClr val="8B9BF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E1D6E5C-8F9D-4282-F675-4779940AE42F}"/>
              </a:ext>
            </a:extLst>
          </p:cNvPr>
          <p:cNvCxnSpPr/>
          <p:nvPr/>
        </p:nvCxnSpPr>
        <p:spPr>
          <a:xfrm flipV="1">
            <a:off x="9334500" y="889000"/>
            <a:ext cx="1079500" cy="279400"/>
          </a:xfrm>
          <a:prstGeom prst="line">
            <a:avLst/>
          </a:prstGeom>
          <a:ln w="12700">
            <a:solidFill>
              <a:srgbClr val="2C396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BC92E1A-D1DE-2D09-D293-702140AF3B50}"/>
              </a:ext>
            </a:extLst>
          </p:cNvPr>
          <p:cNvCxnSpPr/>
          <p:nvPr/>
        </p:nvCxnSpPr>
        <p:spPr>
          <a:xfrm>
            <a:off x="9334500" y="1168400"/>
            <a:ext cx="698500" cy="990600"/>
          </a:xfrm>
          <a:prstGeom prst="line">
            <a:avLst/>
          </a:prstGeom>
          <a:ln w="12700">
            <a:solidFill>
              <a:srgbClr val="2C396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ECE4989-F246-2BE7-1DC6-027977416B6B}"/>
              </a:ext>
            </a:extLst>
          </p:cNvPr>
          <p:cNvCxnSpPr/>
          <p:nvPr/>
        </p:nvCxnSpPr>
        <p:spPr>
          <a:xfrm>
            <a:off x="10414000" y="889000"/>
            <a:ext cx="762000" cy="889000"/>
          </a:xfrm>
          <a:prstGeom prst="line">
            <a:avLst/>
          </a:prstGeom>
          <a:ln w="12700">
            <a:solidFill>
              <a:srgbClr val="2C396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137DBD2-B81D-EDB4-7367-5C6780B9A7C8}"/>
              </a:ext>
            </a:extLst>
          </p:cNvPr>
          <p:cNvCxnSpPr/>
          <p:nvPr/>
        </p:nvCxnSpPr>
        <p:spPr>
          <a:xfrm flipH="1">
            <a:off x="10033000" y="1778000"/>
            <a:ext cx="1143000" cy="381000"/>
          </a:xfrm>
          <a:prstGeom prst="line">
            <a:avLst/>
          </a:prstGeom>
          <a:ln w="12700">
            <a:solidFill>
              <a:srgbClr val="2C396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013469C-918B-C3E2-60A9-9839F5205C4E}"/>
              </a:ext>
            </a:extLst>
          </p:cNvPr>
          <p:cNvCxnSpPr/>
          <p:nvPr/>
        </p:nvCxnSpPr>
        <p:spPr>
          <a:xfrm flipH="1">
            <a:off x="8890000" y="2159000"/>
            <a:ext cx="1143000" cy="254000"/>
          </a:xfrm>
          <a:prstGeom prst="line">
            <a:avLst/>
          </a:prstGeom>
          <a:ln w="12700">
            <a:solidFill>
              <a:srgbClr val="2C396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116C9-D8E5-416C-0755-B8503A891D01}"/>
              </a:ext>
            </a:extLst>
          </p:cNvPr>
          <p:cNvCxnSpPr/>
          <p:nvPr/>
        </p:nvCxnSpPr>
        <p:spPr>
          <a:xfrm>
            <a:off x="10033000" y="2159000"/>
            <a:ext cx="762000" cy="762000"/>
          </a:xfrm>
          <a:prstGeom prst="line">
            <a:avLst/>
          </a:prstGeom>
          <a:ln w="12700">
            <a:solidFill>
              <a:srgbClr val="2C396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3530969-489B-77F3-EF1E-1730310D3983}"/>
              </a:ext>
            </a:extLst>
          </p:cNvPr>
          <p:cNvCxnSpPr/>
          <p:nvPr/>
        </p:nvCxnSpPr>
        <p:spPr>
          <a:xfrm flipH="1">
            <a:off x="9652000" y="2921000"/>
            <a:ext cx="1143000" cy="254000"/>
          </a:xfrm>
          <a:prstGeom prst="line">
            <a:avLst/>
          </a:prstGeom>
          <a:ln w="12700">
            <a:solidFill>
              <a:srgbClr val="2C396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7C0CD72-EF19-C698-6317-D113B5605FC1}"/>
              </a:ext>
            </a:extLst>
          </p:cNvPr>
          <p:cNvCxnSpPr/>
          <p:nvPr/>
        </p:nvCxnSpPr>
        <p:spPr>
          <a:xfrm>
            <a:off x="8890000" y="2413000"/>
            <a:ext cx="762000" cy="762000"/>
          </a:xfrm>
          <a:prstGeom prst="line">
            <a:avLst/>
          </a:prstGeom>
          <a:ln w="12700">
            <a:solidFill>
              <a:srgbClr val="2C396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4E4665E-8C9A-3F56-0043-B427AB80D5E4}"/>
              </a:ext>
            </a:extLst>
          </p:cNvPr>
          <p:cNvCxnSpPr/>
          <p:nvPr/>
        </p:nvCxnSpPr>
        <p:spPr>
          <a:xfrm flipH="1">
            <a:off x="10795000" y="1778000"/>
            <a:ext cx="381000" cy="1143000"/>
          </a:xfrm>
          <a:prstGeom prst="line">
            <a:avLst/>
          </a:prstGeom>
          <a:ln w="12700">
            <a:solidFill>
              <a:srgbClr val="2C3962"/>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EC7C02A3-F2ED-E7BF-B6F6-956BF302CCC1}"/>
              </a:ext>
            </a:extLst>
          </p:cNvPr>
          <p:cNvSpPr/>
          <p:nvPr/>
        </p:nvSpPr>
        <p:spPr>
          <a:xfrm>
            <a:off x="9245600" y="1079500"/>
            <a:ext cx="177800" cy="177800"/>
          </a:xfrm>
          <a:prstGeom prst="ellipse">
            <a:avLst/>
          </a:prstGeom>
          <a:solidFill>
            <a:srgbClr val="0B1020"/>
          </a:solidFill>
          <a:ln w="19050">
            <a:solidFill>
              <a:srgbClr val="8B9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E669748D-98A3-D208-198E-7D5D92D9DE55}"/>
              </a:ext>
            </a:extLst>
          </p:cNvPr>
          <p:cNvSpPr/>
          <p:nvPr/>
        </p:nvSpPr>
        <p:spPr>
          <a:xfrm>
            <a:off x="10325100" y="800100"/>
            <a:ext cx="177800" cy="177800"/>
          </a:xfrm>
          <a:prstGeom prst="ellipse">
            <a:avLst/>
          </a:prstGeom>
          <a:solidFill>
            <a:srgbClr val="0B1020"/>
          </a:solidFill>
          <a:ln w="19050">
            <a:solidFill>
              <a:srgbClr val="7884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ACADF842-B4EC-05CD-32FA-5EB0D7902D50}"/>
              </a:ext>
            </a:extLst>
          </p:cNvPr>
          <p:cNvSpPr/>
          <p:nvPr/>
        </p:nvSpPr>
        <p:spPr>
          <a:xfrm>
            <a:off x="11087100" y="1689100"/>
            <a:ext cx="177800" cy="177800"/>
          </a:xfrm>
          <a:prstGeom prst="ellipse">
            <a:avLst/>
          </a:prstGeom>
          <a:solidFill>
            <a:srgbClr val="0B1020"/>
          </a:solidFill>
          <a:ln w="19050">
            <a:solidFill>
              <a:srgbClr val="8B9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E1BB01C2-1F1E-5A60-AB4B-3F5983A30723}"/>
              </a:ext>
            </a:extLst>
          </p:cNvPr>
          <p:cNvSpPr/>
          <p:nvPr/>
        </p:nvSpPr>
        <p:spPr>
          <a:xfrm>
            <a:off x="9944100" y="2070100"/>
            <a:ext cx="177800" cy="177800"/>
          </a:xfrm>
          <a:prstGeom prst="ellipse">
            <a:avLst/>
          </a:prstGeom>
          <a:solidFill>
            <a:srgbClr val="0B1020"/>
          </a:solidFill>
          <a:ln w="19050">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BCA2C011-3530-9B96-5841-9E65DA2539D6}"/>
              </a:ext>
            </a:extLst>
          </p:cNvPr>
          <p:cNvSpPr/>
          <p:nvPr/>
        </p:nvSpPr>
        <p:spPr>
          <a:xfrm>
            <a:off x="8801100" y="2324100"/>
            <a:ext cx="177800" cy="177800"/>
          </a:xfrm>
          <a:prstGeom prst="ellipse">
            <a:avLst/>
          </a:prstGeom>
          <a:solidFill>
            <a:srgbClr val="0B1020"/>
          </a:solidFill>
          <a:ln w="19050">
            <a:solidFill>
              <a:srgbClr val="7884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75588AF9-4CC6-1ADD-1A25-1541A31FFA68}"/>
              </a:ext>
            </a:extLst>
          </p:cNvPr>
          <p:cNvSpPr/>
          <p:nvPr/>
        </p:nvSpPr>
        <p:spPr>
          <a:xfrm>
            <a:off x="10706100" y="2832100"/>
            <a:ext cx="177800" cy="177800"/>
          </a:xfrm>
          <a:prstGeom prst="ellipse">
            <a:avLst/>
          </a:prstGeom>
          <a:solidFill>
            <a:srgbClr val="0B1020"/>
          </a:solidFill>
          <a:ln w="19050">
            <a:solidFill>
              <a:srgbClr val="7884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0EF8C97C-9C3C-6CB9-2664-C833FBBA1B42}"/>
              </a:ext>
            </a:extLst>
          </p:cNvPr>
          <p:cNvSpPr/>
          <p:nvPr/>
        </p:nvSpPr>
        <p:spPr>
          <a:xfrm>
            <a:off x="9563100" y="3086100"/>
            <a:ext cx="177800" cy="177800"/>
          </a:xfrm>
          <a:prstGeom prst="ellipse">
            <a:avLst/>
          </a:prstGeom>
          <a:solidFill>
            <a:srgbClr val="0B1020"/>
          </a:solidFill>
          <a:ln w="19050">
            <a:solidFill>
              <a:srgbClr val="8B9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F66C55A4-BEF6-0074-3B90-7C088CF4A732}"/>
              </a:ext>
            </a:extLst>
          </p:cNvPr>
          <p:cNvSpPr/>
          <p:nvPr/>
        </p:nvSpPr>
        <p:spPr>
          <a:xfrm>
            <a:off x="711200" y="3657600"/>
            <a:ext cx="6959600" cy="2362200"/>
          </a:xfrm>
          <a:prstGeom prst="roundRect">
            <a:avLst>
              <a:gd name="adj" fmla="val 4301"/>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F1BA33B1-63BE-2C66-EE60-A0F15E3D32E5}"/>
              </a:ext>
            </a:extLst>
          </p:cNvPr>
          <p:cNvSpPr txBox="1"/>
          <p:nvPr/>
        </p:nvSpPr>
        <p:spPr>
          <a:xfrm>
            <a:off x="939800" y="3835400"/>
            <a:ext cx="3810000" cy="152400"/>
          </a:xfrm>
          <a:prstGeom prst="rect">
            <a:avLst/>
          </a:prstGeom>
          <a:noFill/>
        </p:spPr>
        <p:txBody>
          <a:bodyPr vert="horz" wrap="square" lIns="0" tIns="0" rIns="0" bIns="0" rtlCol="0" anchor="t">
            <a:noAutofit/>
          </a:bodyPr>
          <a:lstStyle/>
          <a:p>
            <a:r>
              <a:rPr lang="en-US" sz="750" spc="110">
                <a:solidFill>
                  <a:srgbClr val="8B9BFF"/>
                </a:solidFill>
                <a:latin typeface="Segoe UI Semibold" panose="020B0702040204020203" pitchFamily="34" charset="0"/>
              </a:rPr>
              <a:t>TEAM 14  ·  CSE 2023–2027 BATCH</a:t>
            </a:r>
            <a:endParaRPr lang="en-IN" sz="750" spc="110">
              <a:solidFill>
                <a:srgbClr val="8B9BFF"/>
              </a:solidFill>
              <a:latin typeface="Segoe UI Semibold" panose="020B0702040204020203" pitchFamily="34" charset="0"/>
            </a:endParaRPr>
          </a:p>
        </p:txBody>
      </p:sp>
      <p:sp>
        <p:nvSpPr>
          <p:cNvPr id="25" name="TextBox 24">
            <a:extLst>
              <a:ext uri="{FF2B5EF4-FFF2-40B4-BE49-F238E27FC236}">
                <a16:creationId xmlns:a16="http://schemas.microsoft.com/office/drawing/2014/main" id="{E0557A6C-499B-3818-3429-BCC1FCF91917}"/>
              </a:ext>
            </a:extLst>
          </p:cNvPr>
          <p:cNvSpPr txBox="1"/>
          <p:nvPr/>
        </p:nvSpPr>
        <p:spPr>
          <a:xfrm>
            <a:off x="4368800" y="3835400"/>
            <a:ext cx="1524000" cy="152400"/>
          </a:xfrm>
          <a:prstGeom prst="rect">
            <a:avLst/>
          </a:prstGeom>
          <a:noFill/>
        </p:spPr>
        <p:txBody>
          <a:bodyPr vert="horz" wrap="square" lIns="0" tIns="0" rIns="0" bIns="0" rtlCol="0" anchor="t">
            <a:noAutofit/>
          </a:bodyPr>
          <a:lstStyle/>
          <a:p>
            <a:r>
              <a:rPr lang="en-IN" sz="750" spc="110">
                <a:solidFill>
                  <a:srgbClr val="78849A"/>
                </a:solidFill>
                <a:latin typeface="Segoe UI Semibold" panose="020B0702040204020203" pitchFamily="34" charset="0"/>
              </a:rPr>
              <a:t>ROLL NO.</a:t>
            </a:r>
          </a:p>
        </p:txBody>
      </p:sp>
      <p:sp>
        <p:nvSpPr>
          <p:cNvPr id="26" name="TextBox 25">
            <a:extLst>
              <a:ext uri="{FF2B5EF4-FFF2-40B4-BE49-F238E27FC236}">
                <a16:creationId xmlns:a16="http://schemas.microsoft.com/office/drawing/2014/main" id="{936A6B48-9B83-6CC6-C987-FBD17B8BA686}"/>
              </a:ext>
            </a:extLst>
          </p:cNvPr>
          <p:cNvSpPr txBox="1"/>
          <p:nvPr/>
        </p:nvSpPr>
        <p:spPr>
          <a:xfrm>
            <a:off x="5588000" y="3835400"/>
            <a:ext cx="2032000" cy="152400"/>
          </a:xfrm>
          <a:prstGeom prst="rect">
            <a:avLst/>
          </a:prstGeom>
          <a:noFill/>
        </p:spPr>
        <p:txBody>
          <a:bodyPr vert="horz" wrap="square" lIns="0" tIns="0" rIns="0" bIns="0" rtlCol="0" anchor="t">
            <a:noAutofit/>
          </a:bodyPr>
          <a:lstStyle/>
          <a:p>
            <a:r>
              <a:rPr lang="en-IN" sz="750" spc="110">
                <a:solidFill>
                  <a:srgbClr val="78849A"/>
                </a:solidFill>
                <a:latin typeface="Segoe UI Semibold" panose="020B0702040204020203" pitchFamily="34" charset="0"/>
              </a:rPr>
              <a:t>FOCUS AREA (ZEROTH PLAN)</a:t>
            </a:r>
          </a:p>
        </p:txBody>
      </p:sp>
      <p:sp>
        <p:nvSpPr>
          <p:cNvPr id="27" name="TextBox 26">
            <a:extLst>
              <a:ext uri="{FF2B5EF4-FFF2-40B4-BE49-F238E27FC236}">
                <a16:creationId xmlns:a16="http://schemas.microsoft.com/office/drawing/2014/main" id="{9CA1EAD7-89D8-D324-99BA-02542353EB8F}"/>
              </a:ext>
            </a:extLst>
          </p:cNvPr>
          <p:cNvSpPr txBox="1"/>
          <p:nvPr/>
        </p:nvSpPr>
        <p:spPr>
          <a:xfrm>
            <a:off x="939800" y="4114800"/>
            <a:ext cx="3302000" cy="203200"/>
          </a:xfrm>
          <a:prstGeom prst="rect">
            <a:avLst/>
          </a:prstGeom>
          <a:noFill/>
        </p:spPr>
        <p:txBody>
          <a:bodyPr vert="horz" wrap="square" lIns="0" tIns="0" rIns="0" bIns="0" rtlCol="0" anchor="t">
            <a:noAutofit/>
          </a:bodyPr>
          <a:lstStyle/>
          <a:p>
            <a:r>
              <a:rPr lang="en-IN" sz="1200">
                <a:solidFill>
                  <a:srgbClr val="F1F4F9"/>
                </a:solidFill>
                <a:latin typeface="Segoe UI Semibold" panose="020B0702040204020203" pitchFamily="34" charset="0"/>
              </a:rPr>
              <a:t>Sunu Aariyan</a:t>
            </a:r>
          </a:p>
        </p:txBody>
      </p:sp>
      <p:sp>
        <p:nvSpPr>
          <p:cNvPr id="28" name="TextBox 27">
            <a:extLst>
              <a:ext uri="{FF2B5EF4-FFF2-40B4-BE49-F238E27FC236}">
                <a16:creationId xmlns:a16="http://schemas.microsoft.com/office/drawing/2014/main" id="{7B6DB9B3-3A55-208B-D8C2-669C59A9CBF4}"/>
              </a:ext>
            </a:extLst>
          </p:cNvPr>
          <p:cNvSpPr txBox="1"/>
          <p:nvPr/>
        </p:nvSpPr>
        <p:spPr>
          <a:xfrm>
            <a:off x="4368800" y="4127500"/>
            <a:ext cx="1143000" cy="203200"/>
          </a:xfrm>
          <a:prstGeom prst="rect">
            <a:avLst/>
          </a:prstGeom>
          <a:noFill/>
        </p:spPr>
        <p:txBody>
          <a:bodyPr vert="horz" wrap="square" lIns="0" tIns="0" rIns="0" bIns="0" rtlCol="0" anchor="t">
            <a:noAutofit/>
          </a:bodyPr>
          <a:lstStyle/>
          <a:p>
            <a:r>
              <a:rPr lang="en-IN" sz="1000">
                <a:solidFill>
                  <a:srgbClr val="B3BDCF"/>
                </a:solidFill>
                <a:latin typeface="Consolas" panose="020B0609020204030204" pitchFamily="49" charset="0"/>
              </a:rPr>
              <a:t>MUT23CS140</a:t>
            </a:r>
          </a:p>
        </p:txBody>
      </p:sp>
      <p:sp>
        <p:nvSpPr>
          <p:cNvPr id="29" name="TextBox 28">
            <a:extLst>
              <a:ext uri="{FF2B5EF4-FFF2-40B4-BE49-F238E27FC236}">
                <a16:creationId xmlns:a16="http://schemas.microsoft.com/office/drawing/2014/main" id="{4641A9CC-3F0E-9C8D-B371-2DA9DB9DB812}"/>
              </a:ext>
            </a:extLst>
          </p:cNvPr>
          <p:cNvSpPr txBox="1"/>
          <p:nvPr/>
        </p:nvSpPr>
        <p:spPr>
          <a:xfrm>
            <a:off x="5588000" y="4127500"/>
            <a:ext cx="2032000" cy="203200"/>
          </a:xfrm>
          <a:prstGeom prst="rect">
            <a:avLst/>
          </a:prstGeom>
          <a:noFill/>
        </p:spPr>
        <p:txBody>
          <a:bodyPr vert="horz" wrap="square" lIns="0" tIns="0" rIns="0" bIns="0" rtlCol="0" anchor="t">
            <a:noAutofit/>
          </a:bodyPr>
          <a:lstStyle/>
          <a:p>
            <a:r>
              <a:rPr lang="en-IN" sz="950">
                <a:solidFill>
                  <a:srgbClr val="B3BDCF"/>
                </a:solidFill>
                <a:latin typeface="Segoe UI" panose="020B0502040204020203" pitchFamily="34" charset="0"/>
              </a:rPr>
              <a:t>Frontend &amp; UI</a:t>
            </a:r>
          </a:p>
        </p:txBody>
      </p:sp>
      <p:cxnSp>
        <p:nvCxnSpPr>
          <p:cNvPr id="30" name="Straight Connector 29">
            <a:extLst>
              <a:ext uri="{FF2B5EF4-FFF2-40B4-BE49-F238E27FC236}">
                <a16:creationId xmlns:a16="http://schemas.microsoft.com/office/drawing/2014/main" id="{8378EA72-5DA2-45C6-EAEE-E1DC98A2EE8E}"/>
              </a:ext>
            </a:extLst>
          </p:cNvPr>
          <p:cNvCxnSpPr/>
          <p:nvPr/>
        </p:nvCxnSpPr>
        <p:spPr>
          <a:xfrm>
            <a:off x="939800" y="4406900"/>
            <a:ext cx="65278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5FF40D2-62F1-684D-69FD-DA95E7D759B0}"/>
              </a:ext>
            </a:extLst>
          </p:cNvPr>
          <p:cNvSpPr txBox="1"/>
          <p:nvPr/>
        </p:nvSpPr>
        <p:spPr>
          <a:xfrm>
            <a:off x="939800" y="4495800"/>
            <a:ext cx="3302000" cy="203200"/>
          </a:xfrm>
          <a:prstGeom prst="rect">
            <a:avLst/>
          </a:prstGeom>
          <a:noFill/>
        </p:spPr>
        <p:txBody>
          <a:bodyPr vert="horz" wrap="square" lIns="0" tIns="0" rIns="0" bIns="0" rtlCol="0" anchor="t">
            <a:noAutofit/>
          </a:bodyPr>
          <a:lstStyle/>
          <a:p>
            <a:r>
              <a:rPr lang="en-IN" sz="1200">
                <a:solidFill>
                  <a:srgbClr val="F1F4F9"/>
                </a:solidFill>
                <a:latin typeface="Segoe UI Semibold" panose="020B0702040204020203" pitchFamily="34" charset="0"/>
              </a:rPr>
              <a:t>Jithin P R</a:t>
            </a:r>
          </a:p>
        </p:txBody>
      </p:sp>
      <p:sp>
        <p:nvSpPr>
          <p:cNvPr id="32" name="TextBox 31">
            <a:extLst>
              <a:ext uri="{FF2B5EF4-FFF2-40B4-BE49-F238E27FC236}">
                <a16:creationId xmlns:a16="http://schemas.microsoft.com/office/drawing/2014/main" id="{59603F9B-324C-DF79-E6DF-A72C1A25DFA5}"/>
              </a:ext>
            </a:extLst>
          </p:cNvPr>
          <p:cNvSpPr txBox="1"/>
          <p:nvPr/>
        </p:nvSpPr>
        <p:spPr>
          <a:xfrm>
            <a:off x="4368800" y="4508500"/>
            <a:ext cx="1143000" cy="203200"/>
          </a:xfrm>
          <a:prstGeom prst="rect">
            <a:avLst/>
          </a:prstGeom>
          <a:noFill/>
        </p:spPr>
        <p:txBody>
          <a:bodyPr vert="horz" wrap="square" lIns="0" tIns="0" rIns="0" bIns="0" rtlCol="0" anchor="t">
            <a:noAutofit/>
          </a:bodyPr>
          <a:lstStyle/>
          <a:p>
            <a:r>
              <a:rPr lang="en-IN" sz="1000">
                <a:solidFill>
                  <a:srgbClr val="B3BDCF"/>
                </a:solidFill>
                <a:latin typeface="Consolas" panose="020B0609020204030204" pitchFamily="49" charset="0"/>
              </a:rPr>
              <a:t>MUT23CS084</a:t>
            </a:r>
          </a:p>
        </p:txBody>
      </p:sp>
      <p:sp>
        <p:nvSpPr>
          <p:cNvPr id="33" name="TextBox 32">
            <a:extLst>
              <a:ext uri="{FF2B5EF4-FFF2-40B4-BE49-F238E27FC236}">
                <a16:creationId xmlns:a16="http://schemas.microsoft.com/office/drawing/2014/main" id="{E3E937E1-ED3B-010D-8CAE-75060F5286FB}"/>
              </a:ext>
            </a:extLst>
          </p:cNvPr>
          <p:cNvSpPr txBox="1"/>
          <p:nvPr/>
        </p:nvSpPr>
        <p:spPr>
          <a:xfrm>
            <a:off x="5588000" y="4508500"/>
            <a:ext cx="2032000" cy="203200"/>
          </a:xfrm>
          <a:prstGeom prst="rect">
            <a:avLst/>
          </a:prstGeom>
          <a:noFill/>
        </p:spPr>
        <p:txBody>
          <a:bodyPr vert="horz" wrap="square" lIns="0" tIns="0" rIns="0" bIns="0" rtlCol="0" anchor="t">
            <a:noAutofit/>
          </a:bodyPr>
          <a:lstStyle/>
          <a:p>
            <a:r>
              <a:rPr lang="en-IN" sz="950">
                <a:solidFill>
                  <a:srgbClr val="B3BDCF"/>
                </a:solidFill>
                <a:latin typeface="Segoe UI" panose="020B0502040204020203" pitchFamily="34" charset="0"/>
              </a:rPr>
              <a:t>Backend</a:t>
            </a:r>
          </a:p>
        </p:txBody>
      </p:sp>
      <p:cxnSp>
        <p:nvCxnSpPr>
          <p:cNvPr id="34" name="Straight Connector 33">
            <a:extLst>
              <a:ext uri="{FF2B5EF4-FFF2-40B4-BE49-F238E27FC236}">
                <a16:creationId xmlns:a16="http://schemas.microsoft.com/office/drawing/2014/main" id="{E184E9EE-2F83-0D06-EE96-22AADD5BA9EF}"/>
              </a:ext>
            </a:extLst>
          </p:cNvPr>
          <p:cNvCxnSpPr/>
          <p:nvPr/>
        </p:nvCxnSpPr>
        <p:spPr>
          <a:xfrm>
            <a:off x="939800" y="4787900"/>
            <a:ext cx="65278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11C7F59-4377-C16D-4B89-0B995BE9BAF3}"/>
              </a:ext>
            </a:extLst>
          </p:cNvPr>
          <p:cNvSpPr txBox="1"/>
          <p:nvPr/>
        </p:nvSpPr>
        <p:spPr>
          <a:xfrm>
            <a:off x="939800" y="4876800"/>
            <a:ext cx="3302000" cy="203200"/>
          </a:xfrm>
          <a:prstGeom prst="rect">
            <a:avLst/>
          </a:prstGeom>
          <a:noFill/>
        </p:spPr>
        <p:txBody>
          <a:bodyPr vert="horz" wrap="square" lIns="0" tIns="0" rIns="0" bIns="0" rtlCol="0" anchor="t">
            <a:noAutofit/>
          </a:bodyPr>
          <a:lstStyle/>
          <a:p>
            <a:r>
              <a:rPr lang="en-IN" sz="1200">
                <a:solidFill>
                  <a:srgbClr val="F1F4F9"/>
                </a:solidFill>
                <a:latin typeface="Segoe UI Semibold" panose="020B0702040204020203" pitchFamily="34" charset="0"/>
              </a:rPr>
              <a:t>Mathew Maijo Kavalam</a:t>
            </a:r>
          </a:p>
        </p:txBody>
      </p:sp>
      <p:sp>
        <p:nvSpPr>
          <p:cNvPr id="36" name="TextBox 35">
            <a:extLst>
              <a:ext uri="{FF2B5EF4-FFF2-40B4-BE49-F238E27FC236}">
                <a16:creationId xmlns:a16="http://schemas.microsoft.com/office/drawing/2014/main" id="{AB5A6D06-8386-BC5E-CB4F-71ABFF102F1D}"/>
              </a:ext>
            </a:extLst>
          </p:cNvPr>
          <p:cNvSpPr txBox="1"/>
          <p:nvPr/>
        </p:nvSpPr>
        <p:spPr>
          <a:xfrm>
            <a:off x="4368800" y="4889500"/>
            <a:ext cx="1143000" cy="203200"/>
          </a:xfrm>
          <a:prstGeom prst="rect">
            <a:avLst/>
          </a:prstGeom>
          <a:noFill/>
        </p:spPr>
        <p:txBody>
          <a:bodyPr vert="horz" wrap="square" lIns="0" tIns="0" rIns="0" bIns="0" rtlCol="0" anchor="t">
            <a:noAutofit/>
          </a:bodyPr>
          <a:lstStyle/>
          <a:p>
            <a:r>
              <a:rPr lang="en-IN" sz="1000">
                <a:solidFill>
                  <a:srgbClr val="B3BDCF"/>
                </a:solidFill>
                <a:latin typeface="Consolas" panose="020B0609020204030204" pitchFamily="49" charset="0"/>
              </a:rPr>
              <a:t>MUT23CS103</a:t>
            </a:r>
          </a:p>
        </p:txBody>
      </p:sp>
      <p:sp>
        <p:nvSpPr>
          <p:cNvPr id="37" name="TextBox 36">
            <a:extLst>
              <a:ext uri="{FF2B5EF4-FFF2-40B4-BE49-F238E27FC236}">
                <a16:creationId xmlns:a16="http://schemas.microsoft.com/office/drawing/2014/main" id="{6EAA8121-91F1-5561-74AF-D9C04A6A1F61}"/>
              </a:ext>
            </a:extLst>
          </p:cNvPr>
          <p:cNvSpPr txBox="1"/>
          <p:nvPr/>
        </p:nvSpPr>
        <p:spPr>
          <a:xfrm>
            <a:off x="5588000" y="4889500"/>
            <a:ext cx="2032000" cy="203200"/>
          </a:xfrm>
          <a:prstGeom prst="rect">
            <a:avLst/>
          </a:prstGeom>
          <a:noFill/>
        </p:spPr>
        <p:txBody>
          <a:bodyPr vert="horz" wrap="square" lIns="0" tIns="0" rIns="0" bIns="0" rtlCol="0" anchor="t">
            <a:noAutofit/>
          </a:bodyPr>
          <a:lstStyle/>
          <a:p>
            <a:r>
              <a:rPr lang="en-IN" sz="950">
                <a:solidFill>
                  <a:srgbClr val="B3BDCF"/>
                </a:solidFill>
                <a:latin typeface="Segoe UI" panose="020B0502040204020203" pitchFamily="34" charset="0"/>
              </a:rPr>
              <a:t>AI &amp; Repository Intelligence</a:t>
            </a:r>
          </a:p>
        </p:txBody>
      </p:sp>
      <p:cxnSp>
        <p:nvCxnSpPr>
          <p:cNvPr id="38" name="Straight Connector 37">
            <a:extLst>
              <a:ext uri="{FF2B5EF4-FFF2-40B4-BE49-F238E27FC236}">
                <a16:creationId xmlns:a16="http://schemas.microsoft.com/office/drawing/2014/main" id="{138A8716-FB61-CD26-6BB1-62B2EE79D86C}"/>
              </a:ext>
            </a:extLst>
          </p:cNvPr>
          <p:cNvCxnSpPr/>
          <p:nvPr/>
        </p:nvCxnSpPr>
        <p:spPr>
          <a:xfrm>
            <a:off x="939800" y="5168900"/>
            <a:ext cx="65278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6B136F8-861F-ED73-D0B9-B92EF2465FA8}"/>
              </a:ext>
            </a:extLst>
          </p:cNvPr>
          <p:cNvSpPr txBox="1"/>
          <p:nvPr/>
        </p:nvSpPr>
        <p:spPr>
          <a:xfrm>
            <a:off x="939800" y="5257800"/>
            <a:ext cx="3302000" cy="203200"/>
          </a:xfrm>
          <a:prstGeom prst="rect">
            <a:avLst/>
          </a:prstGeom>
          <a:noFill/>
        </p:spPr>
        <p:txBody>
          <a:bodyPr vert="horz" wrap="square" lIns="0" tIns="0" rIns="0" bIns="0" rtlCol="0" anchor="t">
            <a:noAutofit/>
          </a:bodyPr>
          <a:lstStyle/>
          <a:p>
            <a:r>
              <a:rPr lang="en-IN" sz="1200">
                <a:solidFill>
                  <a:srgbClr val="F1F4F9"/>
                </a:solidFill>
                <a:latin typeface="Segoe UI Semibold" panose="020B0702040204020203" pitchFamily="34" charset="0"/>
              </a:rPr>
              <a:t>Sahala Sajad</a:t>
            </a:r>
          </a:p>
        </p:txBody>
      </p:sp>
      <p:sp>
        <p:nvSpPr>
          <p:cNvPr id="40" name="TextBox 39">
            <a:extLst>
              <a:ext uri="{FF2B5EF4-FFF2-40B4-BE49-F238E27FC236}">
                <a16:creationId xmlns:a16="http://schemas.microsoft.com/office/drawing/2014/main" id="{35C7C007-0C95-3D05-A09B-482F3EA6B2F1}"/>
              </a:ext>
            </a:extLst>
          </p:cNvPr>
          <p:cNvSpPr txBox="1"/>
          <p:nvPr/>
        </p:nvSpPr>
        <p:spPr>
          <a:xfrm>
            <a:off x="4368800" y="5270500"/>
            <a:ext cx="1143000" cy="203200"/>
          </a:xfrm>
          <a:prstGeom prst="rect">
            <a:avLst/>
          </a:prstGeom>
          <a:noFill/>
        </p:spPr>
        <p:txBody>
          <a:bodyPr vert="horz" wrap="square" lIns="0" tIns="0" rIns="0" bIns="0" rtlCol="0" anchor="t">
            <a:noAutofit/>
          </a:bodyPr>
          <a:lstStyle/>
          <a:p>
            <a:r>
              <a:rPr lang="en-IN" sz="1000">
                <a:solidFill>
                  <a:srgbClr val="B3BDCF"/>
                </a:solidFill>
                <a:latin typeface="Consolas" panose="020B0609020204030204" pitchFamily="49" charset="0"/>
              </a:rPr>
              <a:t>MUT23CS132</a:t>
            </a:r>
          </a:p>
        </p:txBody>
      </p:sp>
      <p:sp>
        <p:nvSpPr>
          <p:cNvPr id="41" name="TextBox 40">
            <a:extLst>
              <a:ext uri="{FF2B5EF4-FFF2-40B4-BE49-F238E27FC236}">
                <a16:creationId xmlns:a16="http://schemas.microsoft.com/office/drawing/2014/main" id="{6CD7F327-CB78-2342-0C8C-E0EB29836A3B}"/>
              </a:ext>
            </a:extLst>
          </p:cNvPr>
          <p:cNvSpPr txBox="1"/>
          <p:nvPr/>
        </p:nvSpPr>
        <p:spPr>
          <a:xfrm>
            <a:off x="5588000" y="5270500"/>
            <a:ext cx="2032000" cy="203200"/>
          </a:xfrm>
          <a:prstGeom prst="rect">
            <a:avLst/>
          </a:prstGeom>
          <a:noFill/>
        </p:spPr>
        <p:txBody>
          <a:bodyPr vert="horz" wrap="square" lIns="0" tIns="0" rIns="0" bIns="0" rtlCol="0" anchor="t">
            <a:noAutofit/>
          </a:bodyPr>
          <a:lstStyle/>
          <a:p>
            <a:r>
              <a:rPr lang="en-IN" sz="950">
                <a:solidFill>
                  <a:srgbClr val="B3BDCF"/>
                </a:solidFill>
                <a:latin typeface="Segoe UI" panose="020B0502040204020203" pitchFamily="34" charset="0"/>
              </a:rPr>
              <a:t>Database &amp; Documentation</a:t>
            </a:r>
          </a:p>
        </p:txBody>
      </p:sp>
      <p:sp>
        <p:nvSpPr>
          <p:cNvPr id="42" name="TextBox 41">
            <a:extLst>
              <a:ext uri="{FF2B5EF4-FFF2-40B4-BE49-F238E27FC236}">
                <a16:creationId xmlns:a16="http://schemas.microsoft.com/office/drawing/2014/main" id="{979A6176-0C14-6838-CCBC-EBE84E2786AC}"/>
              </a:ext>
            </a:extLst>
          </p:cNvPr>
          <p:cNvSpPr txBox="1"/>
          <p:nvPr/>
        </p:nvSpPr>
        <p:spPr>
          <a:xfrm>
            <a:off x="939800" y="5715000"/>
            <a:ext cx="6604000" cy="152400"/>
          </a:xfrm>
          <a:prstGeom prst="rect">
            <a:avLst/>
          </a:prstGeom>
          <a:noFill/>
        </p:spPr>
        <p:txBody>
          <a:bodyPr vert="horz" wrap="square" lIns="0" tIns="0" rIns="0" bIns="0" rtlCol="0" anchor="t">
            <a:noAutofit/>
          </a:bodyPr>
          <a:lstStyle/>
          <a:p>
            <a:r>
              <a:rPr lang="en-US" sz="750">
                <a:solidFill>
                  <a:srgbClr val="F1A73B"/>
                </a:solidFill>
                <a:latin typeface="Segoe UI" panose="020B0502040204020203" pitchFamily="34" charset="0"/>
              </a:rPr>
              <a:t>Individual Review-1 contributions: [PLACEHOLDER – to be confirmed by each member]</a:t>
            </a:r>
            <a:endParaRPr lang="en-IN" sz="750">
              <a:solidFill>
                <a:srgbClr val="F1A73B"/>
              </a:solidFill>
              <a:latin typeface="Segoe UI" panose="020B0502040204020203" pitchFamily="34" charset="0"/>
            </a:endParaRPr>
          </a:p>
        </p:txBody>
      </p:sp>
      <p:sp>
        <p:nvSpPr>
          <p:cNvPr id="43" name="Rectangle: Rounded Corners 42">
            <a:extLst>
              <a:ext uri="{FF2B5EF4-FFF2-40B4-BE49-F238E27FC236}">
                <a16:creationId xmlns:a16="http://schemas.microsoft.com/office/drawing/2014/main" id="{3131E1BD-DFF0-FA53-FA0F-07B199D23EC4}"/>
              </a:ext>
            </a:extLst>
          </p:cNvPr>
          <p:cNvSpPr/>
          <p:nvPr/>
        </p:nvSpPr>
        <p:spPr>
          <a:xfrm>
            <a:off x="7874000" y="3657600"/>
            <a:ext cx="3606800" cy="2362200"/>
          </a:xfrm>
          <a:prstGeom prst="roundRect">
            <a:avLst>
              <a:gd name="adj" fmla="val 4301"/>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3BF46285-DE69-760A-0E61-14D0276CBD3A}"/>
              </a:ext>
            </a:extLst>
          </p:cNvPr>
          <p:cNvSpPr txBox="1"/>
          <p:nvPr/>
        </p:nvSpPr>
        <p:spPr>
          <a:xfrm>
            <a:off x="8102600" y="3835400"/>
            <a:ext cx="2540000" cy="152400"/>
          </a:xfrm>
          <a:prstGeom prst="rect">
            <a:avLst/>
          </a:prstGeom>
          <a:noFill/>
        </p:spPr>
        <p:txBody>
          <a:bodyPr vert="horz" wrap="square" lIns="0" tIns="0" rIns="0" bIns="0" rtlCol="0" anchor="t">
            <a:noAutofit/>
          </a:bodyPr>
          <a:lstStyle/>
          <a:p>
            <a:r>
              <a:rPr lang="en-IN" sz="750" spc="110">
                <a:solidFill>
                  <a:srgbClr val="78849A"/>
                </a:solidFill>
                <a:latin typeface="Segoe UI Semibold" panose="020B0702040204020203" pitchFamily="34" charset="0"/>
              </a:rPr>
              <a:t>PROJECT GUIDE</a:t>
            </a:r>
          </a:p>
        </p:txBody>
      </p:sp>
      <p:sp>
        <p:nvSpPr>
          <p:cNvPr id="45" name="TextBox 44">
            <a:extLst>
              <a:ext uri="{FF2B5EF4-FFF2-40B4-BE49-F238E27FC236}">
                <a16:creationId xmlns:a16="http://schemas.microsoft.com/office/drawing/2014/main" id="{048D5322-48AE-DC5B-60E6-8A3879CEF80E}"/>
              </a:ext>
            </a:extLst>
          </p:cNvPr>
          <p:cNvSpPr txBox="1"/>
          <p:nvPr/>
        </p:nvSpPr>
        <p:spPr>
          <a:xfrm>
            <a:off x="8102600" y="4013200"/>
            <a:ext cx="3175000" cy="228600"/>
          </a:xfrm>
          <a:prstGeom prst="rect">
            <a:avLst/>
          </a:prstGeom>
          <a:noFill/>
        </p:spPr>
        <p:txBody>
          <a:bodyPr vert="horz" wrap="square" lIns="0" tIns="0" rIns="0" bIns="0" rtlCol="0" anchor="t">
            <a:noAutofit/>
          </a:bodyPr>
          <a:lstStyle/>
          <a:p>
            <a:r>
              <a:rPr lang="en-IN" sz="1300">
                <a:solidFill>
                  <a:srgbClr val="F1F4F9"/>
                </a:solidFill>
                <a:latin typeface="Segoe UI Semibold" panose="020B0702040204020203" pitchFamily="34" charset="0"/>
              </a:rPr>
              <a:t>Ms. Mithu Mary George</a:t>
            </a:r>
          </a:p>
        </p:txBody>
      </p:sp>
      <p:sp>
        <p:nvSpPr>
          <p:cNvPr id="46" name="TextBox 45">
            <a:extLst>
              <a:ext uri="{FF2B5EF4-FFF2-40B4-BE49-F238E27FC236}">
                <a16:creationId xmlns:a16="http://schemas.microsoft.com/office/drawing/2014/main" id="{8D91B626-F499-6334-036E-20410F3D526B}"/>
              </a:ext>
            </a:extLst>
          </p:cNvPr>
          <p:cNvSpPr txBox="1"/>
          <p:nvPr/>
        </p:nvSpPr>
        <p:spPr>
          <a:xfrm>
            <a:off x="8102600" y="4394200"/>
            <a:ext cx="2540000" cy="152400"/>
          </a:xfrm>
          <a:prstGeom prst="rect">
            <a:avLst/>
          </a:prstGeom>
          <a:noFill/>
        </p:spPr>
        <p:txBody>
          <a:bodyPr vert="horz" wrap="square" lIns="0" tIns="0" rIns="0" bIns="0" rtlCol="0" anchor="t">
            <a:noAutofit/>
          </a:bodyPr>
          <a:lstStyle/>
          <a:p>
            <a:r>
              <a:rPr lang="en-IN" sz="750" spc="110">
                <a:solidFill>
                  <a:srgbClr val="78849A"/>
                </a:solidFill>
                <a:latin typeface="Segoe UI Semibold" panose="020B0702040204020203" pitchFamily="34" charset="0"/>
              </a:rPr>
              <a:t>CO-GUIDE</a:t>
            </a:r>
          </a:p>
        </p:txBody>
      </p:sp>
      <p:sp>
        <p:nvSpPr>
          <p:cNvPr id="47" name="TextBox 46">
            <a:extLst>
              <a:ext uri="{FF2B5EF4-FFF2-40B4-BE49-F238E27FC236}">
                <a16:creationId xmlns:a16="http://schemas.microsoft.com/office/drawing/2014/main" id="{E758AE26-F33F-1D80-5D5C-E4E065261746}"/>
              </a:ext>
            </a:extLst>
          </p:cNvPr>
          <p:cNvSpPr txBox="1"/>
          <p:nvPr/>
        </p:nvSpPr>
        <p:spPr>
          <a:xfrm>
            <a:off x="8102600" y="4572000"/>
            <a:ext cx="3175000" cy="203200"/>
          </a:xfrm>
          <a:prstGeom prst="rect">
            <a:avLst/>
          </a:prstGeom>
          <a:noFill/>
        </p:spPr>
        <p:txBody>
          <a:bodyPr vert="horz" wrap="square" lIns="0" tIns="0" rIns="0" bIns="0" rtlCol="0" anchor="t">
            <a:noAutofit/>
          </a:bodyPr>
          <a:lstStyle/>
          <a:p>
            <a:r>
              <a:rPr lang="en-IN" sz="1000">
                <a:solidFill>
                  <a:srgbClr val="F1A73B"/>
                </a:solidFill>
                <a:latin typeface="Segoe UI" panose="020B0502040204020203" pitchFamily="34" charset="0"/>
              </a:rPr>
              <a:t>[PLACEHOLDER – co-guide name]</a:t>
            </a:r>
          </a:p>
        </p:txBody>
      </p:sp>
      <p:sp>
        <p:nvSpPr>
          <p:cNvPr id="48" name="TextBox 47">
            <a:extLst>
              <a:ext uri="{FF2B5EF4-FFF2-40B4-BE49-F238E27FC236}">
                <a16:creationId xmlns:a16="http://schemas.microsoft.com/office/drawing/2014/main" id="{50C66AA7-AF0D-6A65-9660-17FC6F700207}"/>
              </a:ext>
            </a:extLst>
          </p:cNvPr>
          <p:cNvSpPr txBox="1"/>
          <p:nvPr/>
        </p:nvSpPr>
        <p:spPr>
          <a:xfrm>
            <a:off x="8102600" y="4927600"/>
            <a:ext cx="2540000" cy="152400"/>
          </a:xfrm>
          <a:prstGeom prst="rect">
            <a:avLst/>
          </a:prstGeom>
          <a:noFill/>
        </p:spPr>
        <p:txBody>
          <a:bodyPr vert="horz" wrap="square" lIns="0" tIns="0" rIns="0" bIns="0" rtlCol="0" anchor="t">
            <a:noAutofit/>
          </a:bodyPr>
          <a:lstStyle/>
          <a:p>
            <a:r>
              <a:rPr lang="en-IN" sz="750" spc="110">
                <a:solidFill>
                  <a:srgbClr val="78849A"/>
                </a:solidFill>
                <a:latin typeface="Segoe UI Semibold" panose="020B0702040204020203" pitchFamily="34" charset="0"/>
              </a:rPr>
              <a:t>ACADEMIC YEAR</a:t>
            </a:r>
          </a:p>
        </p:txBody>
      </p:sp>
      <p:sp>
        <p:nvSpPr>
          <p:cNvPr id="49" name="TextBox 48">
            <a:extLst>
              <a:ext uri="{FF2B5EF4-FFF2-40B4-BE49-F238E27FC236}">
                <a16:creationId xmlns:a16="http://schemas.microsoft.com/office/drawing/2014/main" id="{1DD3346F-FD37-5EEE-32F1-29D045FA7AD9}"/>
              </a:ext>
            </a:extLst>
          </p:cNvPr>
          <p:cNvSpPr txBox="1"/>
          <p:nvPr/>
        </p:nvSpPr>
        <p:spPr>
          <a:xfrm>
            <a:off x="8102600" y="5105400"/>
            <a:ext cx="3175000" cy="203200"/>
          </a:xfrm>
          <a:prstGeom prst="rect">
            <a:avLst/>
          </a:prstGeom>
          <a:noFill/>
        </p:spPr>
        <p:txBody>
          <a:bodyPr vert="horz" wrap="square" lIns="0" tIns="0" rIns="0" bIns="0" rtlCol="0" anchor="t">
            <a:noAutofit/>
          </a:bodyPr>
          <a:lstStyle/>
          <a:p>
            <a:r>
              <a:rPr lang="en-IN" sz="1100">
                <a:solidFill>
                  <a:srgbClr val="F1F4F9"/>
                </a:solidFill>
                <a:latin typeface="Segoe UI" panose="020B0502040204020203" pitchFamily="34" charset="0"/>
              </a:rPr>
              <a:t>2026–27  ·  Semester VII</a:t>
            </a:r>
          </a:p>
        </p:txBody>
      </p:sp>
      <p:sp>
        <p:nvSpPr>
          <p:cNvPr id="50" name="TextBox 49">
            <a:extLst>
              <a:ext uri="{FF2B5EF4-FFF2-40B4-BE49-F238E27FC236}">
                <a16:creationId xmlns:a16="http://schemas.microsoft.com/office/drawing/2014/main" id="{EA37CD2A-3062-5B1A-07FF-503C09E0C63B}"/>
              </a:ext>
            </a:extLst>
          </p:cNvPr>
          <p:cNvSpPr txBox="1"/>
          <p:nvPr/>
        </p:nvSpPr>
        <p:spPr>
          <a:xfrm>
            <a:off x="8102600" y="5461000"/>
            <a:ext cx="2540000" cy="152400"/>
          </a:xfrm>
          <a:prstGeom prst="rect">
            <a:avLst/>
          </a:prstGeom>
          <a:noFill/>
        </p:spPr>
        <p:txBody>
          <a:bodyPr vert="horz" wrap="square" lIns="0" tIns="0" rIns="0" bIns="0" rtlCol="0" anchor="t">
            <a:noAutofit/>
          </a:bodyPr>
          <a:lstStyle/>
          <a:p>
            <a:r>
              <a:rPr lang="en-IN" sz="750" spc="110">
                <a:solidFill>
                  <a:srgbClr val="78849A"/>
                </a:solidFill>
                <a:latin typeface="Segoe UI Semibold" panose="020B0702040204020203" pitchFamily="34" charset="0"/>
              </a:rPr>
              <a:t>REVIEW</a:t>
            </a:r>
          </a:p>
        </p:txBody>
      </p:sp>
      <p:sp>
        <p:nvSpPr>
          <p:cNvPr id="51" name="TextBox 50">
            <a:extLst>
              <a:ext uri="{FF2B5EF4-FFF2-40B4-BE49-F238E27FC236}">
                <a16:creationId xmlns:a16="http://schemas.microsoft.com/office/drawing/2014/main" id="{E5A4C340-7A87-176A-CF21-A600B70B112C}"/>
              </a:ext>
            </a:extLst>
          </p:cNvPr>
          <p:cNvSpPr txBox="1"/>
          <p:nvPr/>
        </p:nvSpPr>
        <p:spPr>
          <a:xfrm>
            <a:off x="8102600" y="5638800"/>
            <a:ext cx="3175000" cy="203200"/>
          </a:xfrm>
          <a:prstGeom prst="rect">
            <a:avLst/>
          </a:prstGeom>
          <a:noFill/>
        </p:spPr>
        <p:txBody>
          <a:bodyPr vert="horz" wrap="square" lIns="0" tIns="0" rIns="0" bIns="0" rtlCol="0" anchor="t">
            <a:noAutofit/>
          </a:bodyPr>
          <a:lstStyle/>
          <a:p>
            <a:r>
              <a:rPr lang="en-US" sz="1100">
                <a:solidFill>
                  <a:srgbClr val="F1F4F9"/>
                </a:solidFill>
                <a:latin typeface="Segoe UI" panose="020B0502040204020203" pitchFamily="34" charset="0"/>
              </a:rPr>
              <a:t>Project Phase I – Review 1</a:t>
            </a:r>
            <a:endParaRPr lang="en-IN" sz="1100">
              <a:solidFill>
                <a:srgbClr val="F1F4F9"/>
              </a:solidFill>
              <a:latin typeface="Segoe UI" panose="020B0502040204020203" pitchFamily="34" charset="0"/>
            </a:endParaRPr>
          </a:p>
        </p:txBody>
      </p:sp>
    </p:spTree>
    <p:extLst>
      <p:ext uri="{BB962C8B-B14F-4D97-AF65-F5344CB8AC3E}">
        <p14:creationId xmlns:p14="http://schemas.microsoft.com/office/powerpoint/2010/main" val="3302405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8C5A6B-9A4D-872C-0701-2EE4CA2B295D}"/>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02  ·  PROJECT OVERVIEW</a:t>
            </a:r>
          </a:p>
        </p:txBody>
      </p:sp>
      <p:sp>
        <p:nvSpPr>
          <p:cNvPr id="3" name="TextBox 2">
            <a:extLst>
              <a:ext uri="{FF2B5EF4-FFF2-40B4-BE49-F238E27FC236}">
                <a16:creationId xmlns:a16="http://schemas.microsoft.com/office/drawing/2014/main" id="{C9344F98-28CB-B26A-0ED2-FDF8326BC087}"/>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Project Overview</a:t>
            </a:r>
          </a:p>
        </p:txBody>
      </p:sp>
      <p:sp>
        <p:nvSpPr>
          <p:cNvPr id="4" name="TextBox 3">
            <a:extLst>
              <a:ext uri="{FF2B5EF4-FFF2-40B4-BE49-F238E27FC236}">
                <a16:creationId xmlns:a16="http://schemas.microsoft.com/office/drawing/2014/main" id="{751467EE-3F2E-9790-39C2-003AA17628AC}"/>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A permission-aware engineering intelligence platform, built in phases — the foundation is implemented and running.</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8BDD97E3-EDD1-04BD-1BC3-CF76A12AA9F5}"/>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93365AA-A2AE-52E6-7F42-13C36CBFC0CA}"/>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B5C6E831-52DA-2623-E680-5C4317C2933E}"/>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02 / 20</a:t>
            </a:r>
          </a:p>
        </p:txBody>
      </p:sp>
      <p:sp>
        <p:nvSpPr>
          <p:cNvPr id="8" name="TextBox 7">
            <a:extLst>
              <a:ext uri="{FF2B5EF4-FFF2-40B4-BE49-F238E27FC236}">
                <a16:creationId xmlns:a16="http://schemas.microsoft.com/office/drawing/2014/main" id="{AF0CC580-6B86-4C38-4F45-24FAC4F5352F}"/>
              </a:ext>
            </a:extLst>
          </p:cNvPr>
          <p:cNvSpPr txBox="1"/>
          <p:nvPr/>
        </p:nvSpPr>
        <p:spPr>
          <a:xfrm>
            <a:off x="508000" y="1270000"/>
            <a:ext cx="1270000" cy="152400"/>
          </a:xfrm>
          <a:prstGeom prst="rect">
            <a:avLst/>
          </a:prstGeom>
          <a:noFill/>
        </p:spPr>
        <p:txBody>
          <a:bodyPr vert="horz" wrap="square" lIns="0" tIns="0" rIns="0" bIns="0" rtlCol="0" anchor="t">
            <a:noAutofit/>
          </a:bodyPr>
          <a:lstStyle/>
          <a:p>
            <a:r>
              <a:rPr lang="en-IN" sz="700" spc="110">
                <a:solidFill>
                  <a:srgbClr val="8B9BFF"/>
                </a:solidFill>
                <a:latin typeface="Segoe UI Semibold" panose="020B0702040204020203" pitchFamily="34" charset="0"/>
              </a:rPr>
              <a:t>PROBLEM</a:t>
            </a:r>
          </a:p>
        </p:txBody>
      </p:sp>
      <p:sp>
        <p:nvSpPr>
          <p:cNvPr id="9" name="TextBox 8">
            <a:extLst>
              <a:ext uri="{FF2B5EF4-FFF2-40B4-BE49-F238E27FC236}">
                <a16:creationId xmlns:a16="http://schemas.microsoft.com/office/drawing/2014/main" id="{C33ED819-7579-4824-3D44-AB9EF4DB5C8F}"/>
              </a:ext>
            </a:extLst>
          </p:cNvPr>
          <p:cNvSpPr txBox="1"/>
          <p:nvPr/>
        </p:nvSpPr>
        <p:spPr>
          <a:xfrm>
            <a:off x="1752600" y="1244600"/>
            <a:ext cx="4572000" cy="6350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Engineering knowledge is spread across trackers, Git hosts, CI and documents; AI assistants see only fragments of a project.</a:t>
            </a:r>
            <a:endParaRPr lang="en-IN" sz="1050">
              <a:solidFill>
                <a:srgbClr val="B3BDCF"/>
              </a:solidFill>
              <a:latin typeface="Segoe UI" panose="020B0502040204020203" pitchFamily="34" charset="0"/>
            </a:endParaRPr>
          </a:p>
        </p:txBody>
      </p:sp>
      <p:cxnSp>
        <p:nvCxnSpPr>
          <p:cNvPr id="10" name="Straight Connector 9">
            <a:extLst>
              <a:ext uri="{FF2B5EF4-FFF2-40B4-BE49-F238E27FC236}">
                <a16:creationId xmlns:a16="http://schemas.microsoft.com/office/drawing/2014/main" id="{1C202C4C-B671-6C35-10D8-3F8A73874BBE}"/>
              </a:ext>
            </a:extLst>
          </p:cNvPr>
          <p:cNvCxnSpPr/>
          <p:nvPr/>
        </p:nvCxnSpPr>
        <p:spPr>
          <a:xfrm>
            <a:off x="508000" y="1930400"/>
            <a:ext cx="5842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F51395F-29F3-43A5-8EE0-DB988DC3BA1E}"/>
              </a:ext>
            </a:extLst>
          </p:cNvPr>
          <p:cNvSpPr txBox="1"/>
          <p:nvPr/>
        </p:nvSpPr>
        <p:spPr>
          <a:xfrm>
            <a:off x="508000" y="2082800"/>
            <a:ext cx="1270000" cy="152400"/>
          </a:xfrm>
          <a:prstGeom prst="rect">
            <a:avLst/>
          </a:prstGeom>
          <a:noFill/>
        </p:spPr>
        <p:txBody>
          <a:bodyPr vert="horz" wrap="square" lIns="0" tIns="0" rIns="0" bIns="0" rtlCol="0" anchor="t">
            <a:noAutofit/>
          </a:bodyPr>
          <a:lstStyle/>
          <a:p>
            <a:r>
              <a:rPr lang="en-IN" sz="700" spc="110">
                <a:solidFill>
                  <a:srgbClr val="8B9BFF"/>
                </a:solidFill>
                <a:latin typeface="Segoe UI Semibold" panose="020B0702040204020203" pitchFamily="34" charset="0"/>
              </a:rPr>
              <a:t>MOTIVATION</a:t>
            </a:r>
          </a:p>
        </p:txBody>
      </p:sp>
      <p:sp>
        <p:nvSpPr>
          <p:cNvPr id="12" name="TextBox 11">
            <a:extLst>
              <a:ext uri="{FF2B5EF4-FFF2-40B4-BE49-F238E27FC236}">
                <a16:creationId xmlns:a16="http://schemas.microsoft.com/office/drawing/2014/main" id="{E8D786B7-D11D-1632-EE33-6BB57909E630}"/>
              </a:ext>
            </a:extLst>
          </p:cNvPr>
          <p:cNvSpPr txBox="1"/>
          <p:nvPr/>
        </p:nvSpPr>
        <p:spPr>
          <a:xfrm>
            <a:off x="1752600" y="2057400"/>
            <a:ext cx="4572000" cy="6350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Research solves single stages — code graphs, edit planning, defect prediction, explanation — but not one connected, access-controlled context.</a:t>
            </a:r>
            <a:endParaRPr lang="en-IN" sz="1050">
              <a:solidFill>
                <a:srgbClr val="B3BDCF"/>
              </a:solidFill>
              <a:latin typeface="Segoe UI" panose="020B0502040204020203" pitchFamily="34" charset="0"/>
            </a:endParaRPr>
          </a:p>
        </p:txBody>
      </p:sp>
      <p:cxnSp>
        <p:nvCxnSpPr>
          <p:cNvPr id="13" name="Straight Connector 12">
            <a:extLst>
              <a:ext uri="{FF2B5EF4-FFF2-40B4-BE49-F238E27FC236}">
                <a16:creationId xmlns:a16="http://schemas.microsoft.com/office/drawing/2014/main" id="{F8681746-93CF-7065-D64C-925CBB9A29B3}"/>
              </a:ext>
            </a:extLst>
          </p:cNvPr>
          <p:cNvCxnSpPr/>
          <p:nvPr/>
        </p:nvCxnSpPr>
        <p:spPr>
          <a:xfrm>
            <a:off x="508000" y="2743200"/>
            <a:ext cx="5842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A5B6CF2-3F4B-87A5-B3E6-934DD01E16AF}"/>
              </a:ext>
            </a:extLst>
          </p:cNvPr>
          <p:cNvSpPr txBox="1"/>
          <p:nvPr/>
        </p:nvSpPr>
        <p:spPr>
          <a:xfrm>
            <a:off x="508000" y="2895600"/>
            <a:ext cx="1270000" cy="152400"/>
          </a:xfrm>
          <a:prstGeom prst="rect">
            <a:avLst/>
          </a:prstGeom>
          <a:noFill/>
        </p:spPr>
        <p:txBody>
          <a:bodyPr vert="horz" wrap="square" lIns="0" tIns="0" rIns="0" bIns="0" rtlCol="0" anchor="t">
            <a:noAutofit/>
          </a:bodyPr>
          <a:lstStyle/>
          <a:p>
            <a:r>
              <a:rPr lang="en-IN" sz="700" spc="110">
                <a:solidFill>
                  <a:srgbClr val="8B9BFF"/>
                </a:solidFill>
                <a:latin typeface="Segoe UI Semibold" panose="020B0702040204020203" pitchFamily="34" charset="0"/>
              </a:rPr>
              <a:t>NEED</a:t>
            </a:r>
          </a:p>
        </p:txBody>
      </p:sp>
      <p:sp>
        <p:nvSpPr>
          <p:cNvPr id="15" name="TextBox 14">
            <a:extLst>
              <a:ext uri="{FF2B5EF4-FFF2-40B4-BE49-F238E27FC236}">
                <a16:creationId xmlns:a16="http://schemas.microsoft.com/office/drawing/2014/main" id="{10ABBC7B-2C60-797B-1C7A-7EBA592801F8}"/>
              </a:ext>
            </a:extLst>
          </p:cNvPr>
          <p:cNvSpPr txBox="1"/>
          <p:nvPr/>
        </p:nvSpPr>
        <p:spPr>
          <a:xfrm>
            <a:off x="1752600" y="2870200"/>
            <a:ext cx="4572000" cy="6350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A project-scoped engineering context that links work items with code structure, enforced by organisation roles.</a:t>
            </a:r>
            <a:endParaRPr lang="en-IN" sz="1050">
              <a:solidFill>
                <a:srgbClr val="B3BDCF"/>
              </a:solidFill>
              <a:latin typeface="Segoe UI" panose="020B0502040204020203" pitchFamily="34" charset="0"/>
            </a:endParaRPr>
          </a:p>
        </p:txBody>
      </p:sp>
      <p:cxnSp>
        <p:nvCxnSpPr>
          <p:cNvPr id="16" name="Straight Connector 15">
            <a:extLst>
              <a:ext uri="{FF2B5EF4-FFF2-40B4-BE49-F238E27FC236}">
                <a16:creationId xmlns:a16="http://schemas.microsoft.com/office/drawing/2014/main" id="{E9260AA0-5B39-FA1D-A471-8A2C061F5FEA}"/>
              </a:ext>
            </a:extLst>
          </p:cNvPr>
          <p:cNvCxnSpPr/>
          <p:nvPr/>
        </p:nvCxnSpPr>
        <p:spPr>
          <a:xfrm>
            <a:off x="508000" y="3556000"/>
            <a:ext cx="5842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A1D4CC8-E495-DF0F-5013-6C1A7E5AEFD3}"/>
              </a:ext>
            </a:extLst>
          </p:cNvPr>
          <p:cNvSpPr txBox="1"/>
          <p:nvPr/>
        </p:nvSpPr>
        <p:spPr>
          <a:xfrm>
            <a:off x="508000" y="3708400"/>
            <a:ext cx="1270000" cy="152400"/>
          </a:xfrm>
          <a:prstGeom prst="rect">
            <a:avLst/>
          </a:prstGeom>
          <a:noFill/>
        </p:spPr>
        <p:txBody>
          <a:bodyPr vert="horz" wrap="square" lIns="0" tIns="0" rIns="0" bIns="0" rtlCol="0" anchor="t">
            <a:noAutofit/>
          </a:bodyPr>
          <a:lstStyle/>
          <a:p>
            <a:r>
              <a:rPr lang="en-IN" sz="700" spc="110">
                <a:solidFill>
                  <a:srgbClr val="8B9BFF"/>
                </a:solidFill>
                <a:latin typeface="Segoe UI Semibold" panose="020B0702040204020203" pitchFamily="34" charset="0"/>
              </a:rPr>
              <a:t>TARGET USERS</a:t>
            </a:r>
          </a:p>
        </p:txBody>
      </p:sp>
      <p:sp>
        <p:nvSpPr>
          <p:cNvPr id="18" name="TextBox 17">
            <a:extLst>
              <a:ext uri="{FF2B5EF4-FFF2-40B4-BE49-F238E27FC236}">
                <a16:creationId xmlns:a16="http://schemas.microsoft.com/office/drawing/2014/main" id="{8C9108F8-707C-1E13-361D-974732739642}"/>
              </a:ext>
            </a:extLst>
          </p:cNvPr>
          <p:cNvSpPr txBox="1"/>
          <p:nvPr/>
        </p:nvSpPr>
        <p:spPr>
          <a:xfrm>
            <a:off x="1752600" y="3683000"/>
            <a:ext cx="4572000" cy="6350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Developers, team leads and project managers, QA engineers, engineering organisations.</a:t>
            </a:r>
            <a:endParaRPr lang="en-IN" sz="1050">
              <a:solidFill>
                <a:srgbClr val="B3BDCF"/>
              </a:solidFill>
              <a:latin typeface="Segoe UI" panose="020B0502040204020203" pitchFamily="34" charset="0"/>
            </a:endParaRPr>
          </a:p>
        </p:txBody>
      </p:sp>
      <p:cxnSp>
        <p:nvCxnSpPr>
          <p:cNvPr id="19" name="Straight Connector 18">
            <a:extLst>
              <a:ext uri="{FF2B5EF4-FFF2-40B4-BE49-F238E27FC236}">
                <a16:creationId xmlns:a16="http://schemas.microsoft.com/office/drawing/2014/main" id="{619B4BCC-BDE7-AEA9-7F3C-138E234630A6}"/>
              </a:ext>
            </a:extLst>
          </p:cNvPr>
          <p:cNvCxnSpPr/>
          <p:nvPr/>
        </p:nvCxnSpPr>
        <p:spPr>
          <a:xfrm>
            <a:off x="508000" y="4368800"/>
            <a:ext cx="5842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517C42D-385D-B05F-2CEF-D2D6DAC80D20}"/>
              </a:ext>
            </a:extLst>
          </p:cNvPr>
          <p:cNvSpPr txBox="1"/>
          <p:nvPr/>
        </p:nvSpPr>
        <p:spPr>
          <a:xfrm>
            <a:off x="508000" y="4521200"/>
            <a:ext cx="1270000" cy="152400"/>
          </a:xfrm>
          <a:prstGeom prst="rect">
            <a:avLst/>
          </a:prstGeom>
          <a:noFill/>
        </p:spPr>
        <p:txBody>
          <a:bodyPr vert="horz" wrap="square" lIns="0" tIns="0" rIns="0" bIns="0" rtlCol="0" anchor="t">
            <a:noAutofit/>
          </a:bodyPr>
          <a:lstStyle/>
          <a:p>
            <a:r>
              <a:rPr lang="en-IN" sz="700" spc="110">
                <a:solidFill>
                  <a:srgbClr val="8B9BFF"/>
                </a:solidFill>
                <a:latin typeface="Segoe UI Semibold" panose="020B0702040204020203" pitchFamily="34" charset="0"/>
              </a:rPr>
              <a:t>SCOPE (PHASE I)</a:t>
            </a:r>
          </a:p>
        </p:txBody>
      </p:sp>
      <p:sp>
        <p:nvSpPr>
          <p:cNvPr id="21" name="TextBox 20">
            <a:extLst>
              <a:ext uri="{FF2B5EF4-FFF2-40B4-BE49-F238E27FC236}">
                <a16:creationId xmlns:a16="http://schemas.microsoft.com/office/drawing/2014/main" id="{7227F6BE-0927-B750-6446-3EEDE99E4DC1}"/>
              </a:ext>
            </a:extLst>
          </p:cNvPr>
          <p:cNvSpPr txBox="1"/>
          <p:nvPr/>
        </p:nvSpPr>
        <p:spPr>
          <a:xfrm>
            <a:off x="1752600" y="4495800"/>
            <a:ext cx="4572000" cy="6350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Multi-tenant workspace, requirements and tasks, repository snapshots and structure analysis (implemented); engineering context next.</a:t>
            </a:r>
            <a:endParaRPr lang="en-IN" sz="1050">
              <a:solidFill>
                <a:srgbClr val="B3BDCF"/>
              </a:solidFill>
              <a:latin typeface="Segoe UI" panose="020B0502040204020203" pitchFamily="34" charset="0"/>
            </a:endParaRPr>
          </a:p>
        </p:txBody>
      </p:sp>
      <p:cxnSp>
        <p:nvCxnSpPr>
          <p:cNvPr id="22" name="Straight Connector 21">
            <a:extLst>
              <a:ext uri="{FF2B5EF4-FFF2-40B4-BE49-F238E27FC236}">
                <a16:creationId xmlns:a16="http://schemas.microsoft.com/office/drawing/2014/main" id="{A1C4C6F9-BF2D-E436-E7B5-5F146DED2D1C}"/>
              </a:ext>
            </a:extLst>
          </p:cNvPr>
          <p:cNvCxnSpPr/>
          <p:nvPr/>
        </p:nvCxnSpPr>
        <p:spPr>
          <a:xfrm>
            <a:off x="508000" y="5181600"/>
            <a:ext cx="5842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CE621DD-FDA9-5756-265C-2523C53280F5}"/>
              </a:ext>
            </a:extLst>
          </p:cNvPr>
          <p:cNvSpPr txBox="1"/>
          <p:nvPr/>
        </p:nvSpPr>
        <p:spPr>
          <a:xfrm>
            <a:off x="508000" y="5334000"/>
            <a:ext cx="1270000" cy="152400"/>
          </a:xfrm>
          <a:prstGeom prst="rect">
            <a:avLst/>
          </a:prstGeom>
          <a:noFill/>
        </p:spPr>
        <p:txBody>
          <a:bodyPr vert="horz" wrap="square" lIns="0" tIns="0" rIns="0" bIns="0" rtlCol="0" anchor="t">
            <a:noAutofit/>
          </a:bodyPr>
          <a:lstStyle/>
          <a:p>
            <a:r>
              <a:rPr lang="en-IN" sz="700" spc="110">
                <a:solidFill>
                  <a:srgbClr val="8B9BFF"/>
                </a:solidFill>
                <a:latin typeface="Segoe UI Semibold" panose="020B0702040204020203" pitchFamily="34" charset="0"/>
              </a:rPr>
              <a:t>EXPECTED IMPACT</a:t>
            </a:r>
          </a:p>
        </p:txBody>
      </p:sp>
      <p:sp>
        <p:nvSpPr>
          <p:cNvPr id="24" name="TextBox 23">
            <a:extLst>
              <a:ext uri="{FF2B5EF4-FFF2-40B4-BE49-F238E27FC236}">
                <a16:creationId xmlns:a16="http://schemas.microsoft.com/office/drawing/2014/main" id="{5C1A4E37-FAE7-8886-2240-AF0EF25B83CB}"/>
              </a:ext>
            </a:extLst>
          </p:cNvPr>
          <p:cNvSpPr txBox="1"/>
          <p:nvPr/>
        </p:nvSpPr>
        <p:spPr>
          <a:xfrm>
            <a:off x="1752600" y="5308600"/>
            <a:ext cx="4572000" cy="6350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Less manual context gathering and earlier visibility of risky changes — to be evaluated in later phases; no measured claims yet.</a:t>
            </a:r>
            <a:endParaRPr lang="en-IN" sz="1050">
              <a:solidFill>
                <a:srgbClr val="B3BDCF"/>
              </a:solidFill>
              <a:latin typeface="Segoe UI" panose="020B0502040204020203" pitchFamily="34" charset="0"/>
            </a:endParaRPr>
          </a:p>
        </p:txBody>
      </p:sp>
      <p:cxnSp>
        <p:nvCxnSpPr>
          <p:cNvPr id="25" name="Straight Connector 24">
            <a:extLst>
              <a:ext uri="{FF2B5EF4-FFF2-40B4-BE49-F238E27FC236}">
                <a16:creationId xmlns:a16="http://schemas.microsoft.com/office/drawing/2014/main" id="{E9936AF3-49AF-6DB2-1ED5-817D38BA6D1D}"/>
              </a:ext>
            </a:extLst>
          </p:cNvPr>
          <p:cNvCxnSpPr/>
          <p:nvPr/>
        </p:nvCxnSpPr>
        <p:spPr>
          <a:xfrm>
            <a:off x="508000" y="5994400"/>
            <a:ext cx="5842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152BD77-83E7-1839-8CB9-DC2BF50B53B6}"/>
              </a:ext>
            </a:extLst>
          </p:cNvPr>
          <p:cNvCxnSpPr/>
          <p:nvPr/>
        </p:nvCxnSpPr>
        <p:spPr>
          <a:xfrm>
            <a:off x="9837962" y="1873827"/>
            <a:ext cx="482465" cy="474798"/>
          </a:xfrm>
          <a:prstGeom prst="line">
            <a:avLst/>
          </a:prstGeom>
          <a:ln w="12700">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E7C8A89-BB52-A701-4E9C-5035890113DB}"/>
              </a:ext>
            </a:extLst>
          </p:cNvPr>
          <p:cNvCxnSpPr/>
          <p:nvPr/>
        </p:nvCxnSpPr>
        <p:spPr>
          <a:xfrm>
            <a:off x="10948234" y="2742247"/>
            <a:ext cx="119159" cy="1066860"/>
          </a:xfrm>
          <a:prstGeom prst="line">
            <a:avLst/>
          </a:prstGeom>
          <a:ln w="12700">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CDACA7B-C241-B11B-D3DC-AD777D80821E}"/>
              </a:ext>
            </a:extLst>
          </p:cNvPr>
          <p:cNvCxnSpPr/>
          <p:nvPr/>
        </p:nvCxnSpPr>
        <p:spPr>
          <a:xfrm flipH="1">
            <a:off x="10509455" y="4299946"/>
            <a:ext cx="333877" cy="855556"/>
          </a:xfrm>
          <a:prstGeom prst="line">
            <a:avLst/>
          </a:prstGeom>
          <a:ln w="12700">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DCAEEA7-BFA4-CC7F-F5EB-32861FCA52FA}"/>
              </a:ext>
            </a:extLst>
          </p:cNvPr>
          <p:cNvCxnSpPr/>
          <p:nvPr/>
        </p:nvCxnSpPr>
        <p:spPr>
          <a:xfrm flipH="1">
            <a:off x="9066751" y="5373946"/>
            <a:ext cx="535498" cy="0"/>
          </a:xfrm>
          <a:prstGeom prst="line">
            <a:avLst/>
          </a:prstGeom>
          <a:ln w="12700">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6AF534C-DF0C-511C-D6BD-7E2B5BC0A211}"/>
              </a:ext>
            </a:extLst>
          </p:cNvPr>
          <p:cNvCxnSpPr/>
          <p:nvPr/>
        </p:nvCxnSpPr>
        <p:spPr>
          <a:xfrm flipH="1" flipV="1">
            <a:off x="7825668" y="4299946"/>
            <a:ext cx="333877" cy="855556"/>
          </a:xfrm>
          <a:prstGeom prst="line">
            <a:avLst/>
          </a:prstGeom>
          <a:ln w="12700">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8462BD9-7877-1963-FBB1-36A69B08BBCD}"/>
              </a:ext>
            </a:extLst>
          </p:cNvPr>
          <p:cNvCxnSpPr/>
          <p:nvPr/>
        </p:nvCxnSpPr>
        <p:spPr>
          <a:xfrm flipV="1">
            <a:off x="7601607" y="2742247"/>
            <a:ext cx="119159" cy="1066860"/>
          </a:xfrm>
          <a:prstGeom prst="line">
            <a:avLst/>
          </a:prstGeom>
          <a:ln w="12700">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F70CDF6-047E-642E-D27B-67B07AD9E568}"/>
              </a:ext>
            </a:extLst>
          </p:cNvPr>
          <p:cNvCxnSpPr/>
          <p:nvPr/>
        </p:nvCxnSpPr>
        <p:spPr>
          <a:xfrm flipV="1">
            <a:off x="8348573" y="1873827"/>
            <a:ext cx="482465" cy="474798"/>
          </a:xfrm>
          <a:prstGeom prst="line">
            <a:avLst/>
          </a:prstGeom>
          <a:ln w="12700">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822E1BC4-3AC2-D111-96DC-2EA43484C9CE}"/>
              </a:ext>
            </a:extLst>
          </p:cNvPr>
          <p:cNvSpPr/>
          <p:nvPr/>
        </p:nvSpPr>
        <p:spPr>
          <a:xfrm>
            <a:off x="8775700" y="1587500"/>
            <a:ext cx="1117600" cy="330200"/>
          </a:xfrm>
          <a:prstGeom prst="roundRect">
            <a:avLst>
              <a:gd name="adj" fmla="val 23077"/>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F1F4F9"/>
                </a:solidFill>
                <a:latin typeface="Segoe UI Semibold" panose="020B0702040204020203" pitchFamily="34" charset="0"/>
              </a:rPr>
              <a:t>Requirements</a:t>
            </a:r>
          </a:p>
        </p:txBody>
      </p:sp>
      <p:sp>
        <p:nvSpPr>
          <p:cNvPr id="34" name="Rectangle: Rounded Corners 33">
            <a:extLst>
              <a:ext uri="{FF2B5EF4-FFF2-40B4-BE49-F238E27FC236}">
                <a16:creationId xmlns:a16="http://schemas.microsoft.com/office/drawing/2014/main" id="{7C203E4D-665D-4CE0-8E21-C210404D14DD}"/>
              </a:ext>
            </a:extLst>
          </p:cNvPr>
          <p:cNvSpPr/>
          <p:nvPr/>
        </p:nvSpPr>
        <p:spPr>
          <a:xfrm>
            <a:off x="10265089" y="2304752"/>
            <a:ext cx="1117600" cy="330200"/>
          </a:xfrm>
          <a:prstGeom prst="roundRect">
            <a:avLst>
              <a:gd name="adj" fmla="val 23077"/>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B3BDCF"/>
                </a:solidFill>
                <a:latin typeface="Segoe UI Semibold" panose="020B0702040204020203" pitchFamily="34" charset="0"/>
              </a:rPr>
              <a:t>Design</a:t>
            </a:r>
          </a:p>
        </p:txBody>
      </p:sp>
      <p:sp>
        <p:nvSpPr>
          <p:cNvPr id="35" name="Rectangle: Rounded Corners 34">
            <a:extLst>
              <a:ext uri="{FF2B5EF4-FFF2-40B4-BE49-F238E27FC236}">
                <a16:creationId xmlns:a16="http://schemas.microsoft.com/office/drawing/2014/main" id="{2C90F118-5544-BC02-3310-BA545F3C6EE4}"/>
              </a:ext>
            </a:extLst>
          </p:cNvPr>
          <p:cNvSpPr/>
          <p:nvPr/>
        </p:nvSpPr>
        <p:spPr>
          <a:xfrm>
            <a:off x="10632938" y="3916402"/>
            <a:ext cx="1117600" cy="330200"/>
          </a:xfrm>
          <a:prstGeom prst="roundRect">
            <a:avLst>
              <a:gd name="adj" fmla="val 23077"/>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F1F4F9"/>
                </a:solidFill>
                <a:latin typeface="Segoe UI Semibold" panose="020B0702040204020203" pitchFamily="34" charset="0"/>
              </a:rPr>
              <a:t>Code</a:t>
            </a:r>
          </a:p>
        </p:txBody>
      </p:sp>
      <p:sp>
        <p:nvSpPr>
          <p:cNvPr id="36" name="Rectangle: Rounded Corners 35">
            <a:extLst>
              <a:ext uri="{FF2B5EF4-FFF2-40B4-BE49-F238E27FC236}">
                <a16:creationId xmlns:a16="http://schemas.microsoft.com/office/drawing/2014/main" id="{CFBA3206-8FE1-BE4F-6E0D-7AE7C1AA097A}"/>
              </a:ext>
            </a:extLst>
          </p:cNvPr>
          <p:cNvSpPr/>
          <p:nvPr/>
        </p:nvSpPr>
        <p:spPr>
          <a:xfrm>
            <a:off x="9602249" y="5208846"/>
            <a:ext cx="1117600" cy="330200"/>
          </a:xfrm>
          <a:prstGeom prst="roundRect">
            <a:avLst>
              <a:gd name="adj" fmla="val 23077"/>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B3BDCF"/>
                </a:solidFill>
                <a:latin typeface="Segoe UI Semibold" panose="020B0702040204020203" pitchFamily="34" charset="0"/>
              </a:rPr>
              <a:t>Review</a:t>
            </a:r>
          </a:p>
        </p:txBody>
      </p:sp>
      <p:sp>
        <p:nvSpPr>
          <p:cNvPr id="37" name="Rectangle: Rounded Corners 36">
            <a:extLst>
              <a:ext uri="{FF2B5EF4-FFF2-40B4-BE49-F238E27FC236}">
                <a16:creationId xmlns:a16="http://schemas.microsoft.com/office/drawing/2014/main" id="{3E316FAA-DC50-1F70-F61D-3B15334312B8}"/>
              </a:ext>
            </a:extLst>
          </p:cNvPr>
          <p:cNvSpPr/>
          <p:nvPr/>
        </p:nvSpPr>
        <p:spPr>
          <a:xfrm>
            <a:off x="7949151" y="5208846"/>
            <a:ext cx="1117600" cy="330200"/>
          </a:xfrm>
          <a:prstGeom prst="roundRect">
            <a:avLst>
              <a:gd name="adj" fmla="val 23077"/>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B3BDCF"/>
                </a:solidFill>
                <a:latin typeface="Segoe UI Semibold" panose="020B0702040204020203" pitchFamily="34" charset="0"/>
              </a:rPr>
              <a:t>Test</a:t>
            </a:r>
          </a:p>
        </p:txBody>
      </p:sp>
      <p:sp>
        <p:nvSpPr>
          <p:cNvPr id="38" name="Rectangle: Rounded Corners 37">
            <a:extLst>
              <a:ext uri="{FF2B5EF4-FFF2-40B4-BE49-F238E27FC236}">
                <a16:creationId xmlns:a16="http://schemas.microsoft.com/office/drawing/2014/main" id="{32DD2B83-C602-970B-1CEA-CC240F0B8BAF}"/>
              </a:ext>
            </a:extLst>
          </p:cNvPr>
          <p:cNvSpPr/>
          <p:nvPr/>
        </p:nvSpPr>
        <p:spPr>
          <a:xfrm>
            <a:off x="6918462" y="3916402"/>
            <a:ext cx="1117600" cy="330200"/>
          </a:xfrm>
          <a:prstGeom prst="roundRect">
            <a:avLst>
              <a:gd name="adj" fmla="val 23077"/>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B3BDCF"/>
                </a:solidFill>
                <a:latin typeface="Segoe UI Semibold" panose="020B0702040204020203" pitchFamily="34" charset="0"/>
              </a:rPr>
              <a:t>Deploy</a:t>
            </a:r>
          </a:p>
        </p:txBody>
      </p:sp>
      <p:sp>
        <p:nvSpPr>
          <p:cNvPr id="39" name="Rectangle: Rounded Corners 38">
            <a:extLst>
              <a:ext uri="{FF2B5EF4-FFF2-40B4-BE49-F238E27FC236}">
                <a16:creationId xmlns:a16="http://schemas.microsoft.com/office/drawing/2014/main" id="{02D9F710-739A-7CB2-2205-74B72646B091}"/>
              </a:ext>
            </a:extLst>
          </p:cNvPr>
          <p:cNvSpPr/>
          <p:nvPr/>
        </p:nvSpPr>
        <p:spPr>
          <a:xfrm>
            <a:off x="7286311" y="2304752"/>
            <a:ext cx="1117600" cy="330200"/>
          </a:xfrm>
          <a:prstGeom prst="roundRect">
            <a:avLst>
              <a:gd name="adj" fmla="val 23077"/>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B3BDCF"/>
                </a:solidFill>
                <a:latin typeface="Segoe UI Semibold" panose="020B0702040204020203" pitchFamily="34" charset="0"/>
              </a:rPr>
              <a:t>Feedback</a:t>
            </a:r>
          </a:p>
        </p:txBody>
      </p:sp>
      <p:sp>
        <p:nvSpPr>
          <p:cNvPr id="40" name="Oval 39">
            <a:extLst>
              <a:ext uri="{FF2B5EF4-FFF2-40B4-BE49-F238E27FC236}">
                <a16:creationId xmlns:a16="http://schemas.microsoft.com/office/drawing/2014/main" id="{7D809530-FF80-690A-1CFA-0F5D344B46D7}"/>
              </a:ext>
            </a:extLst>
          </p:cNvPr>
          <p:cNvSpPr/>
          <p:nvPr/>
        </p:nvSpPr>
        <p:spPr>
          <a:xfrm>
            <a:off x="8420100" y="2997200"/>
            <a:ext cx="1828800" cy="1320800"/>
          </a:xfrm>
          <a:prstGeom prst="ellipse">
            <a:avLst/>
          </a:prstGeom>
          <a:solidFill>
            <a:srgbClr val="2B220F"/>
          </a:solidFill>
          <a:ln w="12700">
            <a:solidFill>
              <a:srgbClr val="B07A2A"/>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900">
                <a:solidFill>
                  <a:srgbClr val="F1F4F9"/>
                </a:solidFill>
                <a:latin typeface="Segoe UI Semibold" panose="020B0702040204020203" pitchFamily="34" charset="0"/>
              </a:rPr>
              <a:t>Shared Engineering Context</a:t>
            </a:r>
            <a:br>
              <a:rPr lang="en-US" sz="750">
                <a:solidFill>
                  <a:srgbClr val="B3BDCF"/>
                </a:solidFill>
                <a:latin typeface="Segoe UI" panose="020B0502040204020203" pitchFamily="34" charset="0"/>
              </a:rPr>
            </a:br>
            <a:r>
              <a:rPr lang="en-US" sz="750">
                <a:solidFill>
                  <a:srgbClr val="B3BDCF"/>
                </a:solidFill>
                <a:latin typeface="Segoe UI" panose="020B0502040204020203" pitchFamily="34" charset="0"/>
              </a:rPr>
              <a:t>project-scoped, permission-aware</a:t>
            </a:r>
            <a:endParaRPr lang="en-IN" sz="750">
              <a:solidFill>
                <a:srgbClr val="B3BDCF"/>
              </a:solidFill>
              <a:latin typeface="Segoe UI" panose="020B0502040204020203" pitchFamily="34" charset="0"/>
            </a:endParaRPr>
          </a:p>
        </p:txBody>
      </p:sp>
      <p:sp>
        <p:nvSpPr>
          <p:cNvPr id="41" name="Rectangle: Rounded Corners 40">
            <a:extLst>
              <a:ext uri="{FF2B5EF4-FFF2-40B4-BE49-F238E27FC236}">
                <a16:creationId xmlns:a16="http://schemas.microsoft.com/office/drawing/2014/main" id="{75253578-5A5D-18C4-516F-9871E8E25F50}"/>
              </a:ext>
            </a:extLst>
          </p:cNvPr>
          <p:cNvSpPr/>
          <p:nvPr/>
        </p:nvSpPr>
        <p:spPr>
          <a:xfrm>
            <a:off x="9118600" y="4343400"/>
            <a:ext cx="419100" cy="165100"/>
          </a:xfrm>
          <a:prstGeom prst="roundRect">
            <a:avLst>
              <a:gd name="adj" fmla="val 50000"/>
            </a:avLst>
          </a:prstGeom>
          <a:solidFill>
            <a:srgbClr val="33270F"/>
          </a:solidFill>
          <a:ln w="9525">
            <a:solidFill>
              <a:srgbClr val="F1A73B"/>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F1A73B"/>
                </a:solidFill>
                <a:latin typeface="Segoe UI Semibold" panose="020B0702040204020203" pitchFamily="34" charset="0"/>
              </a:rPr>
              <a:t>NEXT</a:t>
            </a:r>
          </a:p>
        </p:txBody>
      </p:sp>
      <p:sp>
        <p:nvSpPr>
          <p:cNvPr id="42" name="Rectangle: Rounded Corners 41">
            <a:extLst>
              <a:ext uri="{FF2B5EF4-FFF2-40B4-BE49-F238E27FC236}">
                <a16:creationId xmlns:a16="http://schemas.microsoft.com/office/drawing/2014/main" id="{B7B5A294-38AC-ED6C-A016-A2D1779EB692}"/>
              </a:ext>
            </a:extLst>
          </p:cNvPr>
          <p:cNvSpPr/>
          <p:nvPr/>
        </p:nvSpPr>
        <p:spPr>
          <a:xfrm>
            <a:off x="7620000" y="5969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sp>
        <p:nvSpPr>
          <p:cNvPr id="43" name="Rectangle: Rounded Corners 42">
            <a:extLst>
              <a:ext uri="{FF2B5EF4-FFF2-40B4-BE49-F238E27FC236}">
                <a16:creationId xmlns:a16="http://schemas.microsoft.com/office/drawing/2014/main" id="{3D7652E2-3C6C-4C44-92DA-75DD54C5AB7C}"/>
              </a:ext>
            </a:extLst>
          </p:cNvPr>
          <p:cNvSpPr/>
          <p:nvPr/>
        </p:nvSpPr>
        <p:spPr>
          <a:xfrm>
            <a:off x="8521700" y="5969000"/>
            <a:ext cx="419100" cy="165100"/>
          </a:xfrm>
          <a:prstGeom prst="roundRect">
            <a:avLst>
              <a:gd name="adj" fmla="val 50000"/>
            </a:avLst>
          </a:prstGeom>
          <a:solidFill>
            <a:srgbClr val="33270F"/>
          </a:solidFill>
          <a:ln w="9525">
            <a:solidFill>
              <a:srgbClr val="F1A73B"/>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F1A73B"/>
                </a:solidFill>
                <a:latin typeface="Segoe UI Semibold" panose="020B0702040204020203" pitchFamily="34" charset="0"/>
              </a:rPr>
              <a:t>NEXT</a:t>
            </a:r>
          </a:p>
        </p:txBody>
      </p:sp>
      <p:sp>
        <p:nvSpPr>
          <p:cNvPr id="44" name="Rectangle: Rounded Corners 43">
            <a:extLst>
              <a:ext uri="{FF2B5EF4-FFF2-40B4-BE49-F238E27FC236}">
                <a16:creationId xmlns:a16="http://schemas.microsoft.com/office/drawing/2014/main" id="{EA27493B-B346-1CD1-D5CC-DE559C14101C}"/>
              </a:ext>
            </a:extLst>
          </p:cNvPr>
          <p:cNvSpPr/>
          <p:nvPr/>
        </p:nvSpPr>
        <p:spPr>
          <a:xfrm>
            <a:off x="9017000" y="59690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45" name="TextBox 44">
            <a:extLst>
              <a:ext uri="{FF2B5EF4-FFF2-40B4-BE49-F238E27FC236}">
                <a16:creationId xmlns:a16="http://schemas.microsoft.com/office/drawing/2014/main" id="{B00A1D50-6944-9CE7-E4FC-3F427718F9ED}"/>
              </a:ext>
            </a:extLst>
          </p:cNvPr>
          <p:cNvSpPr txBox="1"/>
          <p:nvPr/>
        </p:nvSpPr>
        <p:spPr>
          <a:xfrm>
            <a:off x="9677400" y="5981700"/>
            <a:ext cx="1524000" cy="152400"/>
          </a:xfrm>
          <a:prstGeom prst="rect">
            <a:avLst/>
          </a:prstGeom>
          <a:noFill/>
        </p:spPr>
        <p:txBody>
          <a:bodyPr vert="horz" wrap="square" lIns="0" tIns="0" rIns="0" bIns="0" rtlCol="0" anchor="t">
            <a:noAutofit/>
          </a:bodyPr>
          <a:lstStyle/>
          <a:p>
            <a:r>
              <a:rPr lang="en-IN" sz="750">
                <a:solidFill>
                  <a:srgbClr val="78849A"/>
                </a:solidFill>
                <a:latin typeface="Segoe UI" panose="020B0502040204020203" pitchFamily="34" charset="0"/>
              </a:rPr>
              <a:t>status per SDLC stage</a:t>
            </a:r>
          </a:p>
        </p:txBody>
      </p:sp>
    </p:spTree>
    <p:extLst>
      <p:ext uri="{BB962C8B-B14F-4D97-AF65-F5344CB8AC3E}">
        <p14:creationId xmlns:p14="http://schemas.microsoft.com/office/powerpoint/2010/main" val="3485768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39DC26-3DF9-5BC2-24B5-C8380025ADD7}"/>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US" sz="750" spc="110">
                <a:solidFill>
                  <a:srgbClr val="8B9BFF"/>
                </a:solidFill>
                <a:latin typeface="Segoe UI Semibold" panose="020B0702040204020203" pitchFamily="34" charset="0"/>
              </a:rPr>
              <a:t>03  ·  PROGRESS SINCE ZEROTH REVIEW</a:t>
            </a:r>
            <a:endParaRPr lang="en-IN" sz="750" spc="110">
              <a:solidFill>
                <a:srgbClr val="8B9BFF"/>
              </a:solidFill>
              <a:latin typeface="Segoe UI Semibold" panose="020B0702040204020203" pitchFamily="34" charset="0"/>
            </a:endParaRPr>
          </a:p>
        </p:txBody>
      </p:sp>
      <p:sp>
        <p:nvSpPr>
          <p:cNvPr id="3" name="TextBox 2">
            <a:extLst>
              <a:ext uri="{FF2B5EF4-FFF2-40B4-BE49-F238E27FC236}">
                <a16:creationId xmlns:a16="http://schemas.microsoft.com/office/drawing/2014/main" id="{87FF63F6-A6F2-2C5A-25EE-E07BE4760727}"/>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Progress Since Zeroth Review</a:t>
            </a:r>
          </a:p>
        </p:txBody>
      </p:sp>
      <p:sp>
        <p:nvSpPr>
          <p:cNvPr id="4" name="TextBox 3">
            <a:extLst>
              <a:ext uri="{FF2B5EF4-FFF2-40B4-BE49-F238E27FC236}">
                <a16:creationId xmlns:a16="http://schemas.microsoft.com/office/drawing/2014/main" id="{A557FA6B-63B4-E3A3-9D8F-8BD9090BA01D}"/>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What changed between the Zeroth Review (Aug 2026) and Review 1 (Oct 2026).</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7D8C90C8-D38D-4A3D-6647-43A9F73876BC}"/>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151981A-2E07-B6E4-27CF-09298774A12D}"/>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348F3C4A-FDEB-A9BB-9741-FDDDA459DBFC}"/>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03 / 20</a:t>
            </a:r>
          </a:p>
        </p:txBody>
      </p:sp>
      <p:sp>
        <p:nvSpPr>
          <p:cNvPr id="8" name="Rectangle 7">
            <a:extLst>
              <a:ext uri="{FF2B5EF4-FFF2-40B4-BE49-F238E27FC236}">
                <a16:creationId xmlns:a16="http://schemas.microsoft.com/office/drawing/2014/main" id="{8DC79ADA-3BCD-4098-7F3E-75D8153BCD50}"/>
              </a:ext>
            </a:extLst>
          </p:cNvPr>
          <p:cNvSpPr/>
          <p:nvPr/>
        </p:nvSpPr>
        <p:spPr>
          <a:xfrm>
            <a:off x="508000" y="1168400"/>
            <a:ext cx="11176000" cy="279400"/>
          </a:xfrm>
          <a:prstGeom prst="rect">
            <a:avLst/>
          </a:prstGeom>
          <a:solidFill>
            <a:srgbClr val="1C29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A38C6EA4-C7BC-03FE-96C8-196C8860F00F}"/>
              </a:ext>
            </a:extLst>
          </p:cNvPr>
          <p:cNvSpPr/>
          <p:nvPr/>
        </p:nvSpPr>
        <p:spPr>
          <a:xfrm>
            <a:off x="508000" y="1447800"/>
            <a:ext cx="11176000" cy="5588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3C7A3B0E-4464-4811-F416-19D6594ADAAC}"/>
              </a:ext>
            </a:extLst>
          </p:cNvPr>
          <p:cNvSpPr/>
          <p:nvPr/>
        </p:nvSpPr>
        <p:spPr>
          <a:xfrm>
            <a:off x="508000" y="2006600"/>
            <a:ext cx="11176000" cy="508000"/>
          </a:xfrm>
          <a:prstGeom prst="rect">
            <a:avLst/>
          </a:prstGeom>
          <a:solidFill>
            <a:srgbClr val="0E16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71F6403-9951-C42E-CC82-882CC052C3CF}"/>
              </a:ext>
            </a:extLst>
          </p:cNvPr>
          <p:cNvSpPr/>
          <p:nvPr/>
        </p:nvSpPr>
        <p:spPr>
          <a:xfrm>
            <a:off x="508000" y="2514600"/>
            <a:ext cx="11176000" cy="5080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94DF39B0-CFBC-B0D5-9B37-455507C8C755}"/>
              </a:ext>
            </a:extLst>
          </p:cNvPr>
          <p:cNvSpPr/>
          <p:nvPr/>
        </p:nvSpPr>
        <p:spPr>
          <a:xfrm>
            <a:off x="508000" y="3022600"/>
            <a:ext cx="11176000" cy="508000"/>
          </a:xfrm>
          <a:prstGeom prst="rect">
            <a:avLst/>
          </a:prstGeom>
          <a:solidFill>
            <a:srgbClr val="0E16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5516D503-4C48-00A1-790E-FCD6E8F89086}"/>
              </a:ext>
            </a:extLst>
          </p:cNvPr>
          <p:cNvSpPr/>
          <p:nvPr/>
        </p:nvSpPr>
        <p:spPr>
          <a:xfrm>
            <a:off x="508000" y="3530600"/>
            <a:ext cx="11176000" cy="4572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82615E49-DB24-5DAF-76A1-45CED02BC4DB}"/>
              </a:ext>
            </a:extLst>
          </p:cNvPr>
          <p:cNvSpPr/>
          <p:nvPr/>
        </p:nvSpPr>
        <p:spPr>
          <a:xfrm>
            <a:off x="508000" y="3987800"/>
            <a:ext cx="11176000" cy="508000"/>
          </a:xfrm>
          <a:prstGeom prst="rect">
            <a:avLst/>
          </a:prstGeom>
          <a:solidFill>
            <a:srgbClr val="0E16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F48841BF-D5A3-CC9C-AD28-C6DF975D01DD}"/>
              </a:ext>
            </a:extLst>
          </p:cNvPr>
          <p:cNvSpPr/>
          <p:nvPr/>
        </p:nvSpPr>
        <p:spPr>
          <a:xfrm>
            <a:off x="508000" y="1168400"/>
            <a:ext cx="11176000" cy="3327400"/>
          </a:xfrm>
          <a:prstGeom prst="roundRect">
            <a:avLst>
              <a:gd name="adj" fmla="val 1527"/>
            </a:avLst>
          </a:prstGeom>
          <a:noFill/>
          <a:ln w="9525" cap="flat" cmpd="sng" algn="ctr">
            <a:solidFill>
              <a:srgbClr val="25314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D7E7F8C6-C808-DE77-DD91-A6C0F8082F37}"/>
              </a:ext>
            </a:extLst>
          </p:cNvPr>
          <p:cNvSpPr txBox="1"/>
          <p:nvPr/>
        </p:nvSpPr>
        <p:spPr>
          <a:xfrm>
            <a:off x="609600" y="1257300"/>
            <a:ext cx="13462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ASPECT</a:t>
            </a:r>
          </a:p>
        </p:txBody>
      </p:sp>
      <p:sp>
        <p:nvSpPr>
          <p:cNvPr id="17" name="TextBox 16">
            <a:extLst>
              <a:ext uri="{FF2B5EF4-FFF2-40B4-BE49-F238E27FC236}">
                <a16:creationId xmlns:a16="http://schemas.microsoft.com/office/drawing/2014/main" id="{3CEB5247-8199-A9D0-A3FE-1B57D8510AA9}"/>
              </a:ext>
            </a:extLst>
          </p:cNvPr>
          <p:cNvSpPr txBox="1"/>
          <p:nvPr/>
        </p:nvSpPr>
        <p:spPr>
          <a:xfrm>
            <a:off x="2108200" y="1257300"/>
            <a:ext cx="36576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AT ZEROTH REVIEW</a:t>
            </a:r>
          </a:p>
        </p:txBody>
      </p:sp>
      <p:sp>
        <p:nvSpPr>
          <p:cNvPr id="18" name="TextBox 17">
            <a:extLst>
              <a:ext uri="{FF2B5EF4-FFF2-40B4-BE49-F238E27FC236}">
                <a16:creationId xmlns:a16="http://schemas.microsoft.com/office/drawing/2014/main" id="{F68AEEBD-3817-27D5-C719-871534E7C59A}"/>
              </a:ext>
            </a:extLst>
          </p:cNvPr>
          <p:cNvSpPr txBox="1"/>
          <p:nvPr/>
        </p:nvSpPr>
        <p:spPr>
          <a:xfrm>
            <a:off x="5918200" y="1257300"/>
            <a:ext cx="57150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NOW (REVIEW 1)</a:t>
            </a:r>
          </a:p>
        </p:txBody>
      </p:sp>
      <p:sp>
        <p:nvSpPr>
          <p:cNvPr id="19" name="TextBox 18">
            <a:extLst>
              <a:ext uri="{FF2B5EF4-FFF2-40B4-BE49-F238E27FC236}">
                <a16:creationId xmlns:a16="http://schemas.microsoft.com/office/drawing/2014/main" id="{671C9C32-4FE8-CC41-6165-E5FF7E7B579C}"/>
              </a:ext>
            </a:extLst>
          </p:cNvPr>
          <p:cNvSpPr txBox="1"/>
          <p:nvPr/>
        </p:nvSpPr>
        <p:spPr>
          <a:xfrm>
            <a:off x="609600" y="1485900"/>
            <a:ext cx="1320800" cy="482600"/>
          </a:xfrm>
          <a:prstGeom prst="rect">
            <a:avLst/>
          </a:prstGeom>
          <a:noFill/>
        </p:spPr>
        <p:txBody>
          <a:bodyPr vert="horz" wrap="square" lIns="0" tIns="0" rIns="0" bIns="0" rtlCol="0" anchor="ctr">
            <a:noAutofit/>
          </a:bodyPr>
          <a:lstStyle/>
          <a:p>
            <a:r>
              <a:rPr lang="en-IN" sz="950">
                <a:solidFill>
                  <a:srgbClr val="F1F4F9"/>
                </a:solidFill>
                <a:latin typeface="Segoe UI Semibold" panose="020B0702040204020203" pitchFamily="34" charset="0"/>
              </a:rPr>
              <a:t>Problem definition</a:t>
            </a:r>
          </a:p>
        </p:txBody>
      </p:sp>
      <p:sp>
        <p:nvSpPr>
          <p:cNvPr id="20" name="TextBox 19">
            <a:extLst>
              <a:ext uri="{FF2B5EF4-FFF2-40B4-BE49-F238E27FC236}">
                <a16:creationId xmlns:a16="http://schemas.microsoft.com/office/drawing/2014/main" id="{63B06D70-E94A-8FF5-8809-E083D1B26A73}"/>
              </a:ext>
            </a:extLst>
          </p:cNvPr>
          <p:cNvSpPr txBox="1"/>
          <p:nvPr/>
        </p:nvSpPr>
        <p:spPr>
          <a:xfrm>
            <a:off x="2108200" y="1485900"/>
            <a:ext cx="3632200" cy="482600"/>
          </a:xfrm>
          <a:prstGeom prst="rect">
            <a:avLst/>
          </a:prstGeom>
          <a:noFill/>
        </p:spPr>
        <p:txBody>
          <a:bodyPr vert="horz" wrap="square" lIns="0" tIns="0" rIns="0" bIns="0" rtlCol="0" anchor="ctr">
            <a:noAutofit/>
          </a:bodyPr>
          <a:lstStyle/>
          <a:p>
            <a:r>
              <a:rPr lang="en-US" sz="950">
                <a:solidFill>
                  <a:srgbClr val="B3BDCF"/>
                </a:solidFill>
                <a:latin typeface="Segoe UI" panose="020B0502040204020203" pitchFamily="34" charset="0"/>
              </a:rPr>
              <a:t>Repository-aware, multi-agent engineering intelligence platform.</a:t>
            </a:r>
            <a:endParaRPr lang="en-IN" sz="950">
              <a:solidFill>
                <a:srgbClr val="B3BDCF"/>
              </a:solidFill>
              <a:latin typeface="Segoe UI" panose="020B0502040204020203" pitchFamily="34" charset="0"/>
            </a:endParaRPr>
          </a:p>
        </p:txBody>
      </p:sp>
      <p:sp>
        <p:nvSpPr>
          <p:cNvPr id="21" name="TextBox 20">
            <a:extLst>
              <a:ext uri="{FF2B5EF4-FFF2-40B4-BE49-F238E27FC236}">
                <a16:creationId xmlns:a16="http://schemas.microsoft.com/office/drawing/2014/main" id="{451A3DBA-477A-7D3B-A83F-1F9695BF2384}"/>
              </a:ext>
            </a:extLst>
          </p:cNvPr>
          <p:cNvSpPr txBox="1"/>
          <p:nvPr/>
        </p:nvSpPr>
        <p:spPr>
          <a:xfrm>
            <a:off x="5918200" y="1485900"/>
            <a:ext cx="5689600" cy="482600"/>
          </a:xfrm>
          <a:prstGeom prst="rect">
            <a:avLst/>
          </a:prstGeom>
          <a:noFill/>
        </p:spPr>
        <p:txBody>
          <a:bodyPr vert="horz" wrap="square" lIns="0" tIns="0" rIns="0" bIns="0" rtlCol="0" anchor="ctr">
            <a:noAutofit/>
          </a:bodyPr>
          <a:lstStyle/>
          <a:p>
            <a:r>
              <a:rPr lang="en-US" sz="950">
                <a:solidFill>
                  <a:srgbClr val="B3BDCF"/>
                </a:solidFill>
                <a:latin typeface="Segoe UI" panose="020B0502040204020203" pitchFamily="34" charset="0"/>
              </a:rPr>
              <a:t>Focus refined to repository intelligence, engineering knowledge and defect-risk prediction; multi-agent AI moved to later phases. Title change subject to Department approval.</a:t>
            </a:r>
            <a:endParaRPr lang="en-IN" sz="950">
              <a:solidFill>
                <a:srgbClr val="B3BDCF"/>
              </a:solidFill>
              <a:latin typeface="Segoe UI" panose="020B0502040204020203" pitchFamily="34" charset="0"/>
            </a:endParaRPr>
          </a:p>
        </p:txBody>
      </p:sp>
      <p:cxnSp>
        <p:nvCxnSpPr>
          <p:cNvPr id="22" name="Straight Connector 21">
            <a:extLst>
              <a:ext uri="{FF2B5EF4-FFF2-40B4-BE49-F238E27FC236}">
                <a16:creationId xmlns:a16="http://schemas.microsoft.com/office/drawing/2014/main" id="{725D58AD-7746-C10F-25D1-80447363F4C5}"/>
              </a:ext>
            </a:extLst>
          </p:cNvPr>
          <p:cNvCxnSpPr/>
          <p:nvPr/>
        </p:nvCxnSpPr>
        <p:spPr>
          <a:xfrm>
            <a:off x="508000" y="2006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7149967-68DC-D3AF-472E-0E75903C1C69}"/>
              </a:ext>
            </a:extLst>
          </p:cNvPr>
          <p:cNvSpPr txBox="1"/>
          <p:nvPr/>
        </p:nvSpPr>
        <p:spPr>
          <a:xfrm>
            <a:off x="609600" y="2044700"/>
            <a:ext cx="1320800" cy="431800"/>
          </a:xfrm>
          <a:prstGeom prst="rect">
            <a:avLst/>
          </a:prstGeom>
          <a:noFill/>
        </p:spPr>
        <p:txBody>
          <a:bodyPr vert="horz" wrap="square" lIns="0" tIns="0" rIns="0" bIns="0" rtlCol="0" anchor="ctr">
            <a:noAutofit/>
          </a:bodyPr>
          <a:lstStyle/>
          <a:p>
            <a:r>
              <a:rPr lang="en-IN" sz="950">
                <a:solidFill>
                  <a:srgbClr val="F1F4F9"/>
                </a:solidFill>
                <a:latin typeface="Segoe UI Semibold" panose="020B0702040204020203" pitchFamily="34" charset="0"/>
              </a:rPr>
              <a:t>Literature survey</a:t>
            </a:r>
          </a:p>
        </p:txBody>
      </p:sp>
      <p:sp>
        <p:nvSpPr>
          <p:cNvPr id="24" name="TextBox 23">
            <a:extLst>
              <a:ext uri="{FF2B5EF4-FFF2-40B4-BE49-F238E27FC236}">
                <a16:creationId xmlns:a16="http://schemas.microsoft.com/office/drawing/2014/main" id="{0DA598B7-14EB-09BF-24F6-11889E82E460}"/>
              </a:ext>
            </a:extLst>
          </p:cNvPr>
          <p:cNvSpPr txBox="1"/>
          <p:nvPr/>
        </p:nvSpPr>
        <p:spPr>
          <a:xfrm>
            <a:off x="2108200" y="2044700"/>
            <a:ext cx="3632200" cy="431800"/>
          </a:xfrm>
          <a:prstGeom prst="rect">
            <a:avLst/>
          </a:prstGeom>
          <a:noFill/>
        </p:spPr>
        <p:txBody>
          <a:bodyPr vert="horz" wrap="square" lIns="0" tIns="0" rIns="0" bIns="0" rtlCol="0" anchor="ctr">
            <a:noAutofit/>
          </a:bodyPr>
          <a:lstStyle/>
          <a:p>
            <a:r>
              <a:rPr lang="en-IN" sz="950">
                <a:solidFill>
                  <a:srgbClr val="B3BDCF"/>
                </a:solidFill>
                <a:latin typeface="Segoe UI" panose="020B0502040204020203" pitchFamily="34" charset="0"/>
              </a:rPr>
              <a:t>Broad survey: repository-level AI, SE agents, code models, documentation, defect prediction.</a:t>
            </a:r>
          </a:p>
        </p:txBody>
      </p:sp>
      <p:sp>
        <p:nvSpPr>
          <p:cNvPr id="25" name="TextBox 24">
            <a:extLst>
              <a:ext uri="{FF2B5EF4-FFF2-40B4-BE49-F238E27FC236}">
                <a16:creationId xmlns:a16="http://schemas.microsoft.com/office/drawing/2014/main" id="{9F5ED591-8365-C46D-D72A-FD7FCE7E650A}"/>
              </a:ext>
            </a:extLst>
          </p:cNvPr>
          <p:cNvSpPr txBox="1"/>
          <p:nvPr/>
        </p:nvSpPr>
        <p:spPr>
          <a:xfrm>
            <a:off x="5918200" y="2044700"/>
            <a:ext cx="5689600" cy="431800"/>
          </a:xfrm>
          <a:prstGeom prst="rect">
            <a:avLst/>
          </a:prstGeom>
          <a:noFill/>
        </p:spPr>
        <p:txBody>
          <a:bodyPr vert="horz" wrap="square" lIns="0" tIns="0" rIns="0" bIns="0" rtlCol="0" anchor="ctr">
            <a:noAutofit/>
          </a:bodyPr>
          <a:lstStyle/>
          <a:p>
            <a:r>
              <a:rPr lang="en-US" sz="950">
                <a:solidFill>
                  <a:srgbClr val="B3BDCF"/>
                </a:solidFill>
                <a:latin typeface="Segoe UI" panose="020B0502040204020203" pitchFamily="34" charset="0"/>
              </a:rPr>
              <a:t>Five core papers selected and mapped to one pipeline: Represent → Understand → Plan → Predict → Explain.</a:t>
            </a:r>
            <a:endParaRPr lang="en-IN" sz="950">
              <a:solidFill>
                <a:srgbClr val="B3BDCF"/>
              </a:solidFill>
              <a:latin typeface="Segoe UI" panose="020B0502040204020203" pitchFamily="34" charset="0"/>
            </a:endParaRPr>
          </a:p>
        </p:txBody>
      </p:sp>
      <p:cxnSp>
        <p:nvCxnSpPr>
          <p:cNvPr id="26" name="Straight Connector 25">
            <a:extLst>
              <a:ext uri="{FF2B5EF4-FFF2-40B4-BE49-F238E27FC236}">
                <a16:creationId xmlns:a16="http://schemas.microsoft.com/office/drawing/2014/main" id="{951CD00D-2585-C40D-ABAC-BAA967D2CF76}"/>
              </a:ext>
            </a:extLst>
          </p:cNvPr>
          <p:cNvCxnSpPr/>
          <p:nvPr/>
        </p:nvCxnSpPr>
        <p:spPr>
          <a:xfrm>
            <a:off x="508000" y="2514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404A52A-CB78-7E24-C390-63C4FF7E3881}"/>
              </a:ext>
            </a:extLst>
          </p:cNvPr>
          <p:cNvSpPr txBox="1"/>
          <p:nvPr/>
        </p:nvSpPr>
        <p:spPr>
          <a:xfrm>
            <a:off x="609600" y="2552700"/>
            <a:ext cx="1320800" cy="431800"/>
          </a:xfrm>
          <a:prstGeom prst="rect">
            <a:avLst/>
          </a:prstGeom>
          <a:noFill/>
        </p:spPr>
        <p:txBody>
          <a:bodyPr vert="horz" wrap="square" lIns="0" tIns="0" rIns="0" bIns="0" rtlCol="0" anchor="ctr">
            <a:noAutofit/>
          </a:bodyPr>
          <a:lstStyle/>
          <a:p>
            <a:r>
              <a:rPr lang="en-IN" sz="950">
                <a:solidFill>
                  <a:srgbClr val="F1F4F9"/>
                </a:solidFill>
                <a:latin typeface="Segoe UI Semibold" panose="020B0702040204020203" pitchFamily="34" charset="0"/>
              </a:rPr>
              <a:t>Architecture</a:t>
            </a:r>
          </a:p>
        </p:txBody>
      </p:sp>
      <p:sp>
        <p:nvSpPr>
          <p:cNvPr id="28" name="TextBox 27">
            <a:extLst>
              <a:ext uri="{FF2B5EF4-FFF2-40B4-BE49-F238E27FC236}">
                <a16:creationId xmlns:a16="http://schemas.microsoft.com/office/drawing/2014/main" id="{EC4B591F-96F8-CCF9-A991-9F0110F769E1}"/>
              </a:ext>
            </a:extLst>
          </p:cNvPr>
          <p:cNvSpPr txBox="1"/>
          <p:nvPr/>
        </p:nvSpPr>
        <p:spPr>
          <a:xfrm>
            <a:off x="2108200" y="2552700"/>
            <a:ext cx="3632200" cy="431800"/>
          </a:xfrm>
          <a:prstGeom prst="rect">
            <a:avLst/>
          </a:prstGeom>
          <a:noFill/>
        </p:spPr>
        <p:txBody>
          <a:bodyPr vert="horz" wrap="square" lIns="0" tIns="0" rIns="0" bIns="0" rtlCol="0" anchor="ctr">
            <a:noAutofit/>
          </a:bodyPr>
          <a:lstStyle/>
          <a:p>
            <a:r>
              <a:rPr lang="en-US" sz="950">
                <a:solidFill>
                  <a:srgbClr val="B3BDCF"/>
                </a:solidFill>
                <a:latin typeface="Segoe UI" panose="020B0502040204020203" pitchFamily="34" charset="0"/>
              </a:rPr>
              <a:t>Proposed: Angular 20, ASP.NET Core (.NET 9), SQL Server, Redis, SignalR, Azure.</a:t>
            </a:r>
            <a:endParaRPr lang="en-IN" sz="950">
              <a:solidFill>
                <a:srgbClr val="B3BDCF"/>
              </a:solidFill>
              <a:latin typeface="Segoe UI" panose="020B0502040204020203" pitchFamily="34" charset="0"/>
            </a:endParaRPr>
          </a:p>
        </p:txBody>
      </p:sp>
      <p:sp>
        <p:nvSpPr>
          <p:cNvPr id="29" name="TextBox 28">
            <a:extLst>
              <a:ext uri="{FF2B5EF4-FFF2-40B4-BE49-F238E27FC236}">
                <a16:creationId xmlns:a16="http://schemas.microsoft.com/office/drawing/2014/main" id="{E317EDE5-FF11-7DAB-7B0E-12C08AB922DB}"/>
              </a:ext>
            </a:extLst>
          </p:cNvPr>
          <p:cNvSpPr txBox="1"/>
          <p:nvPr/>
        </p:nvSpPr>
        <p:spPr>
          <a:xfrm>
            <a:off x="5918200" y="2552700"/>
            <a:ext cx="5689600" cy="431800"/>
          </a:xfrm>
          <a:prstGeom prst="rect">
            <a:avLst/>
          </a:prstGeom>
          <a:noFill/>
        </p:spPr>
        <p:txBody>
          <a:bodyPr vert="horz" wrap="square" lIns="0" tIns="0" rIns="0" bIns="0" rtlCol="0" anchor="ctr">
            <a:noAutofit/>
          </a:bodyPr>
          <a:lstStyle/>
          <a:p>
            <a:r>
              <a:rPr lang="en-US" sz="950">
                <a:solidFill>
                  <a:srgbClr val="B3BDCF"/>
                </a:solidFill>
                <a:latin typeface="Segoe UI" panose="020B0502040204020203" pitchFamily="34" charset="0"/>
              </a:rPr>
              <a:t>Implemented: Next.js 16 + TypeScript, Supabase (PostgreSQL, Auth, Row-Level Security), Tree-sitter.</a:t>
            </a:r>
            <a:endParaRPr lang="en-IN" sz="950">
              <a:solidFill>
                <a:srgbClr val="B3BDCF"/>
              </a:solidFill>
              <a:latin typeface="Segoe UI" panose="020B0502040204020203" pitchFamily="34" charset="0"/>
            </a:endParaRPr>
          </a:p>
        </p:txBody>
      </p:sp>
      <p:cxnSp>
        <p:nvCxnSpPr>
          <p:cNvPr id="30" name="Straight Connector 29">
            <a:extLst>
              <a:ext uri="{FF2B5EF4-FFF2-40B4-BE49-F238E27FC236}">
                <a16:creationId xmlns:a16="http://schemas.microsoft.com/office/drawing/2014/main" id="{FA646E3F-8812-CCD6-34FB-8A57FE9CE12D}"/>
              </a:ext>
            </a:extLst>
          </p:cNvPr>
          <p:cNvCxnSpPr/>
          <p:nvPr/>
        </p:nvCxnSpPr>
        <p:spPr>
          <a:xfrm>
            <a:off x="508000" y="3022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3B26F7A-D006-B393-4019-EDB678AA2594}"/>
              </a:ext>
            </a:extLst>
          </p:cNvPr>
          <p:cNvSpPr txBox="1"/>
          <p:nvPr/>
        </p:nvSpPr>
        <p:spPr>
          <a:xfrm>
            <a:off x="609600" y="3060700"/>
            <a:ext cx="1320800" cy="431800"/>
          </a:xfrm>
          <a:prstGeom prst="rect">
            <a:avLst/>
          </a:prstGeom>
          <a:noFill/>
        </p:spPr>
        <p:txBody>
          <a:bodyPr vert="horz" wrap="square" lIns="0" tIns="0" rIns="0" bIns="0" rtlCol="0" anchor="ctr">
            <a:noAutofit/>
          </a:bodyPr>
          <a:lstStyle/>
          <a:p>
            <a:r>
              <a:rPr lang="en-IN" sz="950">
                <a:solidFill>
                  <a:srgbClr val="F1F4F9"/>
                </a:solidFill>
                <a:latin typeface="Segoe UI Semibold" panose="020B0702040204020203" pitchFamily="34" charset="0"/>
              </a:rPr>
              <a:t>Algorithms</a:t>
            </a:r>
          </a:p>
        </p:txBody>
      </p:sp>
      <p:sp>
        <p:nvSpPr>
          <p:cNvPr id="32" name="TextBox 31">
            <a:extLst>
              <a:ext uri="{FF2B5EF4-FFF2-40B4-BE49-F238E27FC236}">
                <a16:creationId xmlns:a16="http://schemas.microsoft.com/office/drawing/2014/main" id="{7D92088A-F841-B553-D87B-BE45F40E5A5B}"/>
              </a:ext>
            </a:extLst>
          </p:cNvPr>
          <p:cNvSpPr txBox="1"/>
          <p:nvPr/>
        </p:nvSpPr>
        <p:spPr>
          <a:xfrm>
            <a:off x="2108200" y="3060700"/>
            <a:ext cx="3632200" cy="431800"/>
          </a:xfrm>
          <a:prstGeom prst="rect">
            <a:avLst/>
          </a:prstGeom>
          <a:noFill/>
        </p:spPr>
        <p:txBody>
          <a:bodyPr vert="horz" wrap="square" lIns="0" tIns="0" rIns="0" bIns="0" rtlCol="0" anchor="ctr">
            <a:noAutofit/>
          </a:bodyPr>
          <a:lstStyle/>
          <a:p>
            <a:r>
              <a:rPr lang="en-US" sz="950">
                <a:solidFill>
                  <a:srgbClr val="B3BDCF"/>
                </a:solidFill>
                <a:latin typeface="Segoe UI" panose="020B0502040204020203" pitchFamily="34" charset="0"/>
              </a:rPr>
              <a:t>Proposed: AST parsing, code graph, engineering risk score.</a:t>
            </a:r>
            <a:endParaRPr lang="en-IN" sz="950">
              <a:solidFill>
                <a:srgbClr val="B3BDCF"/>
              </a:solidFill>
              <a:latin typeface="Segoe UI" panose="020B0502040204020203" pitchFamily="34" charset="0"/>
            </a:endParaRPr>
          </a:p>
        </p:txBody>
      </p:sp>
      <p:sp>
        <p:nvSpPr>
          <p:cNvPr id="33" name="TextBox 32">
            <a:extLst>
              <a:ext uri="{FF2B5EF4-FFF2-40B4-BE49-F238E27FC236}">
                <a16:creationId xmlns:a16="http://schemas.microsoft.com/office/drawing/2014/main" id="{D248E951-976D-81DD-4C8C-7872EF4C0BC2}"/>
              </a:ext>
            </a:extLst>
          </p:cNvPr>
          <p:cNvSpPr txBox="1"/>
          <p:nvPr/>
        </p:nvSpPr>
        <p:spPr>
          <a:xfrm>
            <a:off x="5918200" y="3060700"/>
            <a:ext cx="5689600" cy="431800"/>
          </a:xfrm>
          <a:prstGeom prst="rect">
            <a:avLst/>
          </a:prstGeom>
          <a:noFill/>
        </p:spPr>
        <p:txBody>
          <a:bodyPr vert="horz" wrap="square" lIns="0" tIns="0" rIns="0" bIns="0" rtlCol="0" anchor="ctr">
            <a:noAutofit/>
          </a:bodyPr>
          <a:lstStyle/>
          <a:p>
            <a:r>
              <a:rPr lang="en-US" sz="950">
                <a:solidFill>
                  <a:srgbClr val="B3BDCF"/>
                </a:solidFill>
                <a:latin typeface="Segoe UI" panose="020B0502040204020203" pitchFamily="34" charset="0"/>
              </a:rPr>
              <a:t>Implemented: Tree-sitter AST extraction of symbols and relationships (4 languages). Graph, risk and explanation still planned.</a:t>
            </a:r>
            <a:endParaRPr lang="en-IN" sz="950">
              <a:solidFill>
                <a:srgbClr val="B3BDCF"/>
              </a:solidFill>
              <a:latin typeface="Segoe UI" panose="020B0502040204020203" pitchFamily="34" charset="0"/>
            </a:endParaRPr>
          </a:p>
        </p:txBody>
      </p:sp>
      <p:cxnSp>
        <p:nvCxnSpPr>
          <p:cNvPr id="34" name="Straight Connector 33">
            <a:extLst>
              <a:ext uri="{FF2B5EF4-FFF2-40B4-BE49-F238E27FC236}">
                <a16:creationId xmlns:a16="http://schemas.microsoft.com/office/drawing/2014/main" id="{3542BF8D-B504-41AC-CAD7-81DA63027C43}"/>
              </a:ext>
            </a:extLst>
          </p:cNvPr>
          <p:cNvCxnSpPr/>
          <p:nvPr/>
        </p:nvCxnSpPr>
        <p:spPr>
          <a:xfrm>
            <a:off x="508000" y="3530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92FB0F5-8C2E-28A8-F0E5-F1FC6590C28A}"/>
              </a:ext>
            </a:extLst>
          </p:cNvPr>
          <p:cNvSpPr txBox="1"/>
          <p:nvPr/>
        </p:nvSpPr>
        <p:spPr>
          <a:xfrm>
            <a:off x="609600" y="3568700"/>
            <a:ext cx="1320800" cy="381000"/>
          </a:xfrm>
          <a:prstGeom prst="rect">
            <a:avLst/>
          </a:prstGeom>
          <a:noFill/>
        </p:spPr>
        <p:txBody>
          <a:bodyPr vert="horz" wrap="square" lIns="0" tIns="0" rIns="0" bIns="0" rtlCol="0" anchor="ctr">
            <a:noAutofit/>
          </a:bodyPr>
          <a:lstStyle/>
          <a:p>
            <a:r>
              <a:rPr lang="en-IN" sz="950">
                <a:solidFill>
                  <a:srgbClr val="F1F4F9"/>
                </a:solidFill>
                <a:latin typeface="Segoe UI Semibold" panose="020B0702040204020203" pitchFamily="34" charset="0"/>
              </a:rPr>
              <a:t>Hardware</a:t>
            </a:r>
          </a:p>
        </p:txBody>
      </p:sp>
      <p:sp>
        <p:nvSpPr>
          <p:cNvPr id="36" name="TextBox 35">
            <a:extLst>
              <a:ext uri="{FF2B5EF4-FFF2-40B4-BE49-F238E27FC236}">
                <a16:creationId xmlns:a16="http://schemas.microsoft.com/office/drawing/2014/main" id="{FB658CC2-F2AE-C115-D548-46BB3F32CA9F}"/>
              </a:ext>
            </a:extLst>
          </p:cNvPr>
          <p:cNvSpPr txBox="1"/>
          <p:nvPr/>
        </p:nvSpPr>
        <p:spPr>
          <a:xfrm>
            <a:off x="2108200" y="3568700"/>
            <a:ext cx="3632200" cy="381000"/>
          </a:xfrm>
          <a:prstGeom prst="rect">
            <a:avLst/>
          </a:prstGeom>
          <a:noFill/>
        </p:spPr>
        <p:txBody>
          <a:bodyPr vert="horz" wrap="square" lIns="0" tIns="0" rIns="0" bIns="0" rtlCol="0" anchor="ctr">
            <a:noAutofit/>
          </a:bodyPr>
          <a:lstStyle/>
          <a:p>
            <a:r>
              <a:rPr lang="en-US" sz="950">
                <a:solidFill>
                  <a:srgbClr val="B3BDCF"/>
                </a:solidFill>
                <a:latin typeface="Segoe UI" panose="020B0502040204020203" pitchFamily="34" charset="0"/>
              </a:rPr>
              <a:t>Development laptops; Azure cloud (proposed).</a:t>
            </a:r>
            <a:endParaRPr lang="en-IN" sz="950">
              <a:solidFill>
                <a:srgbClr val="B3BDCF"/>
              </a:solidFill>
              <a:latin typeface="Segoe UI" panose="020B0502040204020203" pitchFamily="34" charset="0"/>
            </a:endParaRPr>
          </a:p>
        </p:txBody>
      </p:sp>
      <p:sp>
        <p:nvSpPr>
          <p:cNvPr id="37" name="TextBox 36">
            <a:extLst>
              <a:ext uri="{FF2B5EF4-FFF2-40B4-BE49-F238E27FC236}">
                <a16:creationId xmlns:a16="http://schemas.microsoft.com/office/drawing/2014/main" id="{BB9DA2A4-B6D2-5571-BF9D-569CEC1B378F}"/>
              </a:ext>
            </a:extLst>
          </p:cNvPr>
          <p:cNvSpPr txBox="1"/>
          <p:nvPr/>
        </p:nvSpPr>
        <p:spPr>
          <a:xfrm>
            <a:off x="5918200" y="3568700"/>
            <a:ext cx="5689600" cy="381000"/>
          </a:xfrm>
          <a:prstGeom prst="rect">
            <a:avLst/>
          </a:prstGeom>
          <a:noFill/>
        </p:spPr>
        <p:txBody>
          <a:bodyPr vert="horz" wrap="square" lIns="0" tIns="0" rIns="0" bIns="0" rtlCol="0" anchor="ctr">
            <a:noAutofit/>
          </a:bodyPr>
          <a:lstStyle/>
          <a:p>
            <a:r>
              <a:rPr lang="en-US" sz="950">
                <a:solidFill>
                  <a:srgbClr val="B3BDCF"/>
                </a:solidFill>
                <a:latin typeface="Segoe UI" panose="020B0502040204020203" pitchFamily="34" charset="0"/>
              </a:rPr>
              <a:t>Development laptops + Docker (local Supabase). No special hardware; cloud deployment deferred.</a:t>
            </a:r>
            <a:endParaRPr lang="en-IN" sz="950">
              <a:solidFill>
                <a:srgbClr val="B3BDCF"/>
              </a:solidFill>
              <a:latin typeface="Segoe UI" panose="020B0502040204020203" pitchFamily="34" charset="0"/>
            </a:endParaRPr>
          </a:p>
        </p:txBody>
      </p:sp>
      <p:cxnSp>
        <p:nvCxnSpPr>
          <p:cNvPr id="38" name="Straight Connector 37">
            <a:extLst>
              <a:ext uri="{FF2B5EF4-FFF2-40B4-BE49-F238E27FC236}">
                <a16:creationId xmlns:a16="http://schemas.microsoft.com/office/drawing/2014/main" id="{5359387B-6595-1BAB-7AB8-A431395CA164}"/>
              </a:ext>
            </a:extLst>
          </p:cNvPr>
          <p:cNvCxnSpPr/>
          <p:nvPr/>
        </p:nvCxnSpPr>
        <p:spPr>
          <a:xfrm>
            <a:off x="508000" y="39878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F4D5FF8B-D0B3-CC33-B347-43ACC20D8E4B}"/>
              </a:ext>
            </a:extLst>
          </p:cNvPr>
          <p:cNvSpPr txBox="1"/>
          <p:nvPr/>
        </p:nvSpPr>
        <p:spPr>
          <a:xfrm>
            <a:off x="609600" y="4025900"/>
            <a:ext cx="1320800" cy="431800"/>
          </a:xfrm>
          <a:prstGeom prst="rect">
            <a:avLst/>
          </a:prstGeom>
          <a:noFill/>
        </p:spPr>
        <p:txBody>
          <a:bodyPr vert="horz" wrap="square" lIns="0" tIns="0" rIns="0" bIns="0" rtlCol="0" anchor="ctr">
            <a:noAutofit/>
          </a:bodyPr>
          <a:lstStyle/>
          <a:p>
            <a:r>
              <a:rPr lang="en-IN" sz="950">
                <a:solidFill>
                  <a:srgbClr val="F1F4F9"/>
                </a:solidFill>
                <a:latin typeface="Segoe UI Semibold" panose="020B0702040204020203" pitchFamily="34" charset="0"/>
              </a:rPr>
              <a:t>Software built</a:t>
            </a:r>
          </a:p>
        </p:txBody>
      </p:sp>
      <p:sp>
        <p:nvSpPr>
          <p:cNvPr id="40" name="TextBox 39">
            <a:extLst>
              <a:ext uri="{FF2B5EF4-FFF2-40B4-BE49-F238E27FC236}">
                <a16:creationId xmlns:a16="http://schemas.microsoft.com/office/drawing/2014/main" id="{A3D580FE-1510-9818-E2A6-D599C6CBECB1}"/>
              </a:ext>
            </a:extLst>
          </p:cNvPr>
          <p:cNvSpPr txBox="1"/>
          <p:nvPr/>
        </p:nvSpPr>
        <p:spPr>
          <a:xfrm>
            <a:off x="2108200" y="4025900"/>
            <a:ext cx="3632200" cy="431800"/>
          </a:xfrm>
          <a:prstGeom prst="rect">
            <a:avLst/>
          </a:prstGeom>
          <a:noFill/>
        </p:spPr>
        <p:txBody>
          <a:bodyPr vert="horz" wrap="square" lIns="0" tIns="0" rIns="0" bIns="0" rtlCol="0" anchor="ctr">
            <a:noAutofit/>
          </a:bodyPr>
          <a:lstStyle/>
          <a:p>
            <a:r>
              <a:rPr lang="en-IN" sz="950">
                <a:solidFill>
                  <a:srgbClr val="B3BDCF"/>
                </a:solidFill>
                <a:latin typeface="Segoe UI" panose="020B0502040204020203" pitchFamily="34" charset="0"/>
              </a:rPr>
              <a:t>Not started.</a:t>
            </a:r>
          </a:p>
        </p:txBody>
      </p:sp>
      <p:sp>
        <p:nvSpPr>
          <p:cNvPr id="41" name="TextBox 40">
            <a:extLst>
              <a:ext uri="{FF2B5EF4-FFF2-40B4-BE49-F238E27FC236}">
                <a16:creationId xmlns:a16="http://schemas.microsoft.com/office/drawing/2014/main" id="{D8DFF2F3-8B2A-DAFA-4456-048D9599B25E}"/>
              </a:ext>
            </a:extLst>
          </p:cNvPr>
          <p:cNvSpPr txBox="1"/>
          <p:nvPr/>
        </p:nvSpPr>
        <p:spPr>
          <a:xfrm>
            <a:off x="5918200" y="4025900"/>
            <a:ext cx="5689600" cy="431800"/>
          </a:xfrm>
          <a:prstGeom prst="rect">
            <a:avLst/>
          </a:prstGeom>
          <a:noFill/>
        </p:spPr>
        <p:txBody>
          <a:bodyPr vert="horz" wrap="square" lIns="0" tIns="0" rIns="0" bIns="0" rtlCol="0" anchor="ctr">
            <a:noAutofit/>
          </a:bodyPr>
          <a:lstStyle/>
          <a:p>
            <a:r>
              <a:rPr lang="en-US" sz="950">
                <a:solidFill>
                  <a:srgbClr val="B3BDCF"/>
                </a:solidFill>
                <a:latin typeface="Segoe UI" panose="020B0502040204020203" pitchFamily="34" charset="0"/>
              </a:rPr>
              <a:t>Phase 1 and 2A–2H complete: auth, organisation hierarchy, projects, requirements/tasks, repository, snapshots, structure analysis.</a:t>
            </a:r>
            <a:endParaRPr lang="en-IN" sz="950">
              <a:solidFill>
                <a:srgbClr val="B3BDCF"/>
              </a:solidFill>
              <a:latin typeface="Segoe UI" panose="020B0502040204020203" pitchFamily="34" charset="0"/>
            </a:endParaRPr>
          </a:p>
        </p:txBody>
      </p:sp>
      <p:sp>
        <p:nvSpPr>
          <p:cNvPr id="42" name="Rectangle: Rounded Corners 41">
            <a:extLst>
              <a:ext uri="{FF2B5EF4-FFF2-40B4-BE49-F238E27FC236}">
                <a16:creationId xmlns:a16="http://schemas.microsoft.com/office/drawing/2014/main" id="{CF27E53D-2C76-E61D-AB37-DADEBE3B7078}"/>
              </a:ext>
            </a:extLst>
          </p:cNvPr>
          <p:cNvSpPr/>
          <p:nvPr/>
        </p:nvSpPr>
        <p:spPr>
          <a:xfrm>
            <a:off x="508000" y="4648200"/>
            <a:ext cx="11176000" cy="1625600"/>
          </a:xfrm>
          <a:prstGeom prst="roundRect">
            <a:avLst>
              <a:gd name="adj" fmla="val 4688"/>
            </a:avLst>
          </a:prstGeom>
          <a:solidFill>
            <a:srgbClr val="2B220F"/>
          </a:solidFill>
          <a:ln w="9525">
            <a:solidFill>
              <a:srgbClr val="B07A2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01A46976-6C17-7FCC-9D9A-C1B9DDF84EBB}"/>
              </a:ext>
            </a:extLst>
          </p:cNvPr>
          <p:cNvSpPr txBox="1"/>
          <p:nvPr/>
        </p:nvSpPr>
        <p:spPr>
          <a:xfrm>
            <a:off x="685800" y="4775200"/>
            <a:ext cx="5080000" cy="152400"/>
          </a:xfrm>
          <a:prstGeom prst="rect">
            <a:avLst/>
          </a:prstGeom>
          <a:noFill/>
        </p:spPr>
        <p:txBody>
          <a:bodyPr vert="horz" wrap="square" lIns="0" tIns="0" rIns="0" bIns="0" rtlCol="0" anchor="t">
            <a:noAutofit/>
          </a:bodyPr>
          <a:lstStyle/>
          <a:p>
            <a:r>
              <a:rPr lang="en-IN" sz="750" spc="110">
                <a:solidFill>
                  <a:srgbClr val="F1A73B"/>
                </a:solidFill>
                <a:latin typeface="Segoe UI Semibold" panose="020B0702040204020203" pitchFamily="34" charset="0"/>
              </a:rPr>
              <a:t>COMMITTEE SUGGESTIONS → ACTION TAKEN</a:t>
            </a:r>
          </a:p>
        </p:txBody>
      </p:sp>
      <p:sp>
        <p:nvSpPr>
          <p:cNvPr id="44" name="TextBox 43">
            <a:extLst>
              <a:ext uri="{FF2B5EF4-FFF2-40B4-BE49-F238E27FC236}">
                <a16:creationId xmlns:a16="http://schemas.microsoft.com/office/drawing/2014/main" id="{E875EFB4-17B2-1B4B-F728-EC33FE6359D9}"/>
              </a:ext>
            </a:extLst>
          </p:cNvPr>
          <p:cNvSpPr txBox="1"/>
          <p:nvPr/>
        </p:nvSpPr>
        <p:spPr>
          <a:xfrm>
            <a:off x="685800" y="5003800"/>
            <a:ext cx="3810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SUGGESTION</a:t>
            </a:r>
          </a:p>
        </p:txBody>
      </p:sp>
      <p:sp>
        <p:nvSpPr>
          <p:cNvPr id="45" name="TextBox 44">
            <a:extLst>
              <a:ext uri="{FF2B5EF4-FFF2-40B4-BE49-F238E27FC236}">
                <a16:creationId xmlns:a16="http://schemas.microsoft.com/office/drawing/2014/main" id="{977C98BD-93D5-879C-EE45-6400547E7168}"/>
              </a:ext>
            </a:extLst>
          </p:cNvPr>
          <p:cNvSpPr txBox="1"/>
          <p:nvPr/>
        </p:nvSpPr>
        <p:spPr>
          <a:xfrm>
            <a:off x="6146800" y="5003800"/>
            <a:ext cx="3810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ACTION TAKEN</a:t>
            </a:r>
          </a:p>
        </p:txBody>
      </p:sp>
      <p:sp>
        <p:nvSpPr>
          <p:cNvPr id="46" name="TextBox 45">
            <a:extLst>
              <a:ext uri="{FF2B5EF4-FFF2-40B4-BE49-F238E27FC236}">
                <a16:creationId xmlns:a16="http://schemas.microsoft.com/office/drawing/2014/main" id="{DAD42840-CD22-A84A-1C74-0B9427910E3E}"/>
              </a:ext>
            </a:extLst>
          </p:cNvPr>
          <p:cNvSpPr txBox="1"/>
          <p:nvPr/>
        </p:nvSpPr>
        <p:spPr>
          <a:xfrm>
            <a:off x="685800" y="5207000"/>
            <a:ext cx="5207000" cy="3810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[PLACEHOLDER – committee remark from the Zeroth Review]</a:t>
            </a:r>
            <a:endParaRPr lang="en-IN" sz="950">
              <a:solidFill>
                <a:srgbClr val="B3BDCF"/>
              </a:solidFill>
              <a:latin typeface="Segoe UI" panose="020B0502040204020203" pitchFamily="34" charset="0"/>
            </a:endParaRPr>
          </a:p>
        </p:txBody>
      </p:sp>
      <p:sp>
        <p:nvSpPr>
          <p:cNvPr id="47" name="TextBox 46">
            <a:extLst>
              <a:ext uri="{FF2B5EF4-FFF2-40B4-BE49-F238E27FC236}">
                <a16:creationId xmlns:a16="http://schemas.microsoft.com/office/drawing/2014/main" id="{4B28C0CF-0509-8504-5898-017DE71F2642}"/>
              </a:ext>
            </a:extLst>
          </p:cNvPr>
          <p:cNvSpPr txBox="1"/>
          <p:nvPr/>
        </p:nvSpPr>
        <p:spPr>
          <a:xfrm>
            <a:off x="6146800" y="5207000"/>
            <a:ext cx="5334000" cy="3810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[PLACEHOLDER – what the team changed in response]</a:t>
            </a:r>
            <a:endParaRPr lang="en-IN" sz="950">
              <a:solidFill>
                <a:srgbClr val="B3BDCF"/>
              </a:solidFill>
              <a:latin typeface="Segoe UI" panose="020B0502040204020203" pitchFamily="34" charset="0"/>
            </a:endParaRPr>
          </a:p>
        </p:txBody>
      </p:sp>
    </p:spTree>
    <p:extLst>
      <p:ext uri="{BB962C8B-B14F-4D97-AF65-F5344CB8AC3E}">
        <p14:creationId xmlns:p14="http://schemas.microsoft.com/office/powerpoint/2010/main" val="3699100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6420B6-B671-9B6E-3A1B-2FE03BADDBA0}"/>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04  ·  PROBLEM STATEMENT</a:t>
            </a:r>
          </a:p>
        </p:txBody>
      </p:sp>
      <p:sp>
        <p:nvSpPr>
          <p:cNvPr id="3" name="TextBox 2">
            <a:extLst>
              <a:ext uri="{FF2B5EF4-FFF2-40B4-BE49-F238E27FC236}">
                <a16:creationId xmlns:a16="http://schemas.microsoft.com/office/drawing/2014/main" id="{A475A24B-8CAF-FFE6-DECD-719C67EF5AC4}"/>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Problem Statement</a:t>
            </a:r>
          </a:p>
        </p:txBody>
      </p:sp>
      <p:sp>
        <p:nvSpPr>
          <p:cNvPr id="4" name="TextBox 3">
            <a:extLst>
              <a:ext uri="{FF2B5EF4-FFF2-40B4-BE49-F238E27FC236}">
                <a16:creationId xmlns:a16="http://schemas.microsoft.com/office/drawing/2014/main" id="{56C72A6F-9D9D-0924-377C-09DADABD790B}"/>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Fragmented engineering knowledge, and AI tools that see only part of it.</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6D016B97-05CD-D745-A135-B8797C6BEBBB}"/>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DC3AB55-ED91-3C77-9A49-DECC0620A00A}"/>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AFF05A9D-E89B-18F8-303F-22F054D1656E}"/>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04 / 20</a:t>
            </a:r>
          </a:p>
        </p:txBody>
      </p:sp>
      <p:sp>
        <p:nvSpPr>
          <p:cNvPr id="8" name="Rectangle: Rounded Corners 7">
            <a:extLst>
              <a:ext uri="{FF2B5EF4-FFF2-40B4-BE49-F238E27FC236}">
                <a16:creationId xmlns:a16="http://schemas.microsoft.com/office/drawing/2014/main" id="{AD5714B7-2DDD-F555-DDF9-AEED0FDB30DF}"/>
              </a:ext>
            </a:extLst>
          </p:cNvPr>
          <p:cNvSpPr/>
          <p:nvPr/>
        </p:nvSpPr>
        <p:spPr>
          <a:xfrm>
            <a:off x="508000" y="1193800"/>
            <a:ext cx="5080000" cy="5080000"/>
          </a:xfrm>
          <a:prstGeom prst="roundRect">
            <a:avLst>
              <a:gd name="adj" fmla="val 200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46F85D8-4681-DA9A-6ACB-10D70BD80DD4}"/>
              </a:ext>
            </a:extLst>
          </p:cNvPr>
          <p:cNvSpPr txBox="1"/>
          <p:nvPr/>
        </p:nvSpPr>
        <p:spPr>
          <a:xfrm>
            <a:off x="711200" y="1346200"/>
            <a:ext cx="3810000" cy="152400"/>
          </a:xfrm>
          <a:prstGeom prst="rect">
            <a:avLst/>
          </a:prstGeom>
          <a:noFill/>
        </p:spPr>
        <p:txBody>
          <a:bodyPr vert="horz" wrap="square" lIns="0" tIns="0" rIns="0" bIns="0" rtlCol="0" anchor="t">
            <a:noAutofit/>
          </a:bodyPr>
          <a:lstStyle/>
          <a:p>
            <a:r>
              <a:rPr lang="en-US" sz="750" spc="110">
                <a:solidFill>
                  <a:srgbClr val="78849A"/>
                </a:solidFill>
                <a:latin typeface="Segoe UI Semibold" panose="020B0702040204020203" pitchFamily="34" charset="0"/>
              </a:rPr>
              <a:t>TODAY: KNOWLEDGE IN SEPARATE TOOLS</a:t>
            </a:r>
            <a:endParaRPr lang="en-IN" sz="750" spc="110">
              <a:solidFill>
                <a:srgbClr val="78849A"/>
              </a:solidFill>
              <a:latin typeface="Segoe UI Semibold" panose="020B0702040204020203" pitchFamily="34" charset="0"/>
            </a:endParaRPr>
          </a:p>
        </p:txBody>
      </p:sp>
      <p:cxnSp>
        <p:nvCxnSpPr>
          <p:cNvPr id="11" name="Straight Connector 10">
            <a:extLst>
              <a:ext uri="{FF2B5EF4-FFF2-40B4-BE49-F238E27FC236}">
                <a16:creationId xmlns:a16="http://schemas.microsoft.com/office/drawing/2014/main" id="{8892F391-6F3B-50B0-FDE9-4A75A84FC60D}"/>
              </a:ext>
            </a:extLst>
          </p:cNvPr>
          <p:cNvCxnSpPr/>
          <p:nvPr/>
        </p:nvCxnSpPr>
        <p:spPr>
          <a:xfrm>
            <a:off x="1524000" y="2032000"/>
            <a:ext cx="1524000" cy="1625600"/>
          </a:xfrm>
          <a:prstGeom prst="line">
            <a:avLst/>
          </a:prstGeom>
          <a:ln w="9525">
            <a:solidFill>
              <a:srgbClr val="3A4766"/>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29D0A2-4E05-59B2-D556-F33957DB0D91}"/>
              </a:ext>
            </a:extLst>
          </p:cNvPr>
          <p:cNvCxnSpPr/>
          <p:nvPr/>
        </p:nvCxnSpPr>
        <p:spPr>
          <a:xfrm flipH="1">
            <a:off x="3048000" y="2032000"/>
            <a:ext cx="1524000" cy="1625600"/>
          </a:xfrm>
          <a:prstGeom prst="line">
            <a:avLst/>
          </a:prstGeom>
          <a:ln w="9525">
            <a:solidFill>
              <a:srgbClr val="3A4766"/>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AB75A5E-67F3-F7DD-DE3B-86807E94EC55}"/>
              </a:ext>
            </a:extLst>
          </p:cNvPr>
          <p:cNvCxnSpPr/>
          <p:nvPr/>
        </p:nvCxnSpPr>
        <p:spPr>
          <a:xfrm flipV="1">
            <a:off x="1346200" y="3657600"/>
            <a:ext cx="1701800" cy="25400"/>
          </a:xfrm>
          <a:prstGeom prst="line">
            <a:avLst/>
          </a:prstGeom>
          <a:ln w="9525">
            <a:solidFill>
              <a:srgbClr val="3A4766"/>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FA004E9-47E6-D6D3-C0CD-C33E358A2EDF}"/>
              </a:ext>
            </a:extLst>
          </p:cNvPr>
          <p:cNvCxnSpPr/>
          <p:nvPr/>
        </p:nvCxnSpPr>
        <p:spPr>
          <a:xfrm flipH="1" flipV="1">
            <a:off x="3048000" y="3657600"/>
            <a:ext cx="1701800" cy="25400"/>
          </a:xfrm>
          <a:prstGeom prst="line">
            <a:avLst/>
          </a:prstGeom>
          <a:ln w="9525">
            <a:solidFill>
              <a:srgbClr val="3A4766"/>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D33D2DD-DF11-F3B9-0258-2910A3407E8E}"/>
              </a:ext>
            </a:extLst>
          </p:cNvPr>
          <p:cNvCxnSpPr/>
          <p:nvPr/>
        </p:nvCxnSpPr>
        <p:spPr>
          <a:xfrm flipV="1">
            <a:off x="1524000" y="3657600"/>
            <a:ext cx="1524000" cy="1676400"/>
          </a:xfrm>
          <a:prstGeom prst="line">
            <a:avLst/>
          </a:prstGeom>
          <a:ln w="9525">
            <a:solidFill>
              <a:srgbClr val="3A4766"/>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D4B7FAE-CEB0-A17C-8A76-A765E34DC411}"/>
              </a:ext>
            </a:extLst>
          </p:cNvPr>
          <p:cNvCxnSpPr/>
          <p:nvPr/>
        </p:nvCxnSpPr>
        <p:spPr>
          <a:xfrm flipH="1" flipV="1">
            <a:off x="3048000" y="3657600"/>
            <a:ext cx="1524000" cy="1676400"/>
          </a:xfrm>
          <a:prstGeom prst="line">
            <a:avLst/>
          </a:prstGeom>
          <a:ln w="9525">
            <a:solidFill>
              <a:srgbClr val="3A4766"/>
            </a:solidFill>
            <a:prstDash val="dash"/>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C5D50307-B9FA-ECF2-3E18-050AD207FA16}"/>
              </a:ext>
            </a:extLst>
          </p:cNvPr>
          <p:cNvSpPr/>
          <p:nvPr/>
        </p:nvSpPr>
        <p:spPr>
          <a:xfrm>
            <a:off x="889000" y="1778000"/>
            <a:ext cx="1270000" cy="508000"/>
          </a:xfrm>
          <a:prstGeom prst="roundRect">
            <a:avLst>
              <a:gd name="adj" fmla="val 15000"/>
            </a:avLst>
          </a:prstGeom>
          <a:solidFill>
            <a:srgbClr val="141B2C"/>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50">
                <a:solidFill>
                  <a:srgbClr val="F1F4F9"/>
                </a:solidFill>
                <a:latin typeface="Segoe UI Semibold" panose="020B0702040204020203" pitchFamily="34" charset="0"/>
              </a:rPr>
              <a:t>Issue tracker</a:t>
            </a:r>
            <a:br>
              <a:rPr lang="en-IN" sz="950">
                <a:solidFill>
                  <a:srgbClr val="F1F4F9"/>
                </a:solidFill>
                <a:latin typeface="Segoe UI Semibold" panose="020B0702040204020203" pitchFamily="34" charset="0"/>
              </a:rPr>
            </a:br>
            <a:r>
              <a:rPr lang="en-IN" sz="750">
                <a:solidFill>
                  <a:srgbClr val="78849A"/>
                </a:solidFill>
                <a:latin typeface="Segoe UI" panose="020B0502040204020203" pitchFamily="34" charset="0"/>
              </a:rPr>
              <a:t>requirements, tasks</a:t>
            </a:r>
          </a:p>
        </p:txBody>
      </p:sp>
      <p:sp>
        <p:nvSpPr>
          <p:cNvPr id="18" name="Rectangle: Rounded Corners 17">
            <a:extLst>
              <a:ext uri="{FF2B5EF4-FFF2-40B4-BE49-F238E27FC236}">
                <a16:creationId xmlns:a16="http://schemas.microsoft.com/office/drawing/2014/main" id="{6623F2E9-93DA-B3FA-024C-0B28870B42D6}"/>
              </a:ext>
            </a:extLst>
          </p:cNvPr>
          <p:cNvSpPr/>
          <p:nvPr/>
        </p:nvSpPr>
        <p:spPr>
          <a:xfrm>
            <a:off x="3937000" y="1778000"/>
            <a:ext cx="1270000" cy="508000"/>
          </a:xfrm>
          <a:prstGeom prst="roundRect">
            <a:avLst>
              <a:gd name="adj" fmla="val 15000"/>
            </a:avLst>
          </a:prstGeom>
          <a:solidFill>
            <a:srgbClr val="141B2C"/>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950">
                <a:solidFill>
                  <a:srgbClr val="F1F4F9"/>
                </a:solidFill>
                <a:latin typeface="Segoe UI Semibold" panose="020B0702040204020203" pitchFamily="34" charset="0"/>
              </a:rPr>
              <a:t>Git hosting</a:t>
            </a:r>
            <a:br>
              <a:rPr lang="en-US" sz="950">
                <a:solidFill>
                  <a:srgbClr val="F1F4F9"/>
                </a:solidFill>
                <a:latin typeface="Segoe UI Semibold" panose="020B0702040204020203" pitchFamily="34" charset="0"/>
              </a:rPr>
            </a:br>
            <a:r>
              <a:rPr lang="en-US" sz="750">
                <a:solidFill>
                  <a:srgbClr val="78849A"/>
                </a:solidFill>
                <a:latin typeface="Segoe UI" panose="020B0502040204020203" pitchFamily="34" charset="0"/>
              </a:rPr>
              <a:t>code, history, PRs</a:t>
            </a:r>
            <a:endParaRPr lang="en-IN" sz="750">
              <a:solidFill>
                <a:srgbClr val="78849A"/>
              </a:solidFill>
              <a:latin typeface="Segoe UI" panose="020B0502040204020203" pitchFamily="34" charset="0"/>
            </a:endParaRPr>
          </a:p>
        </p:txBody>
      </p:sp>
      <p:sp>
        <p:nvSpPr>
          <p:cNvPr id="19" name="Rectangle: Rounded Corners 18">
            <a:extLst>
              <a:ext uri="{FF2B5EF4-FFF2-40B4-BE49-F238E27FC236}">
                <a16:creationId xmlns:a16="http://schemas.microsoft.com/office/drawing/2014/main" id="{EE6A5E78-499E-8892-24C4-26EBE13BF903}"/>
              </a:ext>
            </a:extLst>
          </p:cNvPr>
          <p:cNvSpPr/>
          <p:nvPr/>
        </p:nvSpPr>
        <p:spPr>
          <a:xfrm>
            <a:off x="711200" y="3429000"/>
            <a:ext cx="1270000" cy="508000"/>
          </a:xfrm>
          <a:prstGeom prst="roundRect">
            <a:avLst>
              <a:gd name="adj" fmla="val 15000"/>
            </a:avLst>
          </a:prstGeom>
          <a:solidFill>
            <a:srgbClr val="141B2C"/>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50">
                <a:solidFill>
                  <a:srgbClr val="F1F4F9"/>
                </a:solidFill>
                <a:latin typeface="Segoe UI Semibold" panose="020B0702040204020203" pitchFamily="34" charset="0"/>
              </a:rPr>
              <a:t>CI / CD</a:t>
            </a:r>
            <a:br>
              <a:rPr lang="en-IN" sz="950">
                <a:solidFill>
                  <a:srgbClr val="F1F4F9"/>
                </a:solidFill>
                <a:latin typeface="Segoe UI Semibold" panose="020B0702040204020203" pitchFamily="34" charset="0"/>
              </a:rPr>
            </a:br>
            <a:r>
              <a:rPr lang="en-IN" sz="750">
                <a:solidFill>
                  <a:srgbClr val="78849A"/>
                </a:solidFill>
                <a:latin typeface="Segoe UI" panose="020B0502040204020203" pitchFamily="34" charset="0"/>
              </a:rPr>
              <a:t>builds, tests</a:t>
            </a:r>
          </a:p>
        </p:txBody>
      </p:sp>
      <p:sp>
        <p:nvSpPr>
          <p:cNvPr id="20" name="Rectangle: Rounded Corners 19">
            <a:extLst>
              <a:ext uri="{FF2B5EF4-FFF2-40B4-BE49-F238E27FC236}">
                <a16:creationId xmlns:a16="http://schemas.microsoft.com/office/drawing/2014/main" id="{CB0CFE34-8C44-7186-5A7E-48A45CEF12A3}"/>
              </a:ext>
            </a:extLst>
          </p:cNvPr>
          <p:cNvSpPr/>
          <p:nvPr/>
        </p:nvSpPr>
        <p:spPr>
          <a:xfrm>
            <a:off x="4114800" y="3429000"/>
            <a:ext cx="1270000" cy="508000"/>
          </a:xfrm>
          <a:prstGeom prst="roundRect">
            <a:avLst>
              <a:gd name="adj" fmla="val 15000"/>
            </a:avLst>
          </a:prstGeom>
          <a:solidFill>
            <a:srgbClr val="141B2C"/>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50">
                <a:solidFill>
                  <a:srgbClr val="F1F4F9"/>
                </a:solidFill>
                <a:latin typeface="Segoe UI Semibold" panose="020B0702040204020203" pitchFamily="34" charset="0"/>
              </a:rPr>
              <a:t>Docs &amp; wiki</a:t>
            </a:r>
            <a:br>
              <a:rPr lang="en-IN" sz="950">
                <a:solidFill>
                  <a:srgbClr val="F1F4F9"/>
                </a:solidFill>
                <a:latin typeface="Segoe UI Semibold" panose="020B0702040204020203" pitchFamily="34" charset="0"/>
              </a:rPr>
            </a:br>
            <a:r>
              <a:rPr lang="en-IN" sz="750">
                <a:solidFill>
                  <a:srgbClr val="78849A"/>
                </a:solidFill>
                <a:latin typeface="Segoe UI" panose="020B0502040204020203" pitchFamily="34" charset="0"/>
              </a:rPr>
              <a:t>decisions, designs</a:t>
            </a:r>
          </a:p>
        </p:txBody>
      </p:sp>
      <p:sp>
        <p:nvSpPr>
          <p:cNvPr id="21" name="Rectangle: Rounded Corners 20">
            <a:extLst>
              <a:ext uri="{FF2B5EF4-FFF2-40B4-BE49-F238E27FC236}">
                <a16:creationId xmlns:a16="http://schemas.microsoft.com/office/drawing/2014/main" id="{7E289D76-CEE5-DA94-2F6C-B49C8BBD28C8}"/>
              </a:ext>
            </a:extLst>
          </p:cNvPr>
          <p:cNvSpPr/>
          <p:nvPr/>
        </p:nvSpPr>
        <p:spPr>
          <a:xfrm>
            <a:off x="889000" y="5080000"/>
            <a:ext cx="1270000" cy="508000"/>
          </a:xfrm>
          <a:prstGeom prst="roundRect">
            <a:avLst>
              <a:gd name="adj" fmla="val 15000"/>
            </a:avLst>
          </a:prstGeom>
          <a:solidFill>
            <a:srgbClr val="141B2C"/>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50">
                <a:solidFill>
                  <a:srgbClr val="F1F4F9"/>
                </a:solidFill>
                <a:latin typeface="Segoe UI Semibold" panose="020B0702040204020203" pitchFamily="34" charset="0"/>
              </a:rPr>
              <a:t>Quality reports</a:t>
            </a:r>
            <a:br>
              <a:rPr lang="en-IN" sz="950">
                <a:solidFill>
                  <a:srgbClr val="F1F4F9"/>
                </a:solidFill>
                <a:latin typeface="Segoe UI Semibold" panose="020B0702040204020203" pitchFamily="34" charset="0"/>
              </a:rPr>
            </a:br>
            <a:r>
              <a:rPr lang="en-IN" sz="750">
                <a:solidFill>
                  <a:srgbClr val="78849A"/>
                </a:solidFill>
                <a:latin typeface="Segoe UI" panose="020B0502040204020203" pitchFamily="34" charset="0"/>
              </a:rPr>
              <a:t>coverage, defects</a:t>
            </a:r>
          </a:p>
        </p:txBody>
      </p:sp>
      <p:sp>
        <p:nvSpPr>
          <p:cNvPr id="22" name="Rectangle: Rounded Corners 21">
            <a:extLst>
              <a:ext uri="{FF2B5EF4-FFF2-40B4-BE49-F238E27FC236}">
                <a16:creationId xmlns:a16="http://schemas.microsoft.com/office/drawing/2014/main" id="{974E212E-1F29-DF36-9D63-9B81463D0A7F}"/>
              </a:ext>
            </a:extLst>
          </p:cNvPr>
          <p:cNvSpPr/>
          <p:nvPr/>
        </p:nvSpPr>
        <p:spPr>
          <a:xfrm>
            <a:off x="3937000" y="5080000"/>
            <a:ext cx="1270000" cy="508000"/>
          </a:xfrm>
          <a:prstGeom prst="roundRect">
            <a:avLst>
              <a:gd name="adj" fmla="val 15000"/>
            </a:avLst>
          </a:prstGeom>
          <a:solidFill>
            <a:srgbClr val="141B2C"/>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50">
                <a:solidFill>
                  <a:srgbClr val="F1F4F9"/>
                </a:solidFill>
                <a:latin typeface="Segoe UI Semibold" panose="020B0702040204020203" pitchFamily="34" charset="0"/>
              </a:rPr>
              <a:t>AI chat</a:t>
            </a:r>
            <a:br>
              <a:rPr lang="en-IN" sz="950">
                <a:solidFill>
                  <a:srgbClr val="F1F4F9"/>
                </a:solidFill>
                <a:latin typeface="Segoe UI Semibold" panose="020B0702040204020203" pitchFamily="34" charset="0"/>
              </a:rPr>
            </a:br>
            <a:r>
              <a:rPr lang="en-IN" sz="750">
                <a:solidFill>
                  <a:srgbClr val="78849A"/>
                </a:solidFill>
                <a:latin typeface="Segoe UI" panose="020B0502040204020203" pitchFamily="34" charset="0"/>
              </a:rPr>
              <a:t>pasted fragments</a:t>
            </a:r>
          </a:p>
        </p:txBody>
      </p:sp>
      <p:sp>
        <p:nvSpPr>
          <p:cNvPr id="10" name="Rectangle: Rounded Corners 9">
            <a:extLst>
              <a:ext uri="{FF2B5EF4-FFF2-40B4-BE49-F238E27FC236}">
                <a16:creationId xmlns:a16="http://schemas.microsoft.com/office/drawing/2014/main" id="{D963F3C3-6CD0-E868-0579-B18D56160A40}"/>
              </a:ext>
            </a:extLst>
          </p:cNvPr>
          <p:cNvSpPr/>
          <p:nvPr/>
        </p:nvSpPr>
        <p:spPr>
          <a:xfrm>
            <a:off x="2413000" y="3403600"/>
            <a:ext cx="1270000" cy="508000"/>
          </a:xfrm>
          <a:prstGeom prst="roundRect">
            <a:avLst>
              <a:gd name="adj" fmla="val 15000"/>
            </a:avLst>
          </a:prstGeom>
          <a:solidFill>
            <a:srgbClr val="1C2945"/>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950">
                <a:solidFill>
                  <a:srgbClr val="F1F4F9"/>
                </a:solidFill>
                <a:latin typeface="Segoe UI Semibold" panose="020B0702040204020203" pitchFamily="34" charset="0"/>
              </a:rPr>
              <a:t>Developer</a:t>
            </a:r>
            <a:br>
              <a:rPr lang="en-US" sz="750">
                <a:solidFill>
                  <a:srgbClr val="B3BDCF"/>
                </a:solidFill>
                <a:latin typeface="Segoe UI" panose="020B0502040204020203" pitchFamily="34" charset="0"/>
              </a:rPr>
            </a:br>
            <a:r>
              <a:rPr lang="en-US" sz="750">
                <a:solidFill>
                  <a:srgbClr val="B3BDCF"/>
                </a:solidFill>
                <a:latin typeface="Segoe UI" panose="020B0502040204020203" pitchFamily="34" charset="0"/>
              </a:rPr>
              <a:t>links it by hand</a:t>
            </a:r>
            <a:endParaRPr lang="en-IN" sz="750">
              <a:solidFill>
                <a:srgbClr val="B3BDCF"/>
              </a:solidFill>
              <a:latin typeface="Segoe UI" panose="020B0502040204020203" pitchFamily="34" charset="0"/>
            </a:endParaRPr>
          </a:p>
        </p:txBody>
      </p:sp>
      <p:sp>
        <p:nvSpPr>
          <p:cNvPr id="23" name="TextBox 22">
            <a:extLst>
              <a:ext uri="{FF2B5EF4-FFF2-40B4-BE49-F238E27FC236}">
                <a16:creationId xmlns:a16="http://schemas.microsoft.com/office/drawing/2014/main" id="{48BB7463-91AE-5F5B-23A8-9523248B1B36}"/>
              </a:ext>
            </a:extLst>
          </p:cNvPr>
          <p:cNvSpPr txBox="1"/>
          <p:nvPr/>
        </p:nvSpPr>
        <p:spPr>
          <a:xfrm>
            <a:off x="711200" y="5918200"/>
            <a:ext cx="4699000" cy="177800"/>
          </a:xfrm>
          <a:prstGeom prst="rect">
            <a:avLst/>
          </a:prstGeom>
          <a:noFill/>
        </p:spPr>
        <p:txBody>
          <a:bodyPr vert="horz" wrap="square" lIns="0" tIns="0" rIns="0" bIns="0" rtlCol="0" anchor="t">
            <a:noAutofit/>
          </a:bodyPr>
          <a:lstStyle/>
          <a:p>
            <a:r>
              <a:rPr lang="en-US" sz="850">
                <a:solidFill>
                  <a:srgbClr val="78849A"/>
                </a:solidFill>
                <a:latin typeface="Segoe UI" panose="020B0502040204020203" pitchFamily="34" charset="0"/>
              </a:rPr>
              <a:t>No shared, access-controlled view of the project. Each answer starts from zero.</a:t>
            </a:r>
            <a:endParaRPr lang="en-IN" sz="850">
              <a:solidFill>
                <a:srgbClr val="78849A"/>
              </a:solidFill>
              <a:latin typeface="Segoe UI" panose="020B0502040204020203" pitchFamily="34" charset="0"/>
            </a:endParaRPr>
          </a:p>
        </p:txBody>
      </p:sp>
      <p:sp>
        <p:nvSpPr>
          <p:cNvPr id="24" name="TextBox 23">
            <a:extLst>
              <a:ext uri="{FF2B5EF4-FFF2-40B4-BE49-F238E27FC236}">
                <a16:creationId xmlns:a16="http://schemas.microsoft.com/office/drawing/2014/main" id="{13309E0C-AEE7-9DAC-0875-AB29BFD41200}"/>
              </a:ext>
            </a:extLst>
          </p:cNvPr>
          <p:cNvSpPr txBox="1"/>
          <p:nvPr/>
        </p:nvSpPr>
        <p:spPr>
          <a:xfrm>
            <a:off x="5867400" y="1219200"/>
            <a:ext cx="381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PROBLEM STATEMENT</a:t>
            </a:r>
          </a:p>
        </p:txBody>
      </p:sp>
      <p:sp>
        <p:nvSpPr>
          <p:cNvPr id="25" name="TextBox 24">
            <a:extLst>
              <a:ext uri="{FF2B5EF4-FFF2-40B4-BE49-F238E27FC236}">
                <a16:creationId xmlns:a16="http://schemas.microsoft.com/office/drawing/2014/main" id="{C6F07457-6B37-7F05-683B-7A429814A441}"/>
              </a:ext>
            </a:extLst>
          </p:cNvPr>
          <p:cNvSpPr txBox="1"/>
          <p:nvPr/>
        </p:nvSpPr>
        <p:spPr>
          <a:xfrm>
            <a:off x="5867400" y="1422400"/>
            <a:ext cx="5816600" cy="1524000"/>
          </a:xfrm>
          <a:prstGeom prst="rect">
            <a:avLst/>
          </a:prstGeom>
          <a:noFill/>
        </p:spPr>
        <p:txBody>
          <a:bodyPr vert="horz" wrap="square" lIns="0" tIns="0" rIns="0" bIns="0" rtlCol="0" anchor="t">
            <a:noAutofit/>
          </a:bodyPr>
          <a:lstStyle/>
          <a:p>
            <a:r>
              <a:rPr lang="en-US" sz="1200">
                <a:solidFill>
                  <a:srgbClr val="F1F4F9"/>
                </a:solidFill>
                <a:latin typeface="Segoe UI" panose="020B0502040204020203" pitchFamily="34" charset="0"/>
              </a:rPr>
              <a:t>Engineering knowledge — requirements, code structure, change history and quality signals — is spread across separate tools. Developers connect these pieces by hand. General-purpose AI assistants work on pasted fragments without a persistent, permission-aware view of the project, and defect-prone changes are usually found late: in review, testing or production.</a:t>
            </a:r>
            <a:endParaRPr lang="en-IN" sz="1200">
              <a:solidFill>
                <a:srgbClr val="F1F4F9"/>
              </a:solidFill>
              <a:latin typeface="Segoe UI" panose="020B0502040204020203" pitchFamily="34" charset="0"/>
            </a:endParaRPr>
          </a:p>
        </p:txBody>
      </p:sp>
      <p:sp>
        <p:nvSpPr>
          <p:cNvPr id="26" name="Rectangle: Rounded Corners 25">
            <a:extLst>
              <a:ext uri="{FF2B5EF4-FFF2-40B4-BE49-F238E27FC236}">
                <a16:creationId xmlns:a16="http://schemas.microsoft.com/office/drawing/2014/main" id="{7A3A1B6D-79B9-2718-6DC1-243A01DCE080}"/>
              </a:ext>
            </a:extLst>
          </p:cNvPr>
          <p:cNvSpPr/>
          <p:nvPr/>
        </p:nvSpPr>
        <p:spPr>
          <a:xfrm>
            <a:off x="5867400" y="2717800"/>
            <a:ext cx="5816600" cy="889000"/>
          </a:xfrm>
          <a:prstGeom prst="roundRect">
            <a:avLst>
              <a:gd name="adj" fmla="val 8571"/>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E1994033-0E92-060C-89B3-EE88646991C3}"/>
              </a:ext>
            </a:extLst>
          </p:cNvPr>
          <p:cNvSpPr txBox="1"/>
          <p:nvPr/>
        </p:nvSpPr>
        <p:spPr>
          <a:xfrm>
            <a:off x="6045200" y="2844800"/>
            <a:ext cx="3810000" cy="152400"/>
          </a:xfrm>
          <a:prstGeom prst="rect">
            <a:avLst/>
          </a:prstGeom>
          <a:noFill/>
        </p:spPr>
        <p:txBody>
          <a:bodyPr vert="horz" wrap="square" lIns="0" tIns="0" rIns="0" bIns="0" rtlCol="0" anchor="t">
            <a:noAutofit/>
          </a:bodyPr>
          <a:lstStyle/>
          <a:p>
            <a:r>
              <a:rPr lang="en-IN" sz="700" spc="110">
                <a:solidFill>
                  <a:srgbClr val="8B9BFF"/>
                </a:solidFill>
                <a:latin typeface="Segoe UI Semibold" panose="020B0702040204020203" pitchFamily="34" charset="0"/>
              </a:rPr>
              <a:t>WHO IS AFFECTED</a:t>
            </a:r>
          </a:p>
        </p:txBody>
      </p:sp>
      <p:sp>
        <p:nvSpPr>
          <p:cNvPr id="28" name="TextBox 27">
            <a:extLst>
              <a:ext uri="{FF2B5EF4-FFF2-40B4-BE49-F238E27FC236}">
                <a16:creationId xmlns:a16="http://schemas.microsoft.com/office/drawing/2014/main" id="{ADD49EEE-EF82-CAF6-6187-E099B459CBEC}"/>
              </a:ext>
            </a:extLst>
          </p:cNvPr>
          <p:cNvSpPr txBox="1"/>
          <p:nvPr/>
        </p:nvSpPr>
        <p:spPr>
          <a:xfrm>
            <a:off x="6045200" y="3048000"/>
            <a:ext cx="5486400" cy="508000"/>
          </a:xfrm>
          <a:prstGeom prst="rect">
            <a:avLst/>
          </a:prstGeom>
          <a:noFill/>
        </p:spPr>
        <p:txBody>
          <a:bodyPr vert="horz" wrap="square" lIns="0" tIns="0" rIns="0" bIns="0" rtlCol="0" anchor="t">
            <a:noAutofit/>
          </a:bodyPr>
          <a:lstStyle/>
          <a:p>
            <a:r>
              <a:rPr lang="en-US" sz="1000">
                <a:solidFill>
                  <a:srgbClr val="B3BDCF"/>
                </a:solidFill>
                <a:latin typeface="Segoe UI" panose="020B0502040204020203" pitchFamily="34" charset="0"/>
              </a:rPr>
              <a:t>Developers, team leads and project managers, QA engineers, organisations adopting AI-assisted engineering.</a:t>
            </a:r>
            <a:endParaRPr lang="en-IN" sz="1000">
              <a:solidFill>
                <a:srgbClr val="B3BDCF"/>
              </a:solidFill>
              <a:latin typeface="Segoe UI" panose="020B0502040204020203" pitchFamily="34" charset="0"/>
            </a:endParaRPr>
          </a:p>
        </p:txBody>
      </p:sp>
      <p:sp>
        <p:nvSpPr>
          <p:cNvPr id="29" name="Rectangle: Rounded Corners 28">
            <a:extLst>
              <a:ext uri="{FF2B5EF4-FFF2-40B4-BE49-F238E27FC236}">
                <a16:creationId xmlns:a16="http://schemas.microsoft.com/office/drawing/2014/main" id="{77B56429-0B95-BCDD-D096-E1C6D519AC3B}"/>
              </a:ext>
            </a:extLst>
          </p:cNvPr>
          <p:cNvSpPr/>
          <p:nvPr/>
        </p:nvSpPr>
        <p:spPr>
          <a:xfrm>
            <a:off x="5867400" y="3733800"/>
            <a:ext cx="5816600" cy="889000"/>
          </a:xfrm>
          <a:prstGeom prst="roundRect">
            <a:avLst>
              <a:gd name="adj" fmla="val 8571"/>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F324AFD6-B0B5-B281-4708-A59429B04B89}"/>
              </a:ext>
            </a:extLst>
          </p:cNvPr>
          <p:cNvSpPr txBox="1"/>
          <p:nvPr/>
        </p:nvSpPr>
        <p:spPr>
          <a:xfrm>
            <a:off x="6045200" y="3860800"/>
            <a:ext cx="3810000" cy="152400"/>
          </a:xfrm>
          <a:prstGeom prst="rect">
            <a:avLst/>
          </a:prstGeom>
          <a:noFill/>
        </p:spPr>
        <p:txBody>
          <a:bodyPr vert="horz" wrap="square" lIns="0" tIns="0" rIns="0" bIns="0" rtlCol="0" anchor="t">
            <a:noAutofit/>
          </a:bodyPr>
          <a:lstStyle/>
          <a:p>
            <a:r>
              <a:rPr lang="en-IN" sz="700" spc="110">
                <a:solidFill>
                  <a:srgbClr val="8B9BFF"/>
                </a:solidFill>
                <a:latin typeface="Segoe UI Semibold" panose="020B0702040204020203" pitchFamily="34" charset="0"/>
              </a:rPr>
              <a:t>WHY IT MATTERS</a:t>
            </a:r>
          </a:p>
        </p:txBody>
      </p:sp>
      <p:sp>
        <p:nvSpPr>
          <p:cNvPr id="31" name="TextBox 30">
            <a:extLst>
              <a:ext uri="{FF2B5EF4-FFF2-40B4-BE49-F238E27FC236}">
                <a16:creationId xmlns:a16="http://schemas.microsoft.com/office/drawing/2014/main" id="{70456F82-532B-43F4-55CA-6A41334D6FE8}"/>
              </a:ext>
            </a:extLst>
          </p:cNvPr>
          <p:cNvSpPr txBox="1"/>
          <p:nvPr/>
        </p:nvSpPr>
        <p:spPr>
          <a:xfrm>
            <a:off x="6045200" y="4064000"/>
            <a:ext cx="5486400" cy="508000"/>
          </a:xfrm>
          <a:prstGeom prst="rect">
            <a:avLst/>
          </a:prstGeom>
          <a:noFill/>
        </p:spPr>
        <p:txBody>
          <a:bodyPr vert="horz" wrap="square" lIns="0" tIns="0" rIns="0" bIns="0" rtlCol="0" anchor="t">
            <a:noAutofit/>
          </a:bodyPr>
          <a:lstStyle/>
          <a:p>
            <a:r>
              <a:rPr lang="en-US" sz="1000">
                <a:solidFill>
                  <a:srgbClr val="B3BDCF"/>
                </a:solidFill>
                <a:latin typeface="Segoe UI" panose="020B0502040204020203" pitchFamily="34" charset="0"/>
              </a:rPr>
              <a:t>Time goes into gathering context; broad AI access to repositories risks exposing code to people who should not see it; late defects mean rework.</a:t>
            </a:r>
            <a:endParaRPr lang="en-IN" sz="1000">
              <a:solidFill>
                <a:srgbClr val="B3BDCF"/>
              </a:solidFill>
              <a:latin typeface="Segoe UI" panose="020B0502040204020203" pitchFamily="34" charset="0"/>
            </a:endParaRPr>
          </a:p>
        </p:txBody>
      </p:sp>
      <p:sp>
        <p:nvSpPr>
          <p:cNvPr id="32" name="Rectangle: Rounded Corners 31">
            <a:extLst>
              <a:ext uri="{FF2B5EF4-FFF2-40B4-BE49-F238E27FC236}">
                <a16:creationId xmlns:a16="http://schemas.microsoft.com/office/drawing/2014/main" id="{167894C7-27D4-3669-C59A-9C6A690518B7}"/>
              </a:ext>
            </a:extLst>
          </p:cNvPr>
          <p:cNvSpPr/>
          <p:nvPr/>
        </p:nvSpPr>
        <p:spPr>
          <a:xfrm>
            <a:off x="5867400" y="4749800"/>
            <a:ext cx="5816600" cy="889000"/>
          </a:xfrm>
          <a:prstGeom prst="roundRect">
            <a:avLst>
              <a:gd name="adj" fmla="val 8571"/>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7C2A4C59-7D43-5B7E-ABF6-C97343D79213}"/>
              </a:ext>
            </a:extLst>
          </p:cNvPr>
          <p:cNvSpPr txBox="1"/>
          <p:nvPr/>
        </p:nvSpPr>
        <p:spPr>
          <a:xfrm>
            <a:off x="6045200" y="4876800"/>
            <a:ext cx="3810000" cy="152400"/>
          </a:xfrm>
          <a:prstGeom prst="rect">
            <a:avLst/>
          </a:prstGeom>
          <a:noFill/>
        </p:spPr>
        <p:txBody>
          <a:bodyPr vert="horz" wrap="square" lIns="0" tIns="0" rIns="0" bIns="0" rtlCol="0" anchor="t">
            <a:noAutofit/>
          </a:bodyPr>
          <a:lstStyle/>
          <a:p>
            <a:r>
              <a:rPr lang="en-IN" sz="700" spc="110">
                <a:solidFill>
                  <a:srgbClr val="8B9BFF"/>
                </a:solidFill>
                <a:latin typeface="Segoe UI Semibold" panose="020B0702040204020203" pitchFamily="34" charset="0"/>
              </a:rPr>
              <a:t>ENGINEERING SIGNIFICANCE</a:t>
            </a:r>
          </a:p>
        </p:txBody>
      </p:sp>
      <p:sp>
        <p:nvSpPr>
          <p:cNvPr id="34" name="TextBox 33">
            <a:extLst>
              <a:ext uri="{FF2B5EF4-FFF2-40B4-BE49-F238E27FC236}">
                <a16:creationId xmlns:a16="http://schemas.microsoft.com/office/drawing/2014/main" id="{A469D502-FA8F-2A9A-B45F-4FA9EF07F1B0}"/>
              </a:ext>
            </a:extLst>
          </p:cNvPr>
          <p:cNvSpPr txBox="1"/>
          <p:nvPr/>
        </p:nvSpPr>
        <p:spPr>
          <a:xfrm>
            <a:off x="6045200" y="5080000"/>
            <a:ext cx="5486400" cy="508000"/>
          </a:xfrm>
          <a:prstGeom prst="rect">
            <a:avLst/>
          </a:prstGeom>
          <a:noFill/>
        </p:spPr>
        <p:txBody>
          <a:bodyPr vert="horz" wrap="square" lIns="0" tIns="0" rIns="0" bIns="0" rtlCol="0" anchor="t">
            <a:noAutofit/>
          </a:bodyPr>
          <a:lstStyle/>
          <a:p>
            <a:r>
              <a:rPr lang="en-US" sz="1000">
                <a:solidFill>
                  <a:srgbClr val="B3BDCF"/>
                </a:solidFill>
                <a:latin typeface="Segoe UI" panose="020B0502040204020203" pitchFamily="34" charset="0"/>
              </a:rPr>
              <a:t>Needs structural code analysis (ASTs), multi-tenant authorization inside the database, and data models linking work items to code.</a:t>
            </a:r>
            <a:endParaRPr lang="en-IN" sz="1000">
              <a:solidFill>
                <a:srgbClr val="B3BDCF"/>
              </a:solidFill>
              <a:latin typeface="Segoe UI" panose="020B0502040204020203" pitchFamily="34" charset="0"/>
            </a:endParaRPr>
          </a:p>
        </p:txBody>
      </p:sp>
      <p:sp>
        <p:nvSpPr>
          <p:cNvPr id="35" name="TextBox 34">
            <a:extLst>
              <a:ext uri="{FF2B5EF4-FFF2-40B4-BE49-F238E27FC236}">
                <a16:creationId xmlns:a16="http://schemas.microsoft.com/office/drawing/2014/main" id="{8B17B07F-DE4A-46D3-E36C-13855FDE6CAE}"/>
              </a:ext>
            </a:extLst>
          </p:cNvPr>
          <p:cNvSpPr txBox="1"/>
          <p:nvPr/>
        </p:nvSpPr>
        <p:spPr>
          <a:xfrm>
            <a:off x="5867400" y="5918200"/>
            <a:ext cx="1524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SDGS ADDRESSED</a:t>
            </a:r>
          </a:p>
        </p:txBody>
      </p:sp>
      <p:sp>
        <p:nvSpPr>
          <p:cNvPr id="36" name="TextBox 35">
            <a:extLst>
              <a:ext uri="{FF2B5EF4-FFF2-40B4-BE49-F238E27FC236}">
                <a16:creationId xmlns:a16="http://schemas.microsoft.com/office/drawing/2014/main" id="{1D3C6449-DD7C-673C-0A7A-32AE22C17B55}"/>
              </a:ext>
            </a:extLst>
          </p:cNvPr>
          <p:cNvSpPr txBox="1"/>
          <p:nvPr/>
        </p:nvSpPr>
        <p:spPr>
          <a:xfrm>
            <a:off x="7010400" y="5905500"/>
            <a:ext cx="4699000" cy="177800"/>
          </a:xfrm>
          <a:prstGeom prst="rect">
            <a:avLst/>
          </a:prstGeom>
          <a:noFill/>
        </p:spPr>
        <p:txBody>
          <a:bodyPr vert="horz" wrap="square" lIns="0" tIns="0" rIns="0" bIns="0" rtlCol="0" anchor="t">
            <a:noAutofit/>
          </a:bodyPr>
          <a:lstStyle/>
          <a:p>
            <a:r>
              <a:rPr lang="en-US" sz="850">
                <a:solidFill>
                  <a:srgbClr val="B3BDCF"/>
                </a:solidFill>
                <a:latin typeface="Segoe UI" panose="020B0502040204020203" pitchFamily="34" charset="0"/>
              </a:rPr>
              <a:t>SDG 8 – Decent Work &amp; Economic Growth   ·   SDG 9 – Industry, Innovation &amp; Infrastructure</a:t>
            </a:r>
            <a:endParaRPr lang="en-IN" sz="850">
              <a:solidFill>
                <a:srgbClr val="B3BDCF"/>
              </a:solidFill>
              <a:latin typeface="Segoe UI" panose="020B0502040204020203" pitchFamily="34" charset="0"/>
            </a:endParaRPr>
          </a:p>
        </p:txBody>
      </p:sp>
    </p:spTree>
    <p:extLst>
      <p:ext uri="{BB962C8B-B14F-4D97-AF65-F5344CB8AC3E}">
        <p14:creationId xmlns:p14="http://schemas.microsoft.com/office/powerpoint/2010/main" val="2697728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34D0B5-D4AD-0FE4-C17F-E4E257DDE739}"/>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05  ·  EXISTING SYSTEMS</a:t>
            </a:r>
          </a:p>
        </p:txBody>
      </p:sp>
      <p:sp>
        <p:nvSpPr>
          <p:cNvPr id="3" name="TextBox 2">
            <a:extLst>
              <a:ext uri="{FF2B5EF4-FFF2-40B4-BE49-F238E27FC236}">
                <a16:creationId xmlns:a16="http://schemas.microsoft.com/office/drawing/2014/main" id="{AC153D8A-BF00-4191-ABC3-3387C9ACFFE0}"/>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US" sz="2200">
                <a:solidFill>
                  <a:srgbClr val="F1F4F9"/>
                </a:solidFill>
                <a:latin typeface="Segoe UI Semibold" panose="020B0702040204020203" pitchFamily="34" charset="0"/>
              </a:rPr>
              <a:t>Existing Systems and Their Limitations</a:t>
            </a:r>
            <a:endParaRPr lang="en-IN" sz="2200">
              <a:solidFill>
                <a:srgbClr val="F1F4F9"/>
              </a:solidFill>
              <a:latin typeface="Segoe UI Semibold" panose="020B0702040204020203" pitchFamily="34" charset="0"/>
            </a:endParaRPr>
          </a:p>
        </p:txBody>
      </p:sp>
      <p:sp>
        <p:nvSpPr>
          <p:cNvPr id="4" name="TextBox 3">
            <a:extLst>
              <a:ext uri="{FF2B5EF4-FFF2-40B4-BE49-F238E27FC236}">
                <a16:creationId xmlns:a16="http://schemas.microsoft.com/office/drawing/2014/main" id="{4F1E9A97-0021-3565-2C4D-50BEEC2548CF}"/>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Each category holds one slice of engineering knowledge.</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BE6DD45C-D47B-AF69-CE12-CFF157377833}"/>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62A08-B81B-2C52-523A-CC28AAA61017}"/>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ADE9D842-7E30-794B-EA05-2038345F9D38}"/>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05 / 20</a:t>
            </a:r>
          </a:p>
        </p:txBody>
      </p:sp>
      <p:sp>
        <p:nvSpPr>
          <p:cNvPr id="8" name="Rectangle 7">
            <a:extLst>
              <a:ext uri="{FF2B5EF4-FFF2-40B4-BE49-F238E27FC236}">
                <a16:creationId xmlns:a16="http://schemas.microsoft.com/office/drawing/2014/main" id="{F9B68530-7E04-7B79-7CDF-5E4E6EB1FD33}"/>
              </a:ext>
            </a:extLst>
          </p:cNvPr>
          <p:cNvSpPr/>
          <p:nvPr/>
        </p:nvSpPr>
        <p:spPr>
          <a:xfrm>
            <a:off x="508000" y="1168400"/>
            <a:ext cx="11176000" cy="279400"/>
          </a:xfrm>
          <a:prstGeom prst="rect">
            <a:avLst/>
          </a:prstGeom>
          <a:solidFill>
            <a:srgbClr val="1C29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F51A2EB-FCDC-33B4-B6A0-A7E335170FF4}"/>
              </a:ext>
            </a:extLst>
          </p:cNvPr>
          <p:cNvSpPr/>
          <p:nvPr/>
        </p:nvSpPr>
        <p:spPr>
          <a:xfrm>
            <a:off x="508000" y="1447800"/>
            <a:ext cx="11176000" cy="6858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37EC35F4-0DEE-E049-C852-9F8A215B3188}"/>
              </a:ext>
            </a:extLst>
          </p:cNvPr>
          <p:cNvSpPr/>
          <p:nvPr/>
        </p:nvSpPr>
        <p:spPr>
          <a:xfrm>
            <a:off x="508000" y="2133600"/>
            <a:ext cx="11176000" cy="685800"/>
          </a:xfrm>
          <a:prstGeom prst="rect">
            <a:avLst/>
          </a:prstGeom>
          <a:solidFill>
            <a:srgbClr val="0E16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C89DEB1B-67AF-BF21-A810-9FF55415BE23}"/>
              </a:ext>
            </a:extLst>
          </p:cNvPr>
          <p:cNvSpPr/>
          <p:nvPr/>
        </p:nvSpPr>
        <p:spPr>
          <a:xfrm>
            <a:off x="508000" y="2819400"/>
            <a:ext cx="11176000" cy="6858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3933726-4969-8F0F-D3A0-A8C11A25D72C}"/>
              </a:ext>
            </a:extLst>
          </p:cNvPr>
          <p:cNvSpPr/>
          <p:nvPr/>
        </p:nvSpPr>
        <p:spPr>
          <a:xfrm>
            <a:off x="508000" y="3505200"/>
            <a:ext cx="11176000" cy="685800"/>
          </a:xfrm>
          <a:prstGeom prst="rect">
            <a:avLst/>
          </a:prstGeom>
          <a:solidFill>
            <a:srgbClr val="0E16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C465BDE6-881E-FDCA-FFF9-A1DB093B54A4}"/>
              </a:ext>
            </a:extLst>
          </p:cNvPr>
          <p:cNvSpPr/>
          <p:nvPr/>
        </p:nvSpPr>
        <p:spPr>
          <a:xfrm>
            <a:off x="508000" y="4191000"/>
            <a:ext cx="11176000" cy="6858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F48316F8-65BE-102E-D195-9ACA94D96FD2}"/>
              </a:ext>
            </a:extLst>
          </p:cNvPr>
          <p:cNvSpPr/>
          <p:nvPr/>
        </p:nvSpPr>
        <p:spPr>
          <a:xfrm>
            <a:off x="508000" y="4876800"/>
            <a:ext cx="11176000" cy="685800"/>
          </a:xfrm>
          <a:prstGeom prst="rect">
            <a:avLst/>
          </a:prstGeom>
          <a:solidFill>
            <a:srgbClr val="0E16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3AD2F3DD-B88D-6B57-5C2D-B7ECB23B2909}"/>
              </a:ext>
            </a:extLst>
          </p:cNvPr>
          <p:cNvSpPr/>
          <p:nvPr/>
        </p:nvSpPr>
        <p:spPr>
          <a:xfrm>
            <a:off x="508000" y="1168400"/>
            <a:ext cx="11176000" cy="4394200"/>
          </a:xfrm>
          <a:prstGeom prst="roundRect">
            <a:avLst>
              <a:gd name="adj" fmla="val 1156"/>
            </a:avLst>
          </a:prstGeom>
          <a:noFill/>
          <a:ln w="9525" cap="flat" cmpd="sng" algn="ctr">
            <a:solidFill>
              <a:srgbClr val="25314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68BFAB06-BE67-ADD9-78E3-B7FFF37D586B}"/>
              </a:ext>
            </a:extLst>
          </p:cNvPr>
          <p:cNvSpPr txBox="1"/>
          <p:nvPr/>
        </p:nvSpPr>
        <p:spPr>
          <a:xfrm>
            <a:off x="609600" y="1257300"/>
            <a:ext cx="17526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CATEGORY</a:t>
            </a:r>
          </a:p>
        </p:txBody>
      </p:sp>
      <p:sp>
        <p:nvSpPr>
          <p:cNvPr id="17" name="TextBox 16">
            <a:extLst>
              <a:ext uri="{FF2B5EF4-FFF2-40B4-BE49-F238E27FC236}">
                <a16:creationId xmlns:a16="http://schemas.microsoft.com/office/drawing/2014/main" id="{C34ED656-14AD-BB71-3E0A-06AC2DC2195A}"/>
              </a:ext>
            </a:extLst>
          </p:cNvPr>
          <p:cNvSpPr txBox="1"/>
          <p:nvPr/>
        </p:nvSpPr>
        <p:spPr>
          <a:xfrm>
            <a:off x="2514600" y="1257300"/>
            <a:ext cx="21082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EXAMPLES</a:t>
            </a:r>
          </a:p>
        </p:txBody>
      </p:sp>
      <p:sp>
        <p:nvSpPr>
          <p:cNvPr id="18" name="TextBox 17">
            <a:extLst>
              <a:ext uri="{FF2B5EF4-FFF2-40B4-BE49-F238E27FC236}">
                <a16:creationId xmlns:a16="http://schemas.microsoft.com/office/drawing/2014/main" id="{AA164985-17F7-D01B-7BC7-C407F5B5DC75}"/>
              </a:ext>
            </a:extLst>
          </p:cNvPr>
          <p:cNvSpPr txBox="1"/>
          <p:nvPr/>
        </p:nvSpPr>
        <p:spPr>
          <a:xfrm>
            <a:off x="4775200" y="1257300"/>
            <a:ext cx="25146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WHAT IT DOES WELL</a:t>
            </a:r>
          </a:p>
        </p:txBody>
      </p:sp>
      <p:sp>
        <p:nvSpPr>
          <p:cNvPr id="19" name="TextBox 18">
            <a:extLst>
              <a:ext uri="{FF2B5EF4-FFF2-40B4-BE49-F238E27FC236}">
                <a16:creationId xmlns:a16="http://schemas.microsoft.com/office/drawing/2014/main" id="{7EC52984-842E-D7CB-2CA9-9359DB8FB622}"/>
              </a:ext>
            </a:extLst>
          </p:cNvPr>
          <p:cNvSpPr txBox="1"/>
          <p:nvPr/>
        </p:nvSpPr>
        <p:spPr>
          <a:xfrm>
            <a:off x="7442200" y="1257300"/>
            <a:ext cx="41910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LIMITATION FOR THIS PROBLEM</a:t>
            </a:r>
          </a:p>
        </p:txBody>
      </p:sp>
      <p:sp>
        <p:nvSpPr>
          <p:cNvPr id="20" name="TextBox 19">
            <a:extLst>
              <a:ext uri="{FF2B5EF4-FFF2-40B4-BE49-F238E27FC236}">
                <a16:creationId xmlns:a16="http://schemas.microsoft.com/office/drawing/2014/main" id="{93C73C29-47EF-6E5F-01C8-F2874F1CF5B0}"/>
              </a:ext>
            </a:extLst>
          </p:cNvPr>
          <p:cNvSpPr txBox="1"/>
          <p:nvPr/>
        </p:nvSpPr>
        <p:spPr>
          <a:xfrm>
            <a:off x="609600" y="1485900"/>
            <a:ext cx="1727200" cy="6096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IDEs and code assistants</a:t>
            </a:r>
          </a:p>
        </p:txBody>
      </p:sp>
      <p:sp>
        <p:nvSpPr>
          <p:cNvPr id="21" name="TextBox 20">
            <a:extLst>
              <a:ext uri="{FF2B5EF4-FFF2-40B4-BE49-F238E27FC236}">
                <a16:creationId xmlns:a16="http://schemas.microsoft.com/office/drawing/2014/main" id="{2DFE9FC6-4500-B450-32FB-0D9FD63A4E1C}"/>
              </a:ext>
            </a:extLst>
          </p:cNvPr>
          <p:cNvSpPr txBox="1"/>
          <p:nvPr/>
        </p:nvSpPr>
        <p:spPr>
          <a:xfrm>
            <a:off x="2514600" y="1485900"/>
            <a:ext cx="2082800" cy="609600"/>
          </a:xfrm>
          <a:prstGeom prst="rect">
            <a:avLst/>
          </a:prstGeom>
          <a:noFill/>
        </p:spPr>
        <p:txBody>
          <a:bodyPr vert="horz" wrap="square" lIns="0" tIns="0" rIns="0" bIns="0" rtlCol="0" anchor="ctr">
            <a:noAutofit/>
          </a:bodyPr>
          <a:lstStyle/>
          <a:p>
            <a:r>
              <a:rPr lang="en-IN" sz="900">
                <a:solidFill>
                  <a:srgbClr val="B3BDCF"/>
                </a:solidFill>
                <a:latin typeface="Segoe UI" panose="020B0502040204020203" pitchFamily="34" charset="0"/>
              </a:rPr>
              <a:t>VS Code, IntelliJ IDEA, GitHub Copilot</a:t>
            </a:r>
          </a:p>
        </p:txBody>
      </p:sp>
      <p:sp>
        <p:nvSpPr>
          <p:cNvPr id="22" name="TextBox 21">
            <a:extLst>
              <a:ext uri="{FF2B5EF4-FFF2-40B4-BE49-F238E27FC236}">
                <a16:creationId xmlns:a16="http://schemas.microsoft.com/office/drawing/2014/main" id="{B3219A42-B0E8-9396-78FB-14DC11A66819}"/>
              </a:ext>
            </a:extLst>
          </p:cNvPr>
          <p:cNvSpPr txBox="1"/>
          <p:nvPr/>
        </p:nvSpPr>
        <p:spPr>
          <a:xfrm>
            <a:off x="4775200" y="1485900"/>
            <a:ext cx="2489200" cy="609600"/>
          </a:xfrm>
          <a:prstGeom prst="rect">
            <a:avLst/>
          </a:prstGeom>
          <a:noFill/>
        </p:spPr>
        <p:txBody>
          <a:bodyPr vert="horz" wrap="square" lIns="0" tIns="0" rIns="0" bIns="0" rtlCol="0" anchor="ctr">
            <a:noAutofit/>
          </a:bodyPr>
          <a:lstStyle/>
          <a:p>
            <a:r>
              <a:rPr lang="en-IN" sz="900">
                <a:solidFill>
                  <a:srgbClr val="B3BDCF"/>
                </a:solidFill>
                <a:latin typeface="Segoe UI" panose="020B0502040204020203" pitchFamily="34" charset="0"/>
              </a:rPr>
              <a:t>Editing, completion, local navigation.</a:t>
            </a:r>
          </a:p>
        </p:txBody>
      </p:sp>
      <p:sp>
        <p:nvSpPr>
          <p:cNvPr id="23" name="TextBox 22">
            <a:extLst>
              <a:ext uri="{FF2B5EF4-FFF2-40B4-BE49-F238E27FC236}">
                <a16:creationId xmlns:a16="http://schemas.microsoft.com/office/drawing/2014/main" id="{531C5015-E483-DA8B-4859-5E65D57A1BB6}"/>
              </a:ext>
            </a:extLst>
          </p:cNvPr>
          <p:cNvSpPr txBox="1"/>
          <p:nvPr/>
        </p:nvSpPr>
        <p:spPr>
          <a:xfrm>
            <a:off x="7442200" y="1485900"/>
            <a:ext cx="4165600" cy="609600"/>
          </a:xfrm>
          <a:prstGeom prst="rect">
            <a:avLst/>
          </a:prstGeom>
          <a:noFill/>
        </p:spPr>
        <p:txBody>
          <a:bodyPr vert="horz" wrap="square" lIns="0" tIns="0" rIns="0" bIns="0" rtlCol="0" anchor="ctr">
            <a:noAutofit/>
          </a:bodyPr>
          <a:lstStyle/>
          <a:p>
            <a:r>
              <a:rPr lang="en-US" sz="900">
                <a:solidFill>
                  <a:srgbClr val="B3BDCF"/>
                </a:solidFill>
                <a:latin typeface="Segoe UI" panose="020B0502040204020203" pitchFamily="34" charset="0"/>
              </a:rPr>
              <a:t>Context is mostly the open workspace and session; not tied to requirements or to organisation-level access rules.</a:t>
            </a:r>
            <a:endParaRPr lang="en-IN" sz="900">
              <a:solidFill>
                <a:srgbClr val="B3BDCF"/>
              </a:solidFill>
              <a:latin typeface="Segoe UI" panose="020B0502040204020203" pitchFamily="34" charset="0"/>
            </a:endParaRPr>
          </a:p>
        </p:txBody>
      </p:sp>
      <p:cxnSp>
        <p:nvCxnSpPr>
          <p:cNvPr id="24" name="Straight Connector 23">
            <a:extLst>
              <a:ext uri="{FF2B5EF4-FFF2-40B4-BE49-F238E27FC236}">
                <a16:creationId xmlns:a16="http://schemas.microsoft.com/office/drawing/2014/main" id="{7B6B1BB0-1D9C-6F6E-2A52-755BE142F24E}"/>
              </a:ext>
            </a:extLst>
          </p:cNvPr>
          <p:cNvCxnSpPr/>
          <p:nvPr/>
        </p:nvCxnSpPr>
        <p:spPr>
          <a:xfrm>
            <a:off x="508000" y="2133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CFFC15C-B66C-B8AE-6F1F-BA650C871525}"/>
              </a:ext>
            </a:extLst>
          </p:cNvPr>
          <p:cNvSpPr txBox="1"/>
          <p:nvPr/>
        </p:nvSpPr>
        <p:spPr>
          <a:xfrm>
            <a:off x="609600" y="2171700"/>
            <a:ext cx="1727200" cy="6096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Repository hosting</a:t>
            </a:r>
          </a:p>
        </p:txBody>
      </p:sp>
      <p:sp>
        <p:nvSpPr>
          <p:cNvPr id="26" name="TextBox 25">
            <a:extLst>
              <a:ext uri="{FF2B5EF4-FFF2-40B4-BE49-F238E27FC236}">
                <a16:creationId xmlns:a16="http://schemas.microsoft.com/office/drawing/2014/main" id="{FC6BC96A-9389-434C-BF83-D2FFBA9D40B7}"/>
              </a:ext>
            </a:extLst>
          </p:cNvPr>
          <p:cNvSpPr txBox="1"/>
          <p:nvPr/>
        </p:nvSpPr>
        <p:spPr>
          <a:xfrm>
            <a:off x="2514600" y="2171700"/>
            <a:ext cx="2082800" cy="609600"/>
          </a:xfrm>
          <a:prstGeom prst="rect">
            <a:avLst/>
          </a:prstGeom>
          <a:noFill/>
        </p:spPr>
        <p:txBody>
          <a:bodyPr vert="horz" wrap="square" lIns="0" tIns="0" rIns="0" bIns="0" rtlCol="0" anchor="ctr">
            <a:noAutofit/>
          </a:bodyPr>
          <a:lstStyle/>
          <a:p>
            <a:r>
              <a:rPr lang="en-IN" sz="900">
                <a:solidFill>
                  <a:srgbClr val="B3BDCF"/>
                </a:solidFill>
                <a:latin typeface="Segoe UI" panose="020B0502040204020203" pitchFamily="34" charset="0"/>
              </a:rPr>
              <a:t>GitHub, GitLab, Bitbucket</a:t>
            </a:r>
          </a:p>
        </p:txBody>
      </p:sp>
      <p:sp>
        <p:nvSpPr>
          <p:cNvPr id="27" name="TextBox 26">
            <a:extLst>
              <a:ext uri="{FF2B5EF4-FFF2-40B4-BE49-F238E27FC236}">
                <a16:creationId xmlns:a16="http://schemas.microsoft.com/office/drawing/2014/main" id="{6A8FB6F9-5B21-1258-D453-F1E9700894CB}"/>
              </a:ext>
            </a:extLst>
          </p:cNvPr>
          <p:cNvSpPr txBox="1"/>
          <p:nvPr/>
        </p:nvSpPr>
        <p:spPr>
          <a:xfrm>
            <a:off x="4775200" y="2171700"/>
            <a:ext cx="2489200" cy="609600"/>
          </a:xfrm>
          <a:prstGeom prst="rect">
            <a:avLst/>
          </a:prstGeom>
          <a:noFill/>
        </p:spPr>
        <p:txBody>
          <a:bodyPr vert="horz" wrap="square" lIns="0" tIns="0" rIns="0" bIns="0" rtlCol="0" anchor="ctr">
            <a:noAutofit/>
          </a:bodyPr>
          <a:lstStyle/>
          <a:p>
            <a:r>
              <a:rPr lang="en-US" sz="900">
                <a:solidFill>
                  <a:srgbClr val="B3BDCF"/>
                </a:solidFill>
                <a:latin typeface="Segoe UI" panose="020B0502040204020203" pitchFamily="34" charset="0"/>
              </a:rPr>
              <a:t>Version control, pull requests, code search.</a:t>
            </a:r>
            <a:endParaRPr lang="en-IN" sz="900">
              <a:solidFill>
                <a:srgbClr val="B3BDCF"/>
              </a:solidFill>
              <a:latin typeface="Segoe UI" panose="020B0502040204020203" pitchFamily="34" charset="0"/>
            </a:endParaRPr>
          </a:p>
        </p:txBody>
      </p:sp>
      <p:sp>
        <p:nvSpPr>
          <p:cNvPr id="28" name="TextBox 27">
            <a:extLst>
              <a:ext uri="{FF2B5EF4-FFF2-40B4-BE49-F238E27FC236}">
                <a16:creationId xmlns:a16="http://schemas.microsoft.com/office/drawing/2014/main" id="{4CF74E98-F689-C7DB-938C-44200D3AD70E}"/>
              </a:ext>
            </a:extLst>
          </p:cNvPr>
          <p:cNvSpPr txBox="1"/>
          <p:nvPr/>
        </p:nvSpPr>
        <p:spPr>
          <a:xfrm>
            <a:off x="7442200" y="2171700"/>
            <a:ext cx="4165600" cy="609600"/>
          </a:xfrm>
          <a:prstGeom prst="rect">
            <a:avLst/>
          </a:prstGeom>
          <a:noFill/>
        </p:spPr>
        <p:txBody>
          <a:bodyPr vert="horz" wrap="square" lIns="0" tIns="0" rIns="0" bIns="0" rtlCol="0" anchor="ctr">
            <a:noAutofit/>
          </a:bodyPr>
          <a:lstStyle/>
          <a:p>
            <a:r>
              <a:rPr lang="en-US" sz="900">
                <a:solidFill>
                  <a:srgbClr val="B3BDCF"/>
                </a:solidFill>
                <a:latin typeface="Segoe UI" panose="020B0502040204020203" pitchFamily="34" charset="0"/>
              </a:rPr>
              <a:t>Code-centric; requirement-to-code traceability depends on manual linking conventions; no structural risk signal.</a:t>
            </a:r>
            <a:endParaRPr lang="en-IN" sz="900">
              <a:solidFill>
                <a:srgbClr val="B3BDCF"/>
              </a:solidFill>
              <a:latin typeface="Segoe UI" panose="020B0502040204020203" pitchFamily="34" charset="0"/>
            </a:endParaRPr>
          </a:p>
        </p:txBody>
      </p:sp>
      <p:cxnSp>
        <p:nvCxnSpPr>
          <p:cNvPr id="29" name="Straight Connector 28">
            <a:extLst>
              <a:ext uri="{FF2B5EF4-FFF2-40B4-BE49-F238E27FC236}">
                <a16:creationId xmlns:a16="http://schemas.microsoft.com/office/drawing/2014/main" id="{006A4250-4DC2-44F7-61DA-59D47D9641BF}"/>
              </a:ext>
            </a:extLst>
          </p:cNvPr>
          <p:cNvCxnSpPr/>
          <p:nvPr/>
        </p:nvCxnSpPr>
        <p:spPr>
          <a:xfrm>
            <a:off x="508000" y="28194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A39EE0A-2E35-4BBE-B336-3C6CC6F5C521}"/>
              </a:ext>
            </a:extLst>
          </p:cNvPr>
          <p:cNvSpPr txBox="1"/>
          <p:nvPr/>
        </p:nvSpPr>
        <p:spPr>
          <a:xfrm>
            <a:off x="609600" y="2857500"/>
            <a:ext cx="1727200" cy="6096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Issue trackers</a:t>
            </a:r>
          </a:p>
        </p:txBody>
      </p:sp>
      <p:sp>
        <p:nvSpPr>
          <p:cNvPr id="31" name="TextBox 30">
            <a:extLst>
              <a:ext uri="{FF2B5EF4-FFF2-40B4-BE49-F238E27FC236}">
                <a16:creationId xmlns:a16="http://schemas.microsoft.com/office/drawing/2014/main" id="{541441A1-80FF-F60C-D08F-F6967BAAA60B}"/>
              </a:ext>
            </a:extLst>
          </p:cNvPr>
          <p:cNvSpPr txBox="1"/>
          <p:nvPr/>
        </p:nvSpPr>
        <p:spPr>
          <a:xfrm>
            <a:off x="2514600" y="2857500"/>
            <a:ext cx="2082800" cy="609600"/>
          </a:xfrm>
          <a:prstGeom prst="rect">
            <a:avLst/>
          </a:prstGeom>
          <a:noFill/>
        </p:spPr>
        <p:txBody>
          <a:bodyPr vert="horz" wrap="square" lIns="0" tIns="0" rIns="0" bIns="0" rtlCol="0" anchor="ctr">
            <a:noAutofit/>
          </a:bodyPr>
          <a:lstStyle/>
          <a:p>
            <a:r>
              <a:rPr lang="en-IN" sz="900">
                <a:solidFill>
                  <a:srgbClr val="B3BDCF"/>
                </a:solidFill>
                <a:latin typeface="Segoe UI" panose="020B0502040204020203" pitchFamily="34" charset="0"/>
              </a:rPr>
              <a:t>Jira, Azure Boards</a:t>
            </a:r>
          </a:p>
        </p:txBody>
      </p:sp>
      <p:sp>
        <p:nvSpPr>
          <p:cNvPr id="32" name="TextBox 31">
            <a:extLst>
              <a:ext uri="{FF2B5EF4-FFF2-40B4-BE49-F238E27FC236}">
                <a16:creationId xmlns:a16="http://schemas.microsoft.com/office/drawing/2014/main" id="{332B26B7-75BD-D946-AE8C-C9269AFB59C5}"/>
              </a:ext>
            </a:extLst>
          </p:cNvPr>
          <p:cNvSpPr txBox="1"/>
          <p:nvPr/>
        </p:nvSpPr>
        <p:spPr>
          <a:xfrm>
            <a:off x="4775200" y="2857500"/>
            <a:ext cx="2489200" cy="609600"/>
          </a:xfrm>
          <a:prstGeom prst="rect">
            <a:avLst/>
          </a:prstGeom>
          <a:noFill/>
        </p:spPr>
        <p:txBody>
          <a:bodyPr vert="horz" wrap="square" lIns="0" tIns="0" rIns="0" bIns="0" rtlCol="0" anchor="ctr">
            <a:noAutofit/>
          </a:bodyPr>
          <a:lstStyle/>
          <a:p>
            <a:r>
              <a:rPr lang="en-IN" sz="900">
                <a:solidFill>
                  <a:srgbClr val="B3BDCF"/>
                </a:solidFill>
                <a:latin typeface="Segoe UI" panose="020B0502040204020203" pitchFamily="34" charset="0"/>
              </a:rPr>
              <a:t>Planning, workflows, reporting.</a:t>
            </a:r>
          </a:p>
        </p:txBody>
      </p:sp>
      <p:sp>
        <p:nvSpPr>
          <p:cNvPr id="33" name="TextBox 32">
            <a:extLst>
              <a:ext uri="{FF2B5EF4-FFF2-40B4-BE49-F238E27FC236}">
                <a16:creationId xmlns:a16="http://schemas.microsoft.com/office/drawing/2014/main" id="{6B2CB70C-8B8E-2E8A-B0BD-CC02264AFFE8}"/>
              </a:ext>
            </a:extLst>
          </p:cNvPr>
          <p:cNvSpPr txBox="1"/>
          <p:nvPr/>
        </p:nvSpPr>
        <p:spPr>
          <a:xfrm>
            <a:off x="7442200" y="2857500"/>
            <a:ext cx="4165600" cy="609600"/>
          </a:xfrm>
          <a:prstGeom prst="rect">
            <a:avLst/>
          </a:prstGeom>
          <a:noFill/>
        </p:spPr>
        <p:txBody>
          <a:bodyPr vert="horz" wrap="square" lIns="0" tIns="0" rIns="0" bIns="0" rtlCol="0" anchor="ctr">
            <a:noAutofit/>
          </a:bodyPr>
          <a:lstStyle/>
          <a:p>
            <a:r>
              <a:rPr lang="en-US" sz="900">
                <a:solidFill>
                  <a:srgbClr val="B3BDCF"/>
                </a:solidFill>
                <a:latin typeface="Segoe UI" panose="020B0502040204020203" pitchFamily="34" charset="0"/>
              </a:rPr>
              <a:t>Track work items but do not understand the code that implements them.</a:t>
            </a:r>
            <a:endParaRPr lang="en-IN" sz="900">
              <a:solidFill>
                <a:srgbClr val="B3BDCF"/>
              </a:solidFill>
              <a:latin typeface="Segoe UI" panose="020B0502040204020203" pitchFamily="34" charset="0"/>
            </a:endParaRPr>
          </a:p>
        </p:txBody>
      </p:sp>
      <p:cxnSp>
        <p:nvCxnSpPr>
          <p:cNvPr id="34" name="Straight Connector 33">
            <a:extLst>
              <a:ext uri="{FF2B5EF4-FFF2-40B4-BE49-F238E27FC236}">
                <a16:creationId xmlns:a16="http://schemas.microsoft.com/office/drawing/2014/main" id="{2C6762E7-D3B0-B554-9C43-664A2D188494}"/>
              </a:ext>
            </a:extLst>
          </p:cNvPr>
          <p:cNvCxnSpPr/>
          <p:nvPr/>
        </p:nvCxnSpPr>
        <p:spPr>
          <a:xfrm>
            <a:off x="508000" y="35052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C30F37C-51D1-79F9-CAF4-E4FD66E5BCEE}"/>
              </a:ext>
            </a:extLst>
          </p:cNvPr>
          <p:cNvSpPr txBox="1"/>
          <p:nvPr/>
        </p:nvSpPr>
        <p:spPr>
          <a:xfrm>
            <a:off x="609600" y="3543300"/>
            <a:ext cx="1727200" cy="6096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General AI assistants</a:t>
            </a:r>
          </a:p>
        </p:txBody>
      </p:sp>
      <p:sp>
        <p:nvSpPr>
          <p:cNvPr id="36" name="TextBox 35">
            <a:extLst>
              <a:ext uri="{FF2B5EF4-FFF2-40B4-BE49-F238E27FC236}">
                <a16:creationId xmlns:a16="http://schemas.microsoft.com/office/drawing/2014/main" id="{31DEFB89-8ED9-4883-1F05-5037A0599339}"/>
              </a:ext>
            </a:extLst>
          </p:cNvPr>
          <p:cNvSpPr txBox="1"/>
          <p:nvPr/>
        </p:nvSpPr>
        <p:spPr>
          <a:xfrm>
            <a:off x="2514600" y="3543300"/>
            <a:ext cx="2082800" cy="609600"/>
          </a:xfrm>
          <a:prstGeom prst="rect">
            <a:avLst/>
          </a:prstGeom>
          <a:noFill/>
        </p:spPr>
        <p:txBody>
          <a:bodyPr vert="horz" wrap="square" lIns="0" tIns="0" rIns="0" bIns="0" rtlCol="0" anchor="ctr">
            <a:noAutofit/>
          </a:bodyPr>
          <a:lstStyle/>
          <a:p>
            <a:r>
              <a:rPr lang="en-IN" sz="900">
                <a:solidFill>
                  <a:srgbClr val="B3BDCF"/>
                </a:solidFill>
                <a:latin typeface="Segoe UI" panose="020B0502040204020203" pitchFamily="34" charset="0"/>
              </a:rPr>
              <a:t>ChatGPT, Claude, Gemini</a:t>
            </a:r>
          </a:p>
        </p:txBody>
      </p:sp>
      <p:sp>
        <p:nvSpPr>
          <p:cNvPr id="37" name="TextBox 36">
            <a:extLst>
              <a:ext uri="{FF2B5EF4-FFF2-40B4-BE49-F238E27FC236}">
                <a16:creationId xmlns:a16="http://schemas.microsoft.com/office/drawing/2014/main" id="{92C135F0-D52F-2325-AE08-4E22A8820B8C}"/>
              </a:ext>
            </a:extLst>
          </p:cNvPr>
          <p:cNvSpPr txBox="1"/>
          <p:nvPr/>
        </p:nvSpPr>
        <p:spPr>
          <a:xfrm>
            <a:off x="4775200" y="3543300"/>
            <a:ext cx="2489200" cy="609600"/>
          </a:xfrm>
          <a:prstGeom prst="rect">
            <a:avLst/>
          </a:prstGeom>
          <a:noFill/>
        </p:spPr>
        <p:txBody>
          <a:bodyPr vert="horz" wrap="square" lIns="0" tIns="0" rIns="0" bIns="0" rtlCol="0" anchor="ctr">
            <a:noAutofit/>
          </a:bodyPr>
          <a:lstStyle/>
          <a:p>
            <a:r>
              <a:rPr lang="en-IN" sz="900">
                <a:solidFill>
                  <a:srgbClr val="B3BDCF"/>
                </a:solidFill>
                <a:latin typeface="Segoe UI" panose="020B0502040204020203" pitchFamily="34" charset="0"/>
              </a:rPr>
              <a:t>Reasoning, explanation, drafting.</a:t>
            </a:r>
          </a:p>
        </p:txBody>
      </p:sp>
      <p:sp>
        <p:nvSpPr>
          <p:cNvPr id="38" name="TextBox 37">
            <a:extLst>
              <a:ext uri="{FF2B5EF4-FFF2-40B4-BE49-F238E27FC236}">
                <a16:creationId xmlns:a16="http://schemas.microsoft.com/office/drawing/2014/main" id="{E5A7405E-134A-0443-CD3C-130116C92EFA}"/>
              </a:ext>
            </a:extLst>
          </p:cNvPr>
          <p:cNvSpPr txBox="1"/>
          <p:nvPr/>
        </p:nvSpPr>
        <p:spPr>
          <a:xfrm>
            <a:off x="7442200" y="3543300"/>
            <a:ext cx="4165600" cy="609600"/>
          </a:xfrm>
          <a:prstGeom prst="rect">
            <a:avLst/>
          </a:prstGeom>
          <a:noFill/>
        </p:spPr>
        <p:txBody>
          <a:bodyPr vert="horz" wrap="square" lIns="0" tIns="0" rIns="0" bIns="0" rtlCol="0" anchor="ctr">
            <a:noAutofit/>
          </a:bodyPr>
          <a:lstStyle/>
          <a:p>
            <a:r>
              <a:rPr lang="en-US" sz="900">
                <a:solidFill>
                  <a:srgbClr val="B3BDCF"/>
                </a:solidFill>
                <a:latin typeface="Segoe UI" panose="020B0502040204020203" pitchFamily="34" charset="0"/>
              </a:rPr>
              <a:t>Each conversation starts from pasted fragments; no persistent, access-controlled project context.</a:t>
            </a:r>
            <a:endParaRPr lang="en-IN" sz="900">
              <a:solidFill>
                <a:srgbClr val="B3BDCF"/>
              </a:solidFill>
              <a:latin typeface="Segoe UI" panose="020B0502040204020203" pitchFamily="34" charset="0"/>
            </a:endParaRPr>
          </a:p>
        </p:txBody>
      </p:sp>
      <p:cxnSp>
        <p:nvCxnSpPr>
          <p:cNvPr id="39" name="Straight Connector 38">
            <a:extLst>
              <a:ext uri="{FF2B5EF4-FFF2-40B4-BE49-F238E27FC236}">
                <a16:creationId xmlns:a16="http://schemas.microsoft.com/office/drawing/2014/main" id="{01FA08AF-BF69-8D09-5B2B-EB96DDCB3EA1}"/>
              </a:ext>
            </a:extLst>
          </p:cNvPr>
          <p:cNvCxnSpPr/>
          <p:nvPr/>
        </p:nvCxnSpPr>
        <p:spPr>
          <a:xfrm>
            <a:off x="508000" y="41910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805262B3-E4B8-C658-1B7D-0AAF47E03C56}"/>
              </a:ext>
            </a:extLst>
          </p:cNvPr>
          <p:cNvSpPr txBox="1"/>
          <p:nvPr/>
        </p:nvSpPr>
        <p:spPr>
          <a:xfrm>
            <a:off x="609600" y="4229100"/>
            <a:ext cx="1727200" cy="6096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Repository-level AI research</a:t>
            </a:r>
          </a:p>
        </p:txBody>
      </p:sp>
      <p:sp>
        <p:nvSpPr>
          <p:cNvPr id="41" name="TextBox 40">
            <a:extLst>
              <a:ext uri="{FF2B5EF4-FFF2-40B4-BE49-F238E27FC236}">
                <a16:creationId xmlns:a16="http://schemas.microsoft.com/office/drawing/2014/main" id="{D9CABD88-7A63-F56E-F187-5D29CDEAB1AC}"/>
              </a:ext>
            </a:extLst>
          </p:cNvPr>
          <p:cNvSpPr txBox="1"/>
          <p:nvPr/>
        </p:nvSpPr>
        <p:spPr>
          <a:xfrm>
            <a:off x="2514600" y="4229100"/>
            <a:ext cx="2082800" cy="609600"/>
          </a:xfrm>
          <a:prstGeom prst="rect">
            <a:avLst/>
          </a:prstGeom>
          <a:noFill/>
        </p:spPr>
        <p:txBody>
          <a:bodyPr vert="horz" wrap="square" lIns="0" tIns="0" rIns="0" bIns="0" rtlCol="0" anchor="ctr">
            <a:noAutofit/>
          </a:bodyPr>
          <a:lstStyle/>
          <a:p>
            <a:r>
              <a:rPr lang="en-US" sz="900">
                <a:solidFill>
                  <a:srgbClr val="B3BDCF"/>
                </a:solidFill>
                <a:latin typeface="Segoe UI" panose="020B0502040204020203" pitchFamily="34" charset="0"/>
              </a:rPr>
              <a:t>RepoGraph [1], CGM [2], CodePlan [3], SWE-agent [8]</a:t>
            </a:r>
            <a:endParaRPr lang="en-IN" sz="900">
              <a:solidFill>
                <a:srgbClr val="B3BDCF"/>
              </a:solidFill>
              <a:latin typeface="Segoe UI" panose="020B0502040204020203" pitchFamily="34" charset="0"/>
            </a:endParaRPr>
          </a:p>
        </p:txBody>
      </p:sp>
      <p:sp>
        <p:nvSpPr>
          <p:cNvPr id="42" name="TextBox 41">
            <a:extLst>
              <a:ext uri="{FF2B5EF4-FFF2-40B4-BE49-F238E27FC236}">
                <a16:creationId xmlns:a16="http://schemas.microsoft.com/office/drawing/2014/main" id="{EBF35475-E0EE-8CDE-CE5A-9071121286B6}"/>
              </a:ext>
            </a:extLst>
          </p:cNvPr>
          <p:cNvSpPr txBox="1"/>
          <p:nvPr/>
        </p:nvSpPr>
        <p:spPr>
          <a:xfrm>
            <a:off x="4775200" y="4229100"/>
            <a:ext cx="2489200" cy="609600"/>
          </a:xfrm>
          <a:prstGeom prst="rect">
            <a:avLst/>
          </a:prstGeom>
          <a:noFill/>
        </p:spPr>
        <p:txBody>
          <a:bodyPr vert="horz" wrap="square" lIns="0" tIns="0" rIns="0" bIns="0" rtlCol="0" anchor="ctr">
            <a:noAutofit/>
          </a:bodyPr>
          <a:lstStyle/>
          <a:p>
            <a:r>
              <a:rPr lang="en-US" sz="900">
                <a:solidFill>
                  <a:srgbClr val="B3BDCF"/>
                </a:solidFill>
                <a:latin typeface="Segoe UI" panose="020B0502040204020203" pitchFamily="34" charset="0"/>
              </a:rPr>
              <a:t>Code graphs, planning, issue resolution on benchmarks.</a:t>
            </a:r>
            <a:endParaRPr lang="en-IN" sz="900">
              <a:solidFill>
                <a:srgbClr val="B3BDCF"/>
              </a:solidFill>
              <a:latin typeface="Segoe UI" panose="020B0502040204020203" pitchFamily="34" charset="0"/>
            </a:endParaRPr>
          </a:p>
        </p:txBody>
      </p:sp>
      <p:sp>
        <p:nvSpPr>
          <p:cNvPr id="43" name="TextBox 42">
            <a:extLst>
              <a:ext uri="{FF2B5EF4-FFF2-40B4-BE49-F238E27FC236}">
                <a16:creationId xmlns:a16="http://schemas.microsoft.com/office/drawing/2014/main" id="{C68EE9C5-F86E-DDE0-7D9B-E440F93B3321}"/>
              </a:ext>
            </a:extLst>
          </p:cNvPr>
          <p:cNvSpPr txBox="1"/>
          <p:nvPr/>
        </p:nvSpPr>
        <p:spPr>
          <a:xfrm>
            <a:off x="7442200" y="4229100"/>
            <a:ext cx="4165600" cy="609600"/>
          </a:xfrm>
          <a:prstGeom prst="rect">
            <a:avLst/>
          </a:prstGeom>
          <a:noFill/>
        </p:spPr>
        <p:txBody>
          <a:bodyPr vert="horz" wrap="square" lIns="0" tIns="0" rIns="0" bIns="0" rtlCol="0" anchor="ctr">
            <a:noAutofit/>
          </a:bodyPr>
          <a:lstStyle/>
          <a:p>
            <a:r>
              <a:rPr lang="en-US" sz="900">
                <a:solidFill>
                  <a:srgbClr val="B3BDCF"/>
                </a:solidFill>
                <a:latin typeface="Segoe UI" panose="020B0502040204020203" pitchFamily="34" charset="0"/>
              </a:rPr>
              <a:t>Evaluated as standalone methods; no multi-tenant access control or requirement context.</a:t>
            </a:r>
            <a:endParaRPr lang="en-IN" sz="900">
              <a:solidFill>
                <a:srgbClr val="B3BDCF"/>
              </a:solidFill>
              <a:latin typeface="Segoe UI" panose="020B0502040204020203" pitchFamily="34" charset="0"/>
            </a:endParaRPr>
          </a:p>
        </p:txBody>
      </p:sp>
      <p:cxnSp>
        <p:nvCxnSpPr>
          <p:cNvPr id="44" name="Straight Connector 43">
            <a:extLst>
              <a:ext uri="{FF2B5EF4-FFF2-40B4-BE49-F238E27FC236}">
                <a16:creationId xmlns:a16="http://schemas.microsoft.com/office/drawing/2014/main" id="{E879FF53-E019-A5F4-9FBA-5724B053A3CD}"/>
              </a:ext>
            </a:extLst>
          </p:cNvPr>
          <p:cNvCxnSpPr/>
          <p:nvPr/>
        </p:nvCxnSpPr>
        <p:spPr>
          <a:xfrm>
            <a:off x="508000" y="48768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D7F25BD-AE11-5DA7-01AC-8162ED60B02C}"/>
              </a:ext>
            </a:extLst>
          </p:cNvPr>
          <p:cNvSpPr txBox="1"/>
          <p:nvPr/>
        </p:nvSpPr>
        <p:spPr>
          <a:xfrm>
            <a:off x="609600" y="4914900"/>
            <a:ext cx="1727200" cy="6096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Defect-prediction research</a:t>
            </a:r>
          </a:p>
        </p:txBody>
      </p:sp>
      <p:sp>
        <p:nvSpPr>
          <p:cNvPr id="46" name="TextBox 45">
            <a:extLst>
              <a:ext uri="{FF2B5EF4-FFF2-40B4-BE49-F238E27FC236}">
                <a16:creationId xmlns:a16="http://schemas.microsoft.com/office/drawing/2014/main" id="{A03D3F80-4865-3FA6-21B4-650910C1090F}"/>
              </a:ext>
            </a:extLst>
          </p:cNvPr>
          <p:cNvSpPr txBox="1"/>
          <p:nvPr/>
        </p:nvSpPr>
        <p:spPr>
          <a:xfrm>
            <a:off x="2514600" y="4914900"/>
            <a:ext cx="2082800" cy="609600"/>
          </a:xfrm>
          <a:prstGeom prst="rect">
            <a:avLst/>
          </a:prstGeom>
          <a:noFill/>
        </p:spPr>
        <p:txBody>
          <a:bodyPr vert="horz" wrap="square" lIns="0" tIns="0" rIns="0" bIns="0" rtlCol="0" anchor="ctr">
            <a:noAutofit/>
          </a:bodyPr>
          <a:lstStyle/>
          <a:p>
            <a:r>
              <a:rPr lang="en-IN" sz="900">
                <a:solidFill>
                  <a:srgbClr val="B3BDCF"/>
                </a:solidFill>
                <a:latin typeface="Segoe UI" panose="020B0502040204020203" pitchFamily="34" charset="0"/>
              </a:rPr>
              <a:t>JIT-BiCC [4], FoX [5], Kamei et al. [12]</a:t>
            </a:r>
          </a:p>
        </p:txBody>
      </p:sp>
      <p:sp>
        <p:nvSpPr>
          <p:cNvPr id="47" name="TextBox 46">
            <a:extLst>
              <a:ext uri="{FF2B5EF4-FFF2-40B4-BE49-F238E27FC236}">
                <a16:creationId xmlns:a16="http://schemas.microsoft.com/office/drawing/2014/main" id="{984E3E4C-F2C9-B21D-D08F-A468F809964E}"/>
              </a:ext>
            </a:extLst>
          </p:cNvPr>
          <p:cNvSpPr txBox="1"/>
          <p:nvPr/>
        </p:nvSpPr>
        <p:spPr>
          <a:xfrm>
            <a:off x="4775200" y="4914900"/>
            <a:ext cx="2489200" cy="609600"/>
          </a:xfrm>
          <a:prstGeom prst="rect">
            <a:avLst/>
          </a:prstGeom>
          <a:noFill/>
        </p:spPr>
        <p:txBody>
          <a:bodyPr vert="horz" wrap="square" lIns="0" tIns="0" rIns="0" bIns="0" rtlCol="0" anchor="ctr">
            <a:noAutofit/>
          </a:bodyPr>
          <a:lstStyle/>
          <a:p>
            <a:r>
              <a:rPr lang="en-IN" sz="900">
                <a:solidFill>
                  <a:srgbClr val="B3BDCF"/>
                </a:solidFill>
                <a:latin typeface="Segoe UI" panose="020B0502040204020203" pitchFamily="34" charset="0"/>
              </a:rPr>
              <a:t>Commit-level risk, formal explanations.</a:t>
            </a:r>
          </a:p>
        </p:txBody>
      </p:sp>
      <p:sp>
        <p:nvSpPr>
          <p:cNvPr id="48" name="TextBox 47">
            <a:extLst>
              <a:ext uri="{FF2B5EF4-FFF2-40B4-BE49-F238E27FC236}">
                <a16:creationId xmlns:a16="http://schemas.microsoft.com/office/drawing/2014/main" id="{B2354282-B722-261E-7777-7233BB8C68C4}"/>
              </a:ext>
            </a:extLst>
          </p:cNvPr>
          <p:cNvSpPr txBox="1"/>
          <p:nvPr/>
        </p:nvSpPr>
        <p:spPr>
          <a:xfrm>
            <a:off x="7442200" y="4914900"/>
            <a:ext cx="4165600" cy="609600"/>
          </a:xfrm>
          <a:prstGeom prst="rect">
            <a:avLst/>
          </a:prstGeom>
          <a:noFill/>
        </p:spPr>
        <p:txBody>
          <a:bodyPr vert="horz" wrap="square" lIns="0" tIns="0" rIns="0" bIns="0" rtlCol="0" anchor="ctr">
            <a:noAutofit/>
          </a:bodyPr>
          <a:lstStyle/>
          <a:p>
            <a:r>
              <a:rPr lang="en-US" sz="900">
                <a:solidFill>
                  <a:srgbClr val="B3BDCF"/>
                </a:solidFill>
                <a:latin typeface="Segoe UI" panose="020B0502040204020203" pitchFamily="34" charset="0"/>
              </a:rPr>
              <a:t>Standalone models; not part of a team's day-to-day engineering workspace.</a:t>
            </a:r>
            <a:endParaRPr lang="en-IN" sz="900">
              <a:solidFill>
                <a:srgbClr val="B3BDCF"/>
              </a:solidFill>
              <a:latin typeface="Segoe UI" panose="020B0502040204020203" pitchFamily="34" charset="0"/>
            </a:endParaRPr>
          </a:p>
        </p:txBody>
      </p:sp>
      <p:sp>
        <p:nvSpPr>
          <p:cNvPr id="49" name="Rectangle: Rounded Corners 48">
            <a:extLst>
              <a:ext uri="{FF2B5EF4-FFF2-40B4-BE49-F238E27FC236}">
                <a16:creationId xmlns:a16="http://schemas.microsoft.com/office/drawing/2014/main" id="{86C6689B-63D9-0E97-F3FC-F76632BA02D0}"/>
              </a:ext>
            </a:extLst>
          </p:cNvPr>
          <p:cNvSpPr/>
          <p:nvPr/>
        </p:nvSpPr>
        <p:spPr>
          <a:xfrm>
            <a:off x="508000" y="5715000"/>
            <a:ext cx="11176000" cy="558800"/>
          </a:xfrm>
          <a:prstGeom prst="roundRect">
            <a:avLst>
              <a:gd name="adj" fmla="val 13636"/>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DFD74EEA-4211-204D-6230-FAE1A7EED04F}"/>
              </a:ext>
            </a:extLst>
          </p:cNvPr>
          <p:cNvSpPr txBox="1"/>
          <p:nvPr/>
        </p:nvSpPr>
        <p:spPr>
          <a:xfrm>
            <a:off x="711200" y="5715000"/>
            <a:ext cx="10795000" cy="558800"/>
          </a:xfrm>
          <a:prstGeom prst="rect">
            <a:avLst/>
          </a:prstGeom>
          <a:noFill/>
        </p:spPr>
        <p:txBody>
          <a:bodyPr vert="horz" wrap="square" lIns="0" tIns="0" rIns="0" bIns="0" rtlCol="0" anchor="ctr">
            <a:noAutofit/>
          </a:bodyPr>
          <a:lstStyle/>
          <a:p>
            <a:r>
              <a:rPr lang="en-US" sz="1050">
                <a:solidFill>
                  <a:srgbClr val="F1F4F9"/>
                </a:solidFill>
                <a:latin typeface="Segoe UI Semibold" panose="020B0702040204020203" pitchFamily="34" charset="0"/>
              </a:rPr>
              <a:t>Inference: no existing tool maintains a project-scoped, access-controlled context that links work items, code structure and change risk.</a:t>
            </a:r>
            <a:endParaRPr lang="en-IN" sz="1050">
              <a:solidFill>
                <a:srgbClr val="F1F4F9"/>
              </a:solidFill>
              <a:latin typeface="Segoe UI Semibold" panose="020B0702040204020203" pitchFamily="34" charset="0"/>
            </a:endParaRPr>
          </a:p>
        </p:txBody>
      </p:sp>
    </p:spTree>
    <p:extLst>
      <p:ext uri="{BB962C8B-B14F-4D97-AF65-F5344CB8AC3E}">
        <p14:creationId xmlns:p14="http://schemas.microsoft.com/office/powerpoint/2010/main" val="1080584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BE353C-0CB5-2AC5-169D-658105E4073A}"/>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06  ·  LITERATURE REVIEW (1/2)</a:t>
            </a:r>
          </a:p>
        </p:txBody>
      </p:sp>
      <p:sp>
        <p:nvSpPr>
          <p:cNvPr id="3" name="TextBox 2">
            <a:extLst>
              <a:ext uri="{FF2B5EF4-FFF2-40B4-BE49-F238E27FC236}">
                <a16:creationId xmlns:a16="http://schemas.microsoft.com/office/drawing/2014/main" id="{A73CA3C2-B923-BD74-AC2D-893FC092D9B9}"/>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Literature Review — Repository Understanding</a:t>
            </a:r>
          </a:p>
        </p:txBody>
      </p:sp>
      <p:sp>
        <p:nvSpPr>
          <p:cNvPr id="4" name="TextBox 3">
            <a:extLst>
              <a:ext uri="{FF2B5EF4-FFF2-40B4-BE49-F238E27FC236}">
                <a16:creationId xmlns:a16="http://schemas.microsoft.com/office/drawing/2014/main" id="{99C35505-4E8D-0C2F-9886-95DD66F6AA5D}"/>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Three core papers on representing, understanding and changing whole repositories.</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889C2467-872E-3A79-58AE-F945E6C0B4D2}"/>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F90C85C-8DDD-E11A-412D-E65AEC79C40B}"/>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ADAA4395-C9D2-E62E-E301-48178B5D1D3C}"/>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06 / 20</a:t>
            </a:r>
          </a:p>
        </p:txBody>
      </p:sp>
      <p:sp>
        <p:nvSpPr>
          <p:cNvPr id="8" name="Rectangle: Rounded Corners 7">
            <a:extLst>
              <a:ext uri="{FF2B5EF4-FFF2-40B4-BE49-F238E27FC236}">
                <a16:creationId xmlns:a16="http://schemas.microsoft.com/office/drawing/2014/main" id="{3424208A-F2DC-EE2D-C9CD-0C9349945CD7}"/>
              </a:ext>
            </a:extLst>
          </p:cNvPr>
          <p:cNvSpPr/>
          <p:nvPr/>
        </p:nvSpPr>
        <p:spPr>
          <a:xfrm>
            <a:off x="508000" y="1168400"/>
            <a:ext cx="11176000" cy="1651000"/>
          </a:xfrm>
          <a:prstGeom prst="roundRect">
            <a:avLst>
              <a:gd name="adj" fmla="val 6154"/>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51F2712E-6275-149B-57A7-29ACEAEF49CD}"/>
              </a:ext>
            </a:extLst>
          </p:cNvPr>
          <p:cNvSpPr/>
          <p:nvPr/>
        </p:nvSpPr>
        <p:spPr>
          <a:xfrm>
            <a:off x="685800" y="1320800"/>
            <a:ext cx="330200" cy="190500"/>
          </a:xfrm>
          <a:prstGeom prst="roundRect">
            <a:avLst>
              <a:gd name="adj" fmla="val 26667"/>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8B9BFF"/>
                </a:solidFill>
                <a:latin typeface="Segoe UI Semibold" panose="020B0702040204020203" pitchFamily="34" charset="0"/>
              </a:rPr>
              <a:t>[1]</a:t>
            </a:r>
          </a:p>
        </p:txBody>
      </p:sp>
      <p:sp>
        <p:nvSpPr>
          <p:cNvPr id="10" name="Rectangle: Rounded Corners 9">
            <a:extLst>
              <a:ext uri="{FF2B5EF4-FFF2-40B4-BE49-F238E27FC236}">
                <a16:creationId xmlns:a16="http://schemas.microsoft.com/office/drawing/2014/main" id="{D971E3E8-5E95-8F2E-CA99-27AA8490191A}"/>
              </a:ext>
            </a:extLst>
          </p:cNvPr>
          <p:cNvSpPr/>
          <p:nvPr/>
        </p:nvSpPr>
        <p:spPr>
          <a:xfrm>
            <a:off x="1092200" y="1320800"/>
            <a:ext cx="939800" cy="190500"/>
          </a:xfrm>
          <a:prstGeom prst="roundRect">
            <a:avLst>
              <a:gd name="adj" fmla="val 26667"/>
            </a:avLst>
          </a:prstGeom>
          <a:solidFill>
            <a:srgbClr val="33270F"/>
          </a:solidFill>
          <a:ln w="9525">
            <a:solidFill>
              <a:srgbClr val="B07A2A"/>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spc="80">
                <a:solidFill>
                  <a:srgbClr val="F1A73B"/>
                </a:solidFill>
                <a:latin typeface="Segoe UI Semibold" panose="020B0702040204020203" pitchFamily="34" charset="0"/>
              </a:rPr>
              <a:t>REPRESENT</a:t>
            </a:r>
          </a:p>
        </p:txBody>
      </p:sp>
      <p:sp>
        <p:nvSpPr>
          <p:cNvPr id="11" name="TextBox 10">
            <a:extLst>
              <a:ext uri="{FF2B5EF4-FFF2-40B4-BE49-F238E27FC236}">
                <a16:creationId xmlns:a16="http://schemas.microsoft.com/office/drawing/2014/main" id="{F066F65D-E78D-0CED-F969-8EF42E1531B3}"/>
              </a:ext>
            </a:extLst>
          </p:cNvPr>
          <p:cNvSpPr txBox="1"/>
          <p:nvPr/>
        </p:nvSpPr>
        <p:spPr>
          <a:xfrm>
            <a:off x="685800" y="1600200"/>
            <a:ext cx="2260600" cy="584200"/>
          </a:xfrm>
          <a:prstGeom prst="rect">
            <a:avLst/>
          </a:prstGeom>
          <a:noFill/>
        </p:spPr>
        <p:txBody>
          <a:bodyPr vert="horz" wrap="square" lIns="0" tIns="0" rIns="0" bIns="0" rtlCol="0" anchor="t">
            <a:noAutofit/>
          </a:bodyPr>
          <a:lstStyle/>
          <a:p>
            <a:r>
              <a:rPr lang="en-US" sz="1050">
                <a:solidFill>
                  <a:srgbClr val="F1F4F9"/>
                </a:solidFill>
                <a:latin typeface="Segoe UI Semibold" panose="020B0702040204020203" pitchFamily="34" charset="0"/>
              </a:rPr>
              <a:t>RepoGraph: Enhancing AI Software Engineering with Repository-level Code Graph</a:t>
            </a:r>
            <a:endParaRPr lang="en-IN" sz="1050">
              <a:solidFill>
                <a:srgbClr val="F1F4F9"/>
              </a:solidFill>
              <a:latin typeface="Segoe UI Semibold" panose="020B0702040204020203" pitchFamily="34" charset="0"/>
            </a:endParaRPr>
          </a:p>
        </p:txBody>
      </p:sp>
      <p:sp>
        <p:nvSpPr>
          <p:cNvPr id="12" name="TextBox 11">
            <a:extLst>
              <a:ext uri="{FF2B5EF4-FFF2-40B4-BE49-F238E27FC236}">
                <a16:creationId xmlns:a16="http://schemas.microsoft.com/office/drawing/2014/main" id="{71B37677-BC07-654E-35A5-0C1A47AC1B18}"/>
              </a:ext>
            </a:extLst>
          </p:cNvPr>
          <p:cNvSpPr txBox="1"/>
          <p:nvPr/>
        </p:nvSpPr>
        <p:spPr>
          <a:xfrm>
            <a:off x="685800" y="2311400"/>
            <a:ext cx="2260600" cy="406400"/>
          </a:xfrm>
          <a:prstGeom prst="rect">
            <a:avLst/>
          </a:prstGeom>
          <a:noFill/>
        </p:spPr>
        <p:txBody>
          <a:bodyPr vert="horz" wrap="square" lIns="0" tIns="0" rIns="0" bIns="0" rtlCol="0" anchor="b">
            <a:noAutofit/>
          </a:bodyPr>
          <a:lstStyle/>
          <a:p>
            <a:r>
              <a:rPr lang="da-DK" sz="800">
                <a:solidFill>
                  <a:srgbClr val="78849A"/>
                </a:solidFill>
                <a:latin typeface="Segoe UI" panose="020B0502040204020203" pitchFamily="34" charset="0"/>
              </a:rPr>
              <a:t>Ouyang et al.  ·  ICLR 2025</a:t>
            </a:r>
            <a:endParaRPr lang="en-IN" sz="800">
              <a:solidFill>
                <a:srgbClr val="78849A"/>
              </a:solidFill>
              <a:latin typeface="Segoe UI" panose="020B0502040204020203" pitchFamily="34" charset="0"/>
            </a:endParaRPr>
          </a:p>
        </p:txBody>
      </p:sp>
      <p:cxnSp>
        <p:nvCxnSpPr>
          <p:cNvPr id="13" name="Straight Connector 12">
            <a:extLst>
              <a:ext uri="{FF2B5EF4-FFF2-40B4-BE49-F238E27FC236}">
                <a16:creationId xmlns:a16="http://schemas.microsoft.com/office/drawing/2014/main" id="{EA05A380-D72C-E4D4-67CD-C1172A57816D}"/>
              </a:ext>
            </a:extLst>
          </p:cNvPr>
          <p:cNvCxnSpPr/>
          <p:nvPr/>
        </p:nvCxnSpPr>
        <p:spPr>
          <a:xfrm>
            <a:off x="3022600" y="1320800"/>
            <a:ext cx="0" cy="13462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0945971-4287-43B8-35B2-F4220F6AAB2C}"/>
              </a:ext>
            </a:extLst>
          </p:cNvPr>
          <p:cNvSpPr txBox="1"/>
          <p:nvPr/>
        </p:nvSpPr>
        <p:spPr>
          <a:xfrm>
            <a:off x="3124200" y="13208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CORE IDEA</a:t>
            </a:r>
          </a:p>
        </p:txBody>
      </p:sp>
      <p:sp>
        <p:nvSpPr>
          <p:cNvPr id="15" name="TextBox 14">
            <a:extLst>
              <a:ext uri="{FF2B5EF4-FFF2-40B4-BE49-F238E27FC236}">
                <a16:creationId xmlns:a16="http://schemas.microsoft.com/office/drawing/2014/main" id="{530049C1-FD80-AA44-97C7-9E6BC5CF1A29}"/>
              </a:ext>
            </a:extLst>
          </p:cNvPr>
          <p:cNvSpPr txBox="1"/>
          <p:nvPr/>
        </p:nvSpPr>
        <p:spPr>
          <a:xfrm>
            <a:off x="3124200" y="1511300"/>
            <a:ext cx="2692400" cy="12192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Builds a line-level repository graph with tree-sitter: definition and reference nodes joined by invoke and contain edges. Retrieves k-hop ego-graphs around search terms.</a:t>
            </a:r>
            <a:endParaRPr lang="en-IN" sz="950">
              <a:solidFill>
                <a:srgbClr val="B3BDCF"/>
              </a:solidFill>
              <a:latin typeface="Segoe UI" panose="020B0502040204020203" pitchFamily="34" charset="0"/>
            </a:endParaRPr>
          </a:p>
        </p:txBody>
      </p:sp>
      <p:cxnSp>
        <p:nvCxnSpPr>
          <p:cNvPr id="16" name="Straight Connector 15">
            <a:extLst>
              <a:ext uri="{FF2B5EF4-FFF2-40B4-BE49-F238E27FC236}">
                <a16:creationId xmlns:a16="http://schemas.microsoft.com/office/drawing/2014/main" id="{14E05B47-8549-1C65-C030-7AE01D49803D}"/>
              </a:ext>
            </a:extLst>
          </p:cNvPr>
          <p:cNvCxnSpPr/>
          <p:nvPr/>
        </p:nvCxnSpPr>
        <p:spPr>
          <a:xfrm>
            <a:off x="5892800" y="1320800"/>
            <a:ext cx="0" cy="13462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70FE3A9-1186-4C6E-ED5E-F76279C31422}"/>
              </a:ext>
            </a:extLst>
          </p:cNvPr>
          <p:cNvSpPr txBox="1"/>
          <p:nvPr/>
        </p:nvSpPr>
        <p:spPr>
          <a:xfrm>
            <a:off x="5994400" y="13208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CONTRIBUTION / FINDINGS</a:t>
            </a:r>
          </a:p>
        </p:txBody>
      </p:sp>
      <p:sp>
        <p:nvSpPr>
          <p:cNvPr id="18" name="TextBox 17">
            <a:extLst>
              <a:ext uri="{FF2B5EF4-FFF2-40B4-BE49-F238E27FC236}">
                <a16:creationId xmlns:a16="http://schemas.microsoft.com/office/drawing/2014/main" id="{697CA66D-9D12-5139-994B-5CEC2B124DBA}"/>
              </a:ext>
            </a:extLst>
          </p:cNvPr>
          <p:cNvSpPr txBox="1"/>
          <p:nvPr/>
        </p:nvSpPr>
        <p:spPr>
          <a:xfrm>
            <a:off x="5994400" y="1511300"/>
            <a:ext cx="2692400" cy="12192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Plug-in module for procedural and agent frameworks; improved all four tested methods on SWE-bench and generalised to CrossCodeEval.</a:t>
            </a:r>
            <a:endParaRPr lang="en-IN" sz="950">
              <a:solidFill>
                <a:srgbClr val="B3BDCF"/>
              </a:solidFill>
              <a:latin typeface="Segoe UI" panose="020B0502040204020203" pitchFamily="34" charset="0"/>
            </a:endParaRPr>
          </a:p>
        </p:txBody>
      </p:sp>
      <p:cxnSp>
        <p:nvCxnSpPr>
          <p:cNvPr id="19" name="Straight Connector 18">
            <a:extLst>
              <a:ext uri="{FF2B5EF4-FFF2-40B4-BE49-F238E27FC236}">
                <a16:creationId xmlns:a16="http://schemas.microsoft.com/office/drawing/2014/main" id="{301A9C15-4268-0FB7-7F79-61687AB9FB30}"/>
              </a:ext>
            </a:extLst>
          </p:cNvPr>
          <p:cNvCxnSpPr/>
          <p:nvPr/>
        </p:nvCxnSpPr>
        <p:spPr>
          <a:xfrm>
            <a:off x="8763000" y="1320800"/>
            <a:ext cx="0" cy="13462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0BE9B81-FEDB-681E-3854-88C5282D33D9}"/>
              </a:ext>
            </a:extLst>
          </p:cNvPr>
          <p:cNvSpPr txBox="1"/>
          <p:nvPr/>
        </p:nvSpPr>
        <p:spPr>
          <a:xfrm>
            <a:off x="8864600" y="13208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LIMITATION / GAP</a:t>
            </a:r>
          </a:p>
        </p:txBody>
      </p:sp>
      <p:sp>
        <p:nvSpPr>
          <p:cNvPr id="21" name="TextBox 20">
            <a:extLst>
              <a:ext uri="{FF2B5EF4-FFF2-40B4-BE49-F238E27FC236}">
                <a16:creationId xmlns:a16="http://schemas.microsoft.com/office/drawing/2014/main" id="{EAC68E84-E5F2-E186-27D0-CACEF3774443}"/>
              </a:ext>
            </a:extLst>
          </p:cNvPr>
          <p:cNvSpPr txBox="1"/>
          <p:nvPr/>
        </p:nvSpPr>
        <p:spPr>
          <a:xfrm>
            <a:off x="8864600" y="1511300"/>
            <a:ext cx="2692400" cy="12192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Authors note: evaluated only with GPT-4-series models, on SWE-bench Lite (cost), and on Python. Gap for OneForAll: no access control or work-item context.</a:t>
            </a:r>
            <a:endParaRPr lang="en-IN" sz="950">
              <a:solidFill>
                <a:srgbClr val="B3BDCF"/>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67A81540-6894-091D-84DA-4B91E3FD4E7D}"/>
              </a:ext>
            </a:extLst>
          </p:cNvPr>
          <p:cNvSpPr/>
          <p:nvPr/>
        </p:nvSpPr>
        <p:spPr>
          <a:xfrm>
            <a:off x="508000" y="2921000"/>
            <a:ext cx="11176000" cy="1727200"/>
          </a:xfrm>
          <a:prstGeom prst="roundRect">
            <a:avLst>
              <a:gd name="adj" fmla="val 5882"/>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B032F1A3-C046-F274-E31B-508A939D061D}"/>
              </a:ext>
            </a:extLst>
          </p:cNvPr>
          <p:cNvSpPr/>
          <p:nvPr/>
        </p:nvSpPr>
        <p:spPr>
          <a:xfrm>
            <a:off x="685800" y="3073400"/>
            <a:ext cx="330200" cy="190500"/>
          </a:xfrm>
          <a:prstGeom prst="roundRect">
            <a:avLst>
              <a:gd name="adj" fmla="val 26667"/>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8B9BFF"/>
                </a:solidFill>
                <a:latin typeface="Segoe UI Semibold" panose="020B0702040204020203" pitchFamily="34" charset="0"/>
              </a:rPr>
              <a:t>[2]</a:t>
            </a:r>
          </a:p>
        </p:txBody>
      </p:sp>
      <p:sp>
        <p:nvSpPr>
          <p:cNvPr id="24" name="Rectangle: Rounded Corners 23">
            <a:extLst>
              <a:ext uri="{FF2B5EF4-FFF2-40B4-BE49-F238E27FC236}">
                <a16:creationId xmlns:a16="http://schemas.microsoft.com/office/drawing/2014/main" id="{C0CFFDC3-6712-9808-BBBD-EB372FD4C42E}"/>
              </a:ext>
            </a:extLst>
          </p:cNvPr>
          <p:cNvSpPr/>
          <p:nvPr/>
        </p:nvSpPr>
        <p:spPr>
          <a:xfrm>
            <a:off x="1092200" y="3073400"/>
            <a:ext cx="939800" cy="190500"/>
          </a:xfrm>
          <a:prstGeom prst="roundRect">
            <a:avLst>
              <a:gd name="adj" fmla="val 26667"/>
            </a:avLst>
          </a:prstGeom>
          <a:solidFill>
            <a:srgbClr val="33270F"/>
          </a:solidFill>
          <a:ln w="9525">
            <a:solidFill>
              <a:srgbClr val="B07A2A"/>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spc="80">
                <a:solidFill>
                  <a:srgbClr val="F1A73B"/>
                </a:solidFill>
                <a:latin typeface="Segoe UI Semibold" panose="020B0702040204020203" pitchFamily="34" charset="0"/>
              </a:rPr>
              <a:t>UNDERSTAND</a:t>
            </a:r>
          </a:p>
        </p:txBody>
      </p:sp>
      <p:sp>
        <p:nvSpPr>
          <p:cNvPr id="25" name="TextBox 24">
            <a:extLst>
              <a:ext uri="{FF2B5EF4-FFF2-40B4-BE49-F238E27FC236}">
                <a16:creationId xmlns:a16="http://schemas.microsoft.com/office/drawing/2014/main" id="{BB853F3D-5B1D-2D77-0BE2-C9A91CFBEEBA}"/>
              </a:ext>
            </a:extLst>
          </p:cNvPr>
          <p:cNvSpPr txBox="1"/>
          <p:nvPr/>
        </p:nvSpPr>
        <p:spPr>
          <a:xfrm>
            <a:off x="685800" y="3352800"/>
            <a:ext cx="2260600" cy="584200"/>
          </a:xfrm>
          <a:prstGeom prst="rect">
            <a:avLst/>
          </a:prstGeom>
          <a:noFill/>
        </p:spPr>
        <p:txBody>
          <a:bodyPr vert="horz" wrap="square" lIns="0" tIns="0" rIns="0" bIns="0" rtlCol="0" anchor="t">
            <a:noAutofit/>
          </a:bodyPr>
          <a:lstStyle/>
          <a:p>
            <a:r>
              <a:rPr lang="en-US" sz="1050">
                <a:solidFill>
                  <a:srgbClr val="F1F4F9"/>
                </a:solidFill>
                <a:latin typeface="Segoe UI Semibold" panose="020B0702040204020203" pitchFamily="34" charset="0"/>
              </a:rPr>
              <a:t>Code Graph Model (CGM): A Graph-Integrated LLM for Repository-Level SE Tasks</a:t>
            </a:r>
            <a:endParaRPr lang="en-IN" sz="1050">
              <a:solidFill>
                <a:srgbClr val="F1F4F9"/>
              </a:solidFill>
              <a:latin typeface="Segoe UI Semibold" panose="020B0702040204020203" pitchFamily="34" charset="0"/>
            </a:endParaRPr>
          </a:p>
        </p:txBody>
      </p:sp>
      <p:sp>
        <p:nvSpPr>
          <p:cNvPr id="26" name="TextBox 25">
            <a:extLst>
              <a:ext uri="{FF2B5EF4-FFF2-40B4-BE49-F238E27FC236}">
                <a16:creationId xmlns:a16="http://schemas.microsoft.com/office/drawing/2014/main" id="{909011AC-4851-EDD9-38E9-DDC16B77B595}"/>
              </a:ext>
            </a:extLst>
          </p:cNvPr>
          <p:cNvSpPr txBox="1"/>
          <p:nvPr/>
        </p:nvSpPr>
        <p:spPr>
          <a:xfrm>
            <a:off x="685800" y="4140200"/>
            <a:ext cx="2260600" cy="406400"/>
          </a:xfrm>
          <a:prstGeom prst="rect">
            <a:avLst/>
          </a:prstGeom>
          <a:noFill/>
        </p:spPr>
        <p:txBody>
          <a:bodyPr vert="horz" wrap="square" lIns="0" tIns="0" rIns="0" bIns="0" rtlCol="0" anchor="b">
            <a:noAutofit/>
          </a:bodyPr>
          <a:lstStyle/>
          <a:p>
            <a:r>
              <a:rPr lang="en-IN" sz="800">
                <a:solidFill>
                  <a:srgbClr val="78849A"/>
                </a:solidFill>
                <a:latin typeface="Segoe UI" panose="020B0502040204020203" pitchFamily="34" charset="0"/>
              </a:rPr>
              <a:t>Tao et al.  ·  NeurIPS 2025</a:t>
            </a:r>
          </a:p>
        </p:txBody>
      </p:sp>
      <p:cxnSp>
        <p:nvCxnSpPr>
          <p:cNvPr id="27" name="Straight Connector 26">
            <a:extLst>
              <a:ext uri="{FF2B5EF4-FFF2-40B4-BE49-F238E27FC236}">
                <a16:creationId xmlns:a16="http://schemas.microsoft.com/office/drawing/2014/main" id="{153DD76F-6073-600C-C8D1-A9D949724909}"/>
              </a:ext>
            </a:extLst>
          </p:cNvPr>
          <p:cNvCxnSpPr/>
          <p:nvPr/>
        </p:nvCxnSpPr>
        <p:spPr>
          <a:xfrm>
            <a:off x="3022600" y="3073400"/>
            <a:ext cx="0" cy="14224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C7ACD61-4351-9453-568B-B1B6A0C4967D}"/>
              </a:ext>
            </a:extLst>
          </p:cNvPr>
          <p:cNvSpPr txBox="1"/>
          <p:nvPr/>
        </p:nvSpPr>
        <p:spPr>
          <a:xfrm>
            <a:off x="3124200" y="30734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CORE IDEA</a:t>
            </a:r>
          </a:p>
        </p:txBody>
      </p:sp>
      <p:sp>
        <p:nvSpPr>
          <p:cNvPr id="29" name="TextBox 28">
            <a:extLst>
              <a:ext uri="{FF2B5EF4-FFF2-40B4-BE49-F238E27FC236}">
                <a16:creationId xmlns:a16="http://schemas.microsoft.com/office/drawing/2014/main" id="{0AD4D6FD-CFC6-285B-D5D9-FC5EAEF1523A}"/>
              </a:ext>
            </a:extLst>
          </p:cNvPr>
          <p:cNvSpPr txBox="1"/>
          <p:nvPr/>
        </p:nvSpPr>
        <p:spPr>
          <a:xfrm>
            <a:off x="3124200" y="3263900"/>
            <a:ext cx="2692400" cy="12954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Puts a repository code graph (7 node types, 5 edge types) inside an open LLM: node text encoded by CodeT5+ through an adapter; a graph-aware attention mask limits attention to neighbouring nodes.</a:t>
            </a:r>
            <a:endParaRPr lang="en-IN" sz="950">
              <a:solidFill>
                <a:srgbClr val="B3BDCF"/>
              </a:solidFill>
              <a:latin typeface="Segoe UI" panose="020B0502040204020203" pitchFamily="34" charset="0"/>
            </a:endParaRPr>
          </a:p>
        </p:txBody>
      </p:sp>
      <p:cxnSp>
        <p:nvCxnSpPr>
          <p:cNvPr id="30" name="Straight Connector 29">
            <a:extLst>
              <a:ext uri="{FF2B5EF4-FFF2-40B4-BE49-F238E27FC236}">
                <a16:creationId xmlns:a16="http://schemas.microsoft.com/office/drawing/2014/main" id="{85A7612C-FE03-DA1F-5B55-6F2F00270B00}"/>
              </a:ext>
            </a:extLst>
          </p:cNvPr>
          <p:cNvCxnSpPr/>
          <p:nvPr/>
        </p:nvCxnSpPr>
        <p:spPr>
          <a:xfrm>
            <a:off x="5892800" y="3073400"/>
            <a:ext cx="0" cy="14224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972537C-F0A2-CFBB-0D80-B883B6BDCB4D}"/>
              </a:ext>
            </a:extLst>
          </p:cNvPr>
          <p:cNvSpPr txBox="1"/>
          <p:nvPr/>
        </p:nvSpPr>
        <p:spPr>
          <a:xfrm>
            <a:off x="5994400" y="30734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CONTRIBUTION / FINDINGS</a:t>
            </a:r>
          </a:p>
        </p:txBody>
      </p:sp>
      <p:sp>
        <p:nvSpPr>
          <p:cNvPr id="32" name="TextBox 31">
            <a:extLst>
              <a:ext uri="{FF2B5EF4-FFF2-40B4-BE49-F238E27FC236}">
                <a16:creationId xmlns:a16="http://schemas.microsoft.com/office/drawing/2014/main" id="{E7669807-AE1F-C91C-D7E0-17163CBEFE8A}"/>
              </a:ext>
            </a:extLst>
          </p:cNvPr>
          <p:cNvSpPr txBox="1"/>
          <p:nvPr/>
        </p:nvSpPr>
        <p:spPr>
          <a:xfrm>
            <a:off x="5994400" y="3263900"/>
            <a:ext cx="2692400" cy="1295400"/>
          </a:xfrm>
          <a:prstGeom prst="rect">
            <a:avLst/>
          </a:prstGeom>
          <a:noFill/>
        </p:spPr>
        <p:txBody>
          <a:bodyPr vert="horz" wrap="square" lIns="0" tIns="0" rIns="0" bIns="0" rtlCol="0" anchor="t">
            <a:noAutofit/>
          </a:bodyPr>
          <a:lstStyle/>
          <a:p>
            <a:r>
              <a:rPr lang="en-IN" sz="950">
                <a:solidFill>
                  <a:srgbClr val="B3BDCF"/>
                </a:solidFill>
                <a:latin typeface="Segoe UI" panose="020B0502040204020203" pitchFamily="34" charset="0"/>
              </a:rPr>
              <a:t>Agentless Graph-RAG pipeline (rewriter, retriever, reranker, reader); reports 43.00% resolved on SWE-bench Lite with Qwen2.5-72B, first among open-weight models.</a:t>
            </a:r>
          </a:p>
        </p:txBody>
      </p:sp>
      <p:cxnSp>
        <p:nvCxnSpPr>
          <p:cNvPr id="33" name="Straight Connector 32">
            <a:extLst>
              <a:ext uri="{FF2B5EF4-FFF2-40B4-BE49-F238E27FC236}">
                <a16:creationId xmlns:a16="http://schemas.microsoft.com/office/drawing/2014/main" id="{F32170C9-8CC5-5B87-BBD2-C5CB2C810976}"/>
              </a:ext>
            </a:extLst>
          </p:cNvPr>
          <p:cNvCxnSpPr/>
          <p:nvPr/>
        </p:nvCxnSpPr>
        <p:spPr>
          <a:xfrm>
            <a:off x="8763000" y="3073400"/>
            <a:ext cx="0" cy="14224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D02755B-B0FC-E967-BBF1-7154E2FAE834}"/>
              </a:ext>
            </a:extLst>
          </p:cNvPr>
          <p:cNvSpPr txBox="1"/>
          <p:nvPr/>
        </p:nvSpPr>
        <p:spPr>
          <a:xfrm>
            <a:off x="8864600" y="30734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LIMITATION / GAP</a:t>
            </a:r>
          </a:p>
        </p:txBody>
      </p:sp>
      <p:sp>
        <p:nvSpPr>
          <p:cNvPr id="35" name="TextBox 34">
            <a:extLst>
              <a:ext uri="{FF2B5EF4-FFF2-40B4-BE49-F238E27FC236}">
                <a16:creationId xmlns:a16="http://schemas.microsoft.com/office/drawing/2014/main" id="{634867EC-D0AA-D96A-1BD0-FA81EB6B3FE6}"/>
              </a:ext>
            </a:extLst>
          </p:cNvPr>
          <p:cNvSpPr txBox="1"/>
          <p:nvPr/>
        </p:nvSpPr>
        <p:spPr>
          <a:xfrm>
            <a:off x="8864600" y="3263900"/>
            <a:ext cx="2692400" cy="12954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Authors note: repositories larger than the context length and complex dynamic dependencies remain hard. Supports Python and Java.</a:t>
            </a:r>
            <a:endParaRPr lang="en-IN" sz="950">
              <a:solidFill>
                <a:srgbClr val="B3BDCF"/>
              </a:solidFill>
              <a:latin typeface="Segoe UI" panose="020B0502040204020203" pitchFamily="34" charset="0"/>
            </a:endParaRPr>
          </a:p>
        </p:txBody>
      </p:sp>
      <p:sp>
        <p:nvSpPr>
          <p:cNvPr id="36" name="Rectangle: Rounded Corners 35">
            <a:extLst>
              <a:ext uri="{FF2B5EF4-FFF2-40B4-BE49-F238E27FC236}">
                <a16:creationId xmlns:a16="http://schemas.microsoft.com/office/drawing/2014/main" id="{A1BBA2E0-904F-820F-965E-84EAA1AAF437}"/>
              </a:ext>
            </a:extLst>
          </p:cNvPr>
          <p:cNvSpPr/>
          <p:nvPr/>
        </p:nvSpPr>
        <p:spPr>
          <a:xfrm>
            <a:off x="508000" y="4749800"/>
            <a:ext cx="11176000" cy="1524000"/>
          </a:xfrm>
          <a:prstGeom prst="roundRect">
            <a:avLst>
              <a:gd name="adj" fmla="val 6667"/>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8048178-C98A-0EA7-78AA-F461927686BE}"/>
              </a:ext>
            </a:extLst>
          </p:cNvPr>
          <p:cNvSpPr/>
          <p:nvPr/>
        </p:nvSpPr>
        <p:spPr>
          <a:xfrm>
            <a:off x="685800" y="4902200"/>
            <a:ext cx="330200" cy="190500"/>
          </a:xfrm>
          <a:prstGeom prst="roundRect">
            <a:avLst>
              <a:gd name="adj" fmla="val 26667"/>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8B9BFF"/>
                </a:solidFill>
                <a:latin typeface="Segoe UI Semibold" panose="020B0702040204020203" pitchFamily="34" charset="0"/>
              </a:rPr>
              <a:t>[3]</a:t>
            </a:r>
          </a:p>
        </p:txBody>
      </p:sp>
      <p:sp>
        <p:nvSpPr>
          <p:cNvPr id="38" name="Rectangle: Rounded Corners 37">
            <a:extLst>
              <a:ext uri="{FF2B5EF4-FFF2-40B4-BE49-F238E27FC236}">
                <a16:creationId xmlns:a16="http://schemas.microsoft.com/office/drawing/2014/main" id="{8A7C27A9-F323-1200-3C4A-C0E76D85674D}"/>
              </a:ext>
            </a:extLst>
          </p:cNvPr>
          <p:cNvSpPr/>
          <p:nvPr/>
        </p:nvSpPr>
        <p:spPr>
          <a:xfrm>
            <a:off x="1092200" y="4902200"/>
            <a:ext cx="939800" cy="190500"/>
          </a:xfrm>
          <a:prstGeom prst="roundRect">
            <a:avLst>
              <a:gd name="adj" fmla="val 26667"/>
            </a:avLst>
          </a:prstGeom>
          <a:solidFill>
            <a:srgbClr val="33270F"/>
          </a:solidFill>
          <a:ln w="9525">
            <a:solidFill>
              <a:srgbClr val="B07A2A"/>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spc="80">
                <a:solidFill>
                  <a:srgbClr val="F1A73B"/>
                </a:solidFill>
                <a:latin typeface="Segoe UI Semibold" panose="020B0702040204020203" pitchFamily="34" charset="0"/>
              </a:rPr>
              <a:t>PLAN</a:t>
            </a:r>
          </a:p>
        </p:txBody>
      </p:sp>
      <p:sp>
        <p:nvSpPr>
          <p:cNvPr id="39" name="TextBox 38">
            <a:extLst>
              <a:ext uri="{FF2B5EF4-FFF2-40B4-BE49-F238E27FC236}">
                <a16:creationId xmlns:a16="http://schemas.microsoft.com/office/drawing/2014/main" id="{F41D5B34-CD63-4D8D-598C-921C076E8B70}"/>
              </a:ext>
            </a:extLst>
          </p:cNvPr>
          <p:cNvSpPr txBox="1"/>
          <p:nvPr/>
        </p:nvSpPr>
        <p:spPr>
          <a:xfrm>
            <a:off x="685800" y="5181600"/>
            <a:ext cx="2260600" cy="584200"/>
          </a:xfrm>
          <a:prstGeom prst="rect">
            <a:avLst/>
          </a:prstGeom>
          <a:noFill/>
        </p:spPr>
        <p:txBody>
          <a:bodyPr vert="horz" wrap="square" lIns="0" tIns="0" rIns="0" bIns="0" rtlCol="0" anchor="t">
            <a:noAutofit/>
          </a:bodyPr>
          <a:lstStyle/>
          <a:p>
            <a:r>
              <a:rPr lang="en-US" sz="1050">
                <a:solidFill>
                  <a:srgbClr val="F1F4F9"/>
                </a:solidFill>
                <a:latin typeface="Segoe UI Semibold" panose="020B0702040204020203" pitchFamily="34" charset="0"/>
              </a:rPr>
              <a:t>CodePlan: Repository-level Coding using LLMs and Planning</a:t>
            </a:r>
            <a:endParaRPr lang="en-IN" sz="1050">
              <a:solidFill>
                <a:srgbClr val="F1F4F9"/>
              </a:solidFill>
              <a:latin typeface="Segoe UI Semibold" panose="020B0702040204020203" pitchFamily="34" charset="0"/>
            </a:endParaRPr>
          </a:p>
        </p:txBody>
      </p:sp>
      <p:sp>
        <p:nvSpPr>
          <p:cNvPr id="40" name="TextBox 39">
            <a:extLst>
              <a:ext uri="{FF2B5EF4-FFF2-40B4-BE49-F238E27FC236}">
                <a16:creationId xmlns:a16="http://schemas.microsoft.com/office/drawing/2014/main" id="{3DBF2884-66AD-E548-AE0C-526650E3503D}"/>
              </a:ext>
            </a:extLst>
          </p:cNvPr>
          <p:cNvSpPr txBox="1"/>
          <p:nvPr/>
        </p:nvSpPr>
        <p:spPr>
          <a:xfrm>
            <a:off x="685800" y="5765800"/>
            <a:ext cx="2260600" cy="406400"/>
          </a:xfrm>
          <a:prstGeom prst="rect">
            <a:avLst/>
          </a:prstGeom>
          <a:noFill/>
        </p:spPr>
        <p:txBody>
          <a:bodyPr vert="horz" wrap="square" lIns="0" tIns="0" rIns="0" bIns="0" rtlCol="0" anchor="b">
            <a:noAutofit/>
          </a:bodyPr>
          <a:lstStyle/>
          <a:p>
            <a:r>
              <a:rPr lang="en-IN" sz="800">
                <a:solidFill>
                  <a:srgbClr val="78849A"/>
                </a:solidFill>
                <a:latin typeface="Segoe UI" panose="020B0502040204020203" pitchFamily="34" charset="0"/>
              </a:rPr>
              <a:t>Bairi et al.  ·  Proc. ACM Softw. Eng. (FSE) 2024</a:t>
            </a:r>
          </a:p>
        </p:txBody>
      </p:sp>
      <p:cxnSp>
        <p:nvCxnSpPr>
          <p:cNvPr id="41" name="Straight Connector 40">
            <a:extLst>
              <a:ext uri="{FF2B5EF4-FFF2-40B4-BE49-F238E27FC236}">
                <a16:creationId xmlns:a16="http://schemas.microsoft.com/office/drawing/2014/main" id="{EBF0EEFD-4ACC-9B46-3577-36BE2D6E0C78}"/>
              </a:ext>
            </a:extLst>
          </p:cNvPr>
          <p:cNvCxnSpPr/>
          <p:nvPr/>
        </p:nvCxnSpPr>
        <p:spPr>
          <a:xfrm>
            <a:off x="3022600" y="4902200"/>
            <a:ext cx="0" cy="12192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7AC372B-F845-2DB9-DB73-261572EB9DB1}"/>
              </a:ext>
            </a:extLst>
          </p:cNvPr>
          <p:cNvSpPr txBox="1"/>
          <p:nvPr/>
        </p:nvSpPr>
        <p:spPr>
          <a:xfrm>
            <a:off x="3124200" y="49022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CORE IDEA</a:t>
            </a:r>
          </a:p>
        </p:txBody>
      </p:sp>
      <p:sp>
        <p:nvSpPr>
          <p:cNvPr id="43" name="TextBox 42">
            <a:extLst>
              <a:ext uri="{FF2B5EF4-FFF2-40B4-BE49-F238E27FC236}">
                <a16:creationId xmlns:a16="http://schemas.microsoft.com/office/drawing/2014/main" id="{DDAF1C52-9A14-278C-E051-FC79E69706C3}"/>
              </a:ext>
            </a:extLst>
          </p:cNvPr>
          <p:cNvSpPr txBox="1"/>
          <p:nvPr/>
        </p:nvSpPr>
        <p:spPr>
          <a:xfrm>
            <a:off x="3124200" y="5092700"/>
            <a:ext cx="2692400" cy="10922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Frames repository-level coding as planning: incremental dependency analysis and change may-impact analysis drive an adaptive plan — a chain of LLM edits.</a:t>
            </a:r>
            <a:endParaRPr lang="en-IN" sz="950">
              <a:solidFill>
                <a:srgbClr val="B3BDCF"/>
              </a:solidFill>
              <a:latin typeface="Segoe UI" panose="020B0502040204020203" pitchFamily="34" charset="0"/>
            </a:endParaRPr>
          </a:p>
        </p:txBody>
      </p:sp>
      <p:cxnSp>
        <p:nvCxnSpPr>
          <p:cNvPr id="44" name="Straight Connector 43">
            <a:extLst>
              <a:ext uri="{FF2B5EF4-FFF2-40B4-BE49-F238E27FC236}">
                <a16:creationId xmlns:a16="http://schemas.microsoft.com/office/drawing/2014/main" id="{38EB80ED-C2AD-5DAD-EB70-97F009690AEB}"/>
              </a:ext>
            </a:extLst>
          </p:cNvPr>
          <p:cNvCxnSpPr/>
          <p:nvPr/>
        </p:nvCxnSpPr>
        <p:spPr>
          <a:xfrm>
            <a:off x="5892800" y="4902200"/>
            <a:ext cx="0" cy="12192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C9B5DA9-D5F2-6793-B12B-06EEBFA3C890}"/>
              </a:ext>
            </a:extLst>
          </p:cNvPr>
          <p:cNvSpPr txBox="1"/>
          <p:nvPr/>
        </p:nvSpPr>
        <p:spPr>
          <a:xfrm>
            <a:off x="5994400" y="49022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CONTRIBUTION / FINDINGS</a:t>
            </a:r>
          </a:p>
        </p:txBody>
      </p:sp>
      <p:sp>
        <p:nvSpPr>
          <p:cNvPr id="46" name="TextBox 45">
            <a:extLst>
              <a:ext uri="{FF2B5EF4-FFF2-40B4-BE49-F238E27FC236}">
                <a16:creationId xmlns:a16="http://schemas.microsoft.com/office/drawing/2014/main" id="{DB9068E3-4023-4625-1C30-A13B21266140}"/>
              </a:ext>
            </a:extLst>
          </p:cNvPr>
          <p:cNvSpPr txBox="1"/>
          <p:nvPr/>
        </p:nvSpPr>
        <p:spPr>
          <a:xfrm>
            <a:off x="5994400" y="5092700"/>
            <a:ext cx="2692400" cy="10922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Evaluated on C# package migration and Python temporal edits needing changes to 2–97 files; closer to ground truth than the baselines.</a:t>
            </a:r>
            <a:endParaRPr lang="en-IN" sz="950">
              <a:solidFill>
                <a:srgbClr val="B3BDCF"/>
              </a:solidFill>
              <a:latin typeface="Segoe UI" panose="020B0502040204020203" pitchFamily="34" charset="0"/>
            </a:endParaRPr>
          </a:p>
        </p:txBody>
      </p:sp>
      <p:cxnSp>
        <p:nvCxnSpPr>
          <p:cNvPr id="47" name="Straight Connector 46">
            <a:extLst>
              <a:ext uri="{FF2B5EF4-FFF2-40B4-BE49-F238E27FC236}">
                <a16:creationId xmlns:a16="http://schemas.microsoft.com/office/drawing/2014/main" id="{2D4DF08E-A797-9D28-D51F-EA41C3461EFF}"/>
              </a:ext>
            </a:extLst>
          </p:cNvPr>
          <p:cNvCxnSpPr/>
          <p:nvPr/>
        </p:nvCxnSpPr>
        <p:spPr>
          <a:xfrm>
            <a:off x="8763000" y="4902200"/>
            <a:ext cx="0" cy="12192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42677CBD-4F5B-D3D4-B60E-95095D5F9085}"/>
              </a:ext>
            </a:extLst>
          </p:cNvPr>
          <p:cNvSpPr txBox="1"/>
          <p:nvPr/>
        </p:nvSpPr>
        <p:spPr>
          <a:xfrm>
            <a:off x="8864600" y="49022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LIMITATION / GAP</a:t>
            </a:r>
          </a:p>
        </p:txBody>
      </p:sp>
      <p:sp>
        <p:nvSpPr>
          <p:cNvPr id="49" name="TextBox 48">
            <a:extLst>
              <a:ext uri="{FF2B5EF4-FFF2-40B4-BE49-F238E27FC236}">
                <a16:creationId xmlns:a16="http://schemas.microsoft.com/office/drawing/2014/main" id="{43F094B4-18C3-1266-BC15-9E80908E3970}"/>
              </a:ext>
            </a:extLst>
          </p:cNvPr>
          <p:cNvSpPr txBox="1"/>
          <p:nvPr/>
        </p:nvSpPr>
        <p:spPr>
          <a:xfrm>
            <a:off x="8864600" y="5092700"/>
            <a:ext cx="2692400" cy="10922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Gap for OneForAll: targets edit propagation; no requirement context, defect-risk signal or multi-tenant authorization.</a:t>
            </a:r>
            <a:endParaRPr lang="en-IN" sz="950">
              <a:solidFill>
                <a:srgbClr val="B3BDCF"/>
              </a:solidFill>
              <a:latin typeface="Segoe UI" panose="020B0502040204020203" pitchFamily="34" charset="0"/>
            </a:endParaRPr>
          </a:p>
        </p:txBody>
      </p:sp>
    </p:spTree>
    <p:extLst>
      <p:ext uri="{BB962C8B-B14F-4D97-AF65-F5344CB8AC3E}">
        <p14:creationId xmlns:p14="http://schemas.microsoft.com/office/powerpoint/2010/main" val="1228450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C5044F-664E-CF63-EF14-F5B2365384D5}"/>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07  ·  LITERATURE REVIEW (2/2)</a:t>
            </a:r>
          </a:p>
        </p:txBody>
      </p:sp>
      <p:sp>
        <p:nvSpPr>
          <p:cNvPr id="3" name="TextBox 2">
            <a:extLst>
              <a:ext uri="{FF2B5EF4-FFF2-40B4-BE49-F238E27FC236}">
                <a16:creationId xmlns:a16="http://schemas.microsoft.com/office/drawing/2014/main" id="{8D639EF3-D99D-AB22-6E37-95CEEA1D9C9A}"/>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US" sz="2200">
                <a:solidFill>
                  <a:srgbClr val="F1F4F9"/>
                </a:solidFill>
                <a:latin typeface="Segoe UI Semibold" panose="020B0702040204020203" pitchFamily="34" charset="0"/>
              </a:rPr>
              <a:t>Literature Review — Defect Risk and Explanation</a:t>
            </a:r>
            <a:endParaRPr lang="en-IN" sz="2200">
              <a:solidFill>
                <a:srgbClr val="F1F4F9"/>
              </a:solidFill>
              <a:latin typeface="Segoe UI Semibold" panose="020B0702040204020203" pitchFamily="34" charset="0"/>
            </a:endParaRPr>
          </a:p>
        </p:txBody>
      </p:sp>
      <p:sp>
        <p:nvSpPr>
          <p:cNvPr id="4" name="TextBox 3">
            <a:extLst>
              <a:ext uri="{FF2B5EF4-FFF2-40B4-BE49-F238E27FC236}">
                <a16:creationId xmlns:a16="http://schemas.microsoft.com/office/drawing/2014/main" id="{C4F8A0B4-C16A-A748-FC15-BB07B78D1CF8}"/>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Two core papers on predicting and explaining risky changes, plus supporting work.</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0D23C8B2-EDF1-DB09-9C8A-899502B18533}"/>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1F19C81-72EC-9E77-05B8-00AB43CCFD1C}"/>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4D02FE25-E1C5-17B3-F1F8-9D2A0F4DA490}"/>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07 / 20</a:t>
            </a:r>
          </a:p>
        </p:txBody>
      </p:sp>
      <p:sp>
        <p:nvSpPr>
          <p:cNvPr id="8" name="Rectangle: Rounded Corners 7">
            <a:extLst>
              <a:ext uri="{FF2B5EF4-FFF2-40B4-BE49-F238E27FC236}">
                <a16:creationId xmlns:a16="http://schemas.microsoft.com/office/drawing/2014/main" id="{1F2A8A54-8D54-57DC-4F3B-96341ADA217C}"/>
              </a:ext>
            </a:extLst>
          </p:cNvPr>
          <p:cNvSpPr/>
          <p:nvPr/>
        </p:nvSpPr>
        <p:spPr>
          <a:xfrm>
            <a:off x="508000" y="1168400"/>
            <a:ext cx="11176000" cy="1625600"/>
          </a:xfrm>
          <a:prstGeom prst="roundRect">
            <a:avLst>
              <a:gd name="adj" fmla="val 625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2CBD7B8B-8B78-7A84-50A9-E6DA3C163A80}"/>
              </a:ext>
            </a:extLst>
          </p:cNvPr>
          <p:cNvSpPr/>
          <p:nvPr/>
        </p:nvSpPr>
        <p:spPr>
          <a:xfrm>
            <a:off x="685800" y="1320800"/>
            <a:ext cx="330200" cy="190500"/>
          </a:xfrm>
          <a:prstGeom prst="roundRect">
            <a:avLst>
              <a:gd name="adj" fmla="val 26667"/>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8B9BFF"/>
                </a:solidFill>
                <a:latin typeface="Segoe UI Semibold" panose="020B0702040204020203" pitchFamily="34" charset="0"/>
              </a:rPr>
              <a:t>[4]</a:t>
            </a:r>
          </a:p>
        </p:txBody>
      </p:sp>
      <p:sp>
        <p:nvSpPr>
          <p:cNvPr id="10" name="Rectangle: Rounded Corners 9">
            <a:extLst>
              <a:ext uri="{FF2B5EF4-FFF2-40B4-BE49-F238E27FC236}">
                <a16:creationId xmlns:a16="http://schemas.microsoft.com/office/drawing/2014/main" id="{D12ED02F-86BE-C34B-C2E4-FC68BA017CD6}"/>
              </a:ext>
            </a:extLst>
          </p:cNvPr>
          <p:cNvSpPr/>
          <p:nvPr/>
        </p:nvSpPr>
        <p:spPr>
          <a:xfrm>
            <a:off x="1092200" y="1320800"/>
            <a:ext cx="939800" cy="190500"/>
          </a:xfrm>
          <a:prstGeom prst="roundRect">
            <a:avLst>
              <a:gd name="adj" fmla="val 26667"/>
            </a:avLst>
          </a:prstGeom>
          <a:solidFill>
            <a:srgbClr val="33270F"/>
          </a:solidFill>
          <a:ln w="9525">
            <a:solidFill>
              <a:srgbClr val="B07A2A"/>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spc="80">
                <a:solidFill>
                  <a:srgbClr val="F1A73B"/>
                </a:solidFill>
                <a:latin typeface="Segoe UI Semibold" panose="020B0702040204020203" pitchFamily="34" charset="0"/>
              </a:rPr>
              <a:t>PREDICT</a:t>
            </a:r>
          </a:p>
        </p:txBody>
      </p:sp>
      <p:sp>
        <p:nvSpPr>
          <p:cNvPr id="11" name="TextBox 10">
            <a:extLst>
              <a:ext uri="{FF2B5EF4-FFF2-40B4-BE49-F238E27FC236}">
                <a16:creationId xmlns:a16="http://schemas.microsoft.com/office/drawing/2014/main" id="{F320F327-9162-9E45-7C22-4176C4C926D6}"/>
              </a:ext>
            </a:extLst>
          </p:cNvPr>
          <p:cNvSpPr txBox="1"/>
          <p:nvPr/>
        </p:nvSpPr>
        <p:spPr>
          <a:xfrm>
            <a:off x="685800" y="1600200"/>
            <a:ext cx="2260600" cy="584200"/>
          </a:xfrm>
          <a:prstGeom prst="rect">
            <a:avLst/>
          </a:prstGeom>
          <a:noFill/>
        </p:spPr>
        <p:txBody>
          <a:bodyPr vert="horz" wrap="square" lIns="0" tIns="0" rIns="0" bIns="0" rtlCol="0" anchor="t">
            <a:noAutofit/>
          </a:bodyPr>
          <a:lstStyle/>
          <a:p>
            <a:r>
              <a:rPr lang="en-US" sz="1050">
                <a:solidFill>
                  <a:srgbClr val="F1F4F9"/>
                </a:solidFill>
                <a:latin typeface="Segoe UI Semibold" panose="020B0702040204020203" pitchFamily="34" charset="0"/>
              </a:rPr>
              <a:t>Just-In-Time Software Defect Prediction via Bi-modal Change Representation Learning</a:t>
            </a:r>
            <a:endParaRPr lang="en-IN" sz="1050">
              <a:solidFill>
                <a:srgbClr val="F1F4F9"/>
              </a:solidFill>
              <a:latin typeface="Segoe UI Semibold" panose="020B0702040204020203" pitchFamily="34" charset="0"/>
            </a:endParaRPr>
          </a:p>
        </p:txBody>
      </p:sp>
      <p:sp>
        <p:nvSpPr>
          <p:cNvPr id="12" name="TextBox 11">
            <a:extLst>
              <a:ext uri="{FF2B5EF4-FFF2-40B4-BE49-F238E27FC236}">
                <a16:creationId xmlns:a16="http://schemas.microsoft.com/office/drawing/2014/main" id="{52997E86-D8BA-67A5-3804-C23B735CB4EA}"/>
              </a:ext>
            </a:extLst>
          </p:cNvPr>
          <p:cNvSpPr txBox="1"/>
          <p:nvPr/>
        </p:nvSpPr>
        <p:spPr>
          <a:xfrm>
            <a:off x="685800" y="2286000"/>
            <a:ext cx="2260600" cy="406400"/>
          </a:xfrm>
          <a:prstGeom prst="rect">
            <a:avLst/>
          </a:prstGeom>
          <a:noFill/>
        </p:spPr>
        <p:txBody>
          <a:bodyPr vert="horz" wrap="square" lIns="0" tIns="0" rIns="0" bIns="0" rtlCol="0" anchor="b">
            <a:noAutofit/>
          </a:bodyPr>
          <a:lstStyle/>
          <a:p>
            <a:r>
              <a:rPr lang="en-IN" sz="800">
                <a:solidFill>
                  <a:srgbClr val="78849A"/>
                </a:solidFill>
                <a:latin typeface="Segoe UI" panose="020B0502040204020203" pitchFamily="34" charset="0"/>
              </a:rPr>
              <a:t>Jiang, Shen, Gu  ·  J. Syst. Softw. 219, 2025</a:t>
            </a:r>
          </a:p>
        </p:txBody>
      </p:sp>
      <p:cxnSp>
        <p:nvCxnSpPr>
          <p:cNvPr id="13" name="Straight Connector 12">
            <a:extLst>
              <a:ext uri="{FF2B5EF4-FFF2-40B4-BE49-F238E27FC236}">
                <a16:creationId xmlns:a16="http://schemas.microsoft.com/office/drawing/2014/main" id="{FE1E3273-3C52-629E-7908-2DEFA38F0A09}"/>
              </a:ext>
            </a:extLst>
          </p:cNvPr>
          <p:cNvCxnSpPr/>
          <p:nvPr/>
        </p:nvCxnSpPr>
        <p:spPr>
          <a:xfrm>
            <a:off x="3022600" y="1320800"/>
            <a:ext cx="0" cy="13208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699AE53-3EDA-D0FD-8ECA-F6E12DC9D459}"/>
              </a:ext>
            </a:extLst>
          </p:cNvPr>
          <p:cNvSpPr txBox="1"/>
          <p:nvPr/>
        </p:nvSpPr>
        <p:spPr>
          <a:xfrm>
            <a:off x="3124200" y="13208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CORE IDEA</a:t>
            </a:r>
          </a:p>
        </p:txBody>
      </p:sp>
      <p:sp>
        <p:nvSpPr>
          <p:cNvPr id="15" name="TextBox 14">
            <a:extLst>
              <a:ext uri="{FF2B5EF4-FFF2-40B4-BE49-F238E27FC236}">
                <a16:creationId xmlns:a16="http://schemas.microsoft.com/office/drawing/2014/main" id="{7837F44F-C7E4-0D4D-E2EA-7834CF300D73}"/>
              </a:ext>
            </a:extLst>
          </p:cNvPr>
          <p:cNvSpPr txBox="1"/>
          <p:nvPr/>
        </p:nvSpPr>
        <p:spPr>
          <a:xfrm>
            <a:off x="3124200" y="1511300"/>
            <a:ext cx="2692400" cy="11938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BiCC-BERT is pre-trained on code changes and commit messages with a Replaced Message Identification objective, learning bi-modal change representations.</a:t>
            </a:r>
            <a:endParaRPr lang="en-IN" sz="950">
              <a:solidFill>
                <a:srgbClr val="B3BDCF"/>
              </a:solidFill>
              <a:latin typeface="Segoe UI" panose="020B0502040204020203" pitchFamily="34" charset="0"/>
            </a:endParaRPr>
          </a:p>
        </p:txBody>
      </p:sp>
      <p:cxnSp>
        <p:nvCxnSpPr>
          <p:cNvPr id="16" name="Straight Connector 15">
            <a:extLst>
              <a:ext uri="{FF2B5EF4-FFF2-40B4-BE49-F238E27FC236}">
                <a16:creationId xmlns:a16="http://schemas.microsoft.com/office/drawing/2014/main" id="{5E0EB861-C408-E0A7-FA10-67479A45BDC4}"/>
              </a:ext>
            </a:extLst>
          </p:cNvPr>
          <p:cNvCxnSpPr/>
          <p:nvPr/>
        </p:nvCxnSpPr>
        <p:spPr>
          <a:xfrm>
            <a:off x="5892800" y="1320800"/>
            <a:ext cx="0" cy="13208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10A001D-1275-ED1D-BA10-F4C94FD3ABFB}"/>
              </a:ext>
            </a:extLst>
          </p:cNvPr>
          <p:cNvSpPr txBox="1"/>
          <p:nvPr/>
        </p:nvSpPr>
        <p:spPr>
          <a:xfrm>
            <a:off x="5994400" y="13208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CONTRIBUTION / FINDINGS</a:t>
            </a:r>
          </a:p>
        </p:txBody>
      </p:sp>
      <p:sp>
        <p:nvSpPr>
          <p:cNvPr id="18" name="TextBox 17">
            <a:extLst>
              <a:ext uri="{FF2B5EF4-FFF2-40B4-BE49-F238E27FC236}">
                <a16:creationId xmlns:a16="http://schemas.microsoft.com/office/drawing/2014/main" id="{AE82E5F8-A941-CAE3-93FF-A0BBE4179894}"/>
              </a:ext>
            </a:extLst>
          </p:cNvPr>
          <p:cNvSpPr txBox="1"/>
          <p:nvPr/>
        </p:nvSpPr>
        <p:spPr>
          <a:xfrm>
            <a:off x="5994400" y="1511300"/>
            <a:ext cx="2692400" cy="11938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JIT-BiCC fuses these representations with 14 expert change metrics in an MLP classifier; reports a 10.8% F1 improvement over eight baselines on 27,391 changes.</a:t>
            </a:r>
            <a:endParaRPr lang="en-IN" sz="950">
              <a:solidFill>
                <a:srgbClr val="B3BDCF"/>
              </a:solidFill>
              <a:latin typeface="Segoe UI" panose="020B0502040204020203" pitchFamily="34" charset="0"/>
            </a:endParaRPr>
          </a:p>
        </p:txBody>
      </p:sp>
      <p:cxnSp>
        <p:nvCxnSpPr>
          <p:cNvPr id="19" name="Straight Connector 18">
            <a:extLst>
              <a:ext uri="{FF2B5EF4-FFF2-40B4-BE49-F238E27FC236}">
                <a16:creationId xmlns:a16="http://schemas.microsoft.com/office/drawing/2014/main" id="{76B202B7-6670-62AB-3140-49F994607877}"/>
              </a:ext>
            </a:extLst>
          </p:cNvPr>
          <p:cNvCxnSpPr/>
          <p:nvPr/>
        </p:nvCxnSpPr>
        <p:spPr>
          <a:xfrm>
            <a:off x="8763000" y="1320800"/>
            <a:ext cx="0" cy="13208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3F08521-5D17-5220-DD96-C0E53B85A58B}"/>
              </a:ext>
            </a:extLst>
          </p:cNvPr>
          <p:cNvSpPr txBox="1"/>
          <p:nvPr/>
        </p:nvSpPr>
        <p:spPr>
          <a:xfrm>
            <a:off x="8864600" y="13208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LIMITATION / GAP</a:t>
            </a:r>
          </a:p>
        </p:txBody>
      </p:sp>
      <p:sp>
        <p:nvSpPr>
          <p:cNvPr id="21" name="TextBox 20">
            <a:extLst>
              <a:ext uri="{FF2B5EF4-FFF2-40B4-BE49-F238E27FC236}">
                <a16:creationId xmlns:a16="http://schemas.microsoft.com/office/drawing/2014/main" id="{D33EEAFE-4A25-7351-4779-8E3F0A18BB6B}"/>
              </a:ext>
            </a:extLst>
          </p:cNvPr>
          <p:cNvSpPr txBox="1"/>
          <p:nvPr/>
        </p:nvSpPr>
        <p:spPr>
          <a:xfrm>
            <a:off x="8864600" y="1511300"/>
            <a:ext cx="2692400" cy="11938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Gap for OneForAll: predicts per-commit risk only; explaining individual predictions and project context are outside its focus.</a:t>
            </a:r>
            <a:endParaRPr lang="en-IN" sz="950">
              <a:solidFill>
                <a:srgbClr val="B3BDCF"/>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407A128A-9EED-022D-84BF-FF9BD76E1918}"/>
              </a:ext>
            </a:extLst>
          </p:cNvPr>
          <p:cNvSpPr/>
          <p:nvPr/>
        </p:nvSpPr>
        <p:spPr>
          <a:xfrm>
            <a:off x="508000" y="2895600"/>
            <a:ext cx="11176000" cy="1625600"/>
          </a:xfrm>
          <a:prstGeom prst="roundRect">
            <a:avLst>
              <a:gd name="adj" fmla="val 625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8BB6B498-B744-B0F0-370C-8BB5C0C2E38B}"/>
              </a:ext>
            </a:extLst>
          </p:cNvPr>
          <p:cNvSpPr/>
          <p:nvPr/>
        </p:nvSpPr>
        <p:spPr>
          <a:xfrm>
            <a:off x="685800" y="3048000"/>
            <a:ext cx="330200" cy="190500"/>
          </a:xfrm>
          <a:prstGeom prst="roundRect">
            <a:avLst>
              <a:gd name="adj" fmla="val 26667"/>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8B9BFF"/>
                </a:solidFill>
                <a:latin typeface="Segoe UI Semibold" panose="020B0702040204020203" pitchFamily="34" charset="0"/>
              </a:rPr>
              <a:t>[5]</a:t>
            </a:r>
          </a:p>
        </p:txBody>
      </p:sp>
      <p:sp>
        <p:nvSpPr>
          <p:cNvPr id="24" name="Rectangle: Rounded Corners 23">
            <a:extLst>
              <a:ext uri="{FF2B5EF4-FFF2-40B4-BE49-F238E27FC236}">
                <a16:creationId xmlns:a16="http://schemas.microsoft.com/office/drawing/2014/main" id="{125ACCA7-AE2B-A336-F917-2ED5C2F3DEC5}"/>
              </a:ext>
            </a:extLst>
          </p:cNvPr>
          <p:cNvSpPr/>
          <p:nvPr/>
        </p:nvSpPr>
        <p:spPr>
          <a:xfrm>
            <a:off x="1092200" y="3048000"/>
            <a:ext cx="939800" cy="190500"/>
          </a:xfrm>
          <a:prstGeom prst="roundRect">
            <a:avLst>
              <a:gd name="adj" fmla="val 26667"/>
            </a:avLst>
          </a:prstGeom>
          <a:solidFill>
            <a:srgbClr val="33270F"/>
          </a:solidFill>
          <a:ln w="9525">
            <a:solidFill>
              <a:srgbClr val="B07A2A"/>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spc="80">
                <a:solidFill>
                  <a:srgbClr val="F1A73B"/>
                </a:solidFill>
                <a:latin typeface="Segoe UI Semibold" panose="020B0702040204020203" pitchFamily="34" charset="0"/>
              </a:rPr>
              <a:t>EXPLAIN</a:t>
            </a:r>
          </a:p>
        </p:txBody>
      </p:sp>
      <p:sp>
        <p:nvSpPr>
          <p:cNvPr id="25" name="TextBox 24">
            <a:extLst>
              <a:ext uri="{FF2B5EF4-FFF2-40B4-BE49-F238E27FC236}">
                <a16:creationId xmlns:a16="http://schemas.microsoft.com/office/drawing/2014/main" id="{D53490A6-1A43-56F8-B08A-9604086A0C94}"/>
              </a:ext>
            </a:extLst>
          </p:cNvPr>
          <p:cNvSpPr txBox="1"/>
          <p:nvPr/>
        </p:nvSpPr>
        <p:spPr>
          <a:xfrm>
            <a:off x="685800" y="3327400"/>
            <a:ext cx="2260600" cy="584200"/>
          </a:xfrm>
          <a:prstGeom prst="rect">
            <a:avLst/>
          </a:prstGeom>
          <a:noFill/>
        </p:spPr>
        <p:txBody>
          <a:bodyPr vert="horz" wrap="square" lIns="0" tIns="0" rIns="0" bIns="0" rtlCol="0" anchor="t">
            <a:noAutofit/>
          </a:bodyPr>
          <a:lstStyle/>
          <a:p>
            <a:r>
              <a:rPr lang="en-US" sz="1050">
                <a:solidFill>
                  <a:srgbClr val="F1F4F9"/>
                </a:solidFill>
                <a:latin typeface="Segoe UI Semibold" panose="020B0702040204020203" pitchFamily="34" charset="0"/>
              </a:rPr>
              <a:t>A Formal Explainer for Just-In-Time Defect Predictions (FoX)</a:t>
            </a:r>
            <a:endParaRPr lang="en-IN" sz="1050">
              <a:solidFill>
                <a:srgbClr val="F1F4F9"/>
              </a:solidFill>
              <a:latin typeface="Segoe UI Semibold" panose="020B0702040204020203" pitchFamily="34" charset="0"/>
            </a:endParaRPr>
          </a:p>
        </p:txBody>
      </p:sp>
      <p:sp>
        <p:nvSpPr>
          <p:cNvPr id="26" name="TextBox 25">
            <a:extLst>
              <a:ext uri="{FF2B5EF4-FFF2-40B4-BE49-F238E27FC236}">
                <a16:creationId xmlns:a16="http://schemas.microsoft.com/office/drawing/2014/main" id="{A61AA030-1508-05F5-E52D-E27D4A043DC3}"/>
              </a:ext>
            </a:extLst>
          </p:cNvPr>
          <p:cNvSpPr txBox="1"/>
          <p:nvPr/>
        </p:nvSpPr>
        <p:spPr>
          <a:xfrm>
            <a:off x="685800" y="4013200"/>
            <a:ext cx="2260600" cy="406400"/>
          </a:xfrm>
          <a:prstGeom prst="rect">
            <a:avLst/>
          </a:prstGeom>
          <a:noFill/>
        </p:spPr>
        <p:txBody>
          <a:bodyPr vert="horz" wrap="square" lIns="0" tIns="0" rIns="0" bIns="0" rtlCol="0" anchor="b">
            <a:noAutofit/>
          </a:bodyPr>
          <a:lstStyle/>
          <a:p>
            <a:r>
              <a:rPr lang="en-IN" sz="800">
                <a:solidFill>
                  <a:srgbClr val="78849A"/>
                </a:solidFill>
                <a:latin typeface="Segoe UI" panose="020B0502040204020203" pitchFamily="34" charset="0"/>
              </a:rPr>
              <a:t>Yu, Fu, Ignatiev, Tantithamthavorn, Stuckey  ·  ACM TOSEM 33(7), 2024</a:t>
            </a:r>
          </a:p>
        </p:txBody>
      </p:sp>
      <p:cxnSp>
        <p:nvCxnSpPr>
          <p:cNvPr id="27" name="Straight Connector 26">
            <a:extLst>
              <a:ext uri="{FF2B5EF4-FFF2-40B4-BE49-F238E27FC236}">
                <a16:creationId xmlns:a16="http://schemas.microsoft.com/office/drawing/2014/main" id="{11C5C07A-795C-2EFB-AFFD-9DB465838AE7}"/>
              </a:ext>
            </a:extLst>
          </p:cNvPr>
          <p:cNvCxnSpPr/>
          <p:nvPr/>
        </p:nvCxnSpPr>
        <p:spPr>
          <a:xfrm>
            <a:off x="3022600" y="3048000"/>
            <a:ext cx="0" cy="13208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487CDB9-8A56-92B1-59AA-EBD14FA431CE}"/>
              </a:ext>
            </a:extLst>
          </p:cNvPr>
          <p:cNvSpPr txBox="1"/>
          <p:nvPr/>
        </p:nvSpPr>
        <p:spPr>
          <a:xfrm>
            <a:off x="3124200" y="30480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CORE IDEA</a:t>
            </a:r>
          </a:p>
        </p:txBody>
      </p:sp>
      <p:sp>
        <p:nvSpPr>
          <p:cNvPr id="29" name="TextBox 28">
            <a:extLst>
              <a:ext uri="{FF2B5EF4-FFF2-40B4-BE49-F238E27FC236}">
                <a16:creationId xmlns:a16="http://schemas.microsoft.com/office/drawing/2014/main" id="{FB83BEE9-5EC3-774D-9C2A-3A59C4697410}"/>
              </a:ext>
            </a:extLst>
          </p:cNvPr>
          <p:cNvSpPr txBox="1"/>
          <p:nvPr/>
        </p:nvSpPr>
        <p:spPr>
          <a:xfrm>
            <a:off x="3124200" y="3238500"/>
            <a:ext cx="2692400" cy="11938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Uses formal reasoning about a JIT model's behaviour to give provably correct explanations of why a commit is predicted defective, guaranteed to be minimal.</a:t>
            </a:r>
            <a:endParaRPr lang="en-IN" sz="950">
              <a:solidFill>
                <a:srgbClr val="B3BDCF"/>
              </a:solidFill>
              <a:latin typeface="Segoe UI" panose="020B0502040204020203" pitchFamily="34" charset="0"/>
            </a:endParaRPr>
          </a:p>
        </p:txBody>
      </p:sp>
      <p:cxnSp>
        <p:nvCxnSpPr>
          <p:cNvPr id="30" name="Straight Connector 29">
            <a:extLst>
              <a:ext uri="{FF2B5EF4-FFF2-40B4-BE49-F238E27FC236}">
                <a16:creationId xmlns:a16="http://schemas.microsoft.com/office/drawing/2014/main" id="{8FC6B44D-D01B-2CEC-8E53-39C375CEA9DE}"/>
              </a:ext>
            </a:extLst>
          </p:cNvPr>
          <p:cNvCxnSpPr/>
          <p:nvPr/>
        </p:nvCxnSpPr>
        <p:spPr>
          <a:xfrm>
            <a:off x="5892800" y="3048000"/>
            <a:ext cx="0" cy="13208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91189A9-8C47-6B31-1D32-D7AEFA5B29D4}"/>
              </a:ext>
            </a:extLst>
          </p:cNvPr>
          <p:cNvSpPr txBox="1"/>
          <p:nvPr/>
        </p:nvSpPr>
        <p:spPr>
          <a:xfrm>
            <a:off x="5994400" y="30480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CONTRIBUTION / FINDINGS</a:t>
            </a:r>
          </a:p>
        </p:txBody>
      </p:sp>
      <p:sp>
        <p:nvSpPr>
          <p:cNvPr id="32" name="TextBox 31">
            <a:extLst>
              <a:ext uri="{FF2B5EF4-FFF2-40B4-BE49-F238E27FC236}">
                <a16:creationId xmlns:a16="http://schemas.microsoft.com/office/drawing/2014/main" id="{2ACED23A-5BC3-B1F9-C7E0-2F75886508AC}"/>
              </a:ext>
            </a:extLst>
          </p:cNvPr>
          <p:cNvSpPr txBox="1"/>
          <p:nvPr/>
        </p:nvSpPr>
        <p:spPr>
          <a:xfrm>
            <a:off x="5994400" y="3238500"/>
            <a:ext cx="2692400" cy="11938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Explanations shown to be correct, robust and actionable where model-agnostic techniques are not; 54-practitioner survey: 86% found it useful, 74% trustworthy.</a:t>
            </a:r>
            <a:endParaRPr lang="en-IN" sz="950">
              <a:solidFill>
                <a:srgbClr val="B3BDCF"/>
              </a:solidFill>
              <a:latin typeface="Segoe UI" panose="020B0502040204020203" pitchFamily="34" charset="0"/>
            </a:endParaRPr>
          </a:p>
        </p:txBody>
      </p:sp>
      <p:cxnSp>
        <p:nvCxnSpPr>
          <p:cNvPr id="33" name="Straight Connector 32">
            <a:extLst>
              <a:ext uri="{FF2B5EF4-FFF2-40B4-BE49-F238E27FC236}">
                <a16:creationId xmlns:a16="http://schemas.microsoft.com/office/drawing/2014/main" id="{5A2EA684-8445-F964-CA61-DF1F6DFC5F3E}"/>
              </a:ext>
            </a:extLst>
          </p:cNvPr>
          <p:cNvCxnSpPr/>
          <p:nvPr/>
        </p:nvCxnSpPr>
        <p:spPr>
          <a:xfrm>
            <a:off x="8763000" y="3048000"/>
            <a:ext cx="0" cy="13208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72F19DBC-81AB-DDF2-6BBD-91887FC92089}"/>
              </a:ext>
            </a:extLst>
          </p:cNvPr>
          <p:cNvSpPr txBox="1"/>
          <p:nvPr/>
        </p:nvSpPr>
        <p:spPr>
          <a:xfrm>
            <a:off x="8864600" y="3048000"/>
            <a:ext cx="2667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LIMITATION / GAP</a:t>
            </a:r>
          </a:p>
        </p:txBody>
      </p:sp>
      <p:sp>
        <p:nvSpPr>
          <p:cNvPr id="35" name="TextBox 34">
            <a:extLst>
              <a:ext uri="{FF2B5EF4-FFF2-40B4-BE49-F238E27FC236}">
                <a16:creationId xmlns:a16="http://schemas.microsoft.com/office/drawing/2014/main" id="{1FDE3E49-6C13-D6D5-AAA7-C7603050E303}"/>
              </a:ext>
            </a:extLst>
          </p:cNvPr>
          <p:cNvSpPr txBox="1"/>
          <p:nvPr/>
        </p:nvSpPr>
        <p:spPr>
          <a:xfrm>
            <a:off x="8864600" y="3238500"/>
            <a:ext cx="2692400" cy="11938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Gap for OneForAll: explains an existing JIT model; it is not a predictor and is not integrated into a team's workflow.</a:t>
            </a:r>
            <a:endParaRPr lang="en-IN" sz="950">
              <a:solidFill>
                <a:srgbClr val="B3BDCF"/>
              </a:solidFill>
              <a:latin typeface="Segoe UI" panose="020B0502040204020203" pitchFamily="34" charset="0"/>
            </a:endParaRPr>
          </a:p>
        </p:txBody>
      </p:sp>
      <p:sp>
        <p:nvSpPr>
          <p:cNvPr id="36" name="Rectangle: Rounded Corners 35">
            <a:extLst>
              <a:ext uri="{FF2B5EF4-FFF2-40B4-BE49-F238E27FC236}">
                <a16:creationId xmlns:a16="http://schemas.microsoft.com/office/drawing/2014/main" id="{1EE10349-F22E-A6CD-832D-8AFB79D21A86}"/>
              </a:ext>
            </a:extLst>
          </p:cNvPr>
          <p:cNvSpPr/>
          <p:nvPr/>
        </p:nvSpPr>
        <p:spPr>
          <a:xfrm>
            <a:off x="508000" y="4648200"/>
            <a:ext cx="11176000" cy="1625600"/>
          </a:xfrm>
          <a:prstGeom prst="roundRect">
            <a:avLst>
              <a:gd name="adj" fmla="val 625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6545A63F-AB8B-DB21-CE19-935E9A3AA53E}"/>
              </a:ext>
            </a:extLst>
          </p:cNvPr>
          <p:cNvSpPr txBox="1"/>
          <p:nvPr/>
        </p:nvSpPr>
        <p:spPr>
          <a:xfrm>
            <a:off x="711200" y="4800600"/>
            <a:ext cx="5080000" cy="152400"/>
          </a:xfrm>
          <a:prstGeom prst="rect">
            <a:avLst/>
          </a:prstGeom>
          <a:noFill/>
        </p:spPr>
        <p:txBody>
          <a:bodyPr vert="horz" wrap="square" lIns="0" tIns="0" rIns="0" bIns="0" rtlCol="0" anchor="t">
            <a:noAutofit/>
          </a:bodyPr>
          <a:lstStyle/>
          <a:p>
            <a:r>
              <a:rPr lang="en-US" sz="750" spc="110">
                <a:solidFill>
                  <a:srgbClr val="78849A"/>
                </a:solidFill>
                <a:latin typeface="Segoe UI Semibold" panose="020B0702040204020203" pitchFamily="34" charset="0"/>
              </a:rPr>
              <a:t>SUPPORTING REFERENCES (FROM THE ZEROTH REVIEW SURVEY)</a:t>
            </a:r>
            <a:endParaRPr lang="en-IN" sz="750" spc="110">
              <a:solidFill>
                <a:srgbClr val="78849A"/>
              </a:solidFill>
              <a:latin typeface="Segoe UI Semibold" panose="020B0702040204020203" pitchFamily="34" charset="0"/>
            </a:endParaRPr>
          </a:p>
        </p:txBody>
      </p:sp>
      <p:sp>
        <p:nvSpPr>
          <p:cNvPr id="38" name="TextBox 37">
            <a:extLst>
              <a:ext uri="{FF2B5EF4-FFF2-40B4-BE49-F238E27FC236}">
                <a16:creationId xmlns:a16="http://schemas.microsoft.com/office/drawing/2014/main" id="{F8A94DB1-95AC-CDB9-A48E-29274B93B9BB}"/>
              </a:ext>
            </a:extLst>
          </p:cNvPr>
          <p:cNvSpPr txBox="1"/>
          <p:nvPr/>
        </p:nvSpPr>
        <p:spPr>
          <a:xfrm>
            <a:off x="711200" y="5029200"/>
            <a:ext cx="5334000" cy="1219200"/>
          </a:xfrm>
          <a:prstGeom prst="rect">
            <a:avLst/>
          </a:prstGeom>
          <a:noFill/>
        </p:spPr>
        <p:txBody>
          <a:bodyPr vert="horz" wrap="square" lIns="0" tIns="0" rIns="0" bIns="0" rtlCol="0">
            <a:noAutofit/>
          </a:bodyPr>
          <a:lstStyle/>
          <a:p>
            <a:pPr>
              <a:spcAft>
                <a:spcPts val="400"/>
              </a:spcAft>
            </a:pPr>
            <a:r>
              <a:rPr lang="en-IN" sz="850">
                <a:solidFill>
                  <a:srgbClr val="F1F4F9"/>
                </a:solidFill>
                <a:latin typeface="Segoe UI Semibold" panose="020B0702040204020203" pitchFamily="34" charset="0"/>
              </a:rPr>
              <a:t>[6] RepoCoder</a:t>
            </a:r>
            <a:r>
              <a:rPr lang="en-IN" sz="850">
                <a:solidFill>
                  <a:srgbClr val="B3BDCF"/>
                </a:solidFill>
                <a:latin typeface="Segoe UI" panose="020B0502040204020203" pitchFamily="34" charset="0"/>
              </a:rPr>
              <a:t>  — iterative retrieval and generation for repository-level code completion (EMNLP 2023).</a:t>
            </a:r>
          </a:p>
          <a:p>
            <a:pPr>
              <a:spcAft>
                <a:spcPts val="400"/>
              </a:spcAft>
            </a:pPr>
            <a:r>
              <a:rPr lang="en-IN" sz="850">
                <a:solidFill>
                  <a:srgbClr val="F1F4F9"/>
                </a:solidFill>
                <a:latin typeface="Segoe UI Semibold" panose="020B0702040204020203" pitchFamily="34" charset="0"/>
              </a:rPr>
              <a:t>[7] SWE-bench</a:t>
            </a:r>
            <a:r>
              <a:rPr lang="en-IN" sz="850">
                <a:solidFill>
                  <a:srgbClr val="B3BDCF"/>
                </a:solidFill>
                <a:latin typeface="Segoe UI" panose="020B0502040204020203" pitchFamily="34" charset="0"/>
              </a:rPr>
              <a:t>  — benchmark of real GitHub issues for repository-level issue resolution (ICLR 2024).</a:t>
            </a:r>
          </a:p>
          <a:p>
            <a:pPr>
              <a:spcAft>
                <a:spcPts val="400"/>
              </a:spcAft>
            </a:pPr>
            <a:r>
              <a:rPr lang="en-IN" sz="850">
                <a:solidFill>
                  <a:srgbClr val="F1F4F9"/>
                </a:solidFill>
                <a:latin typeface="Segoe UI Semibold" panose="020B0702040204020203" pitchFamily="34" charset="0"/>
              </a:rPr>
              <a:t>[8] SWE-agent</a:t>
            </a:r>
            <a:r>
              <a:rPr lang="en-IN" sz="850">
                <a:solidFill>
                  <a:srgbClr val="B3BDCF"/>
                </a:solidFill>
                <a:latin typeface="Segoe UI" panose="020B0502040204020203" pitchFamily="34" charset="0"/>
              </a:rPr>
              <a:t>  — agent–computer interface for LLM agents working on repositories (NeurIPS 2024).</a:t>
            </a:r>
          </a:p>
          <a:p>
            <a:pPr>
              <a:spcAft>
                <a:spcPts val="400"/>
              </a:spcAft>
            </a:pPr>
            <a:r>
              <a:rPr lang="en-IN" sz="850">
                <a:solidFill>
                  <a:srgbClr val="F1F4F9"/>
                </a:solidFill>
                <a:latin typeface="Segoe UI Semibold" panose="020B0702040204020203" pitchFamily="34" charset="0"/>
              </a:rPr>
              <a:t>[9] CodeBERT</a:t>
            </a:r>
            <a:r>
              <a:rPr lang="en-IN" sz="850">
                <a:solidFill>
                  <a:srgbClr val="B3BDCF"/>
                </a:solidFill>
                <a:latin typeface="Segoe UI" panose="020B0502040204020203" pitchFamily="34" charset="0"/>
              </a:rPr>
              <a:t>  — bimodal pre-trained model for programming and natural language (Findings of EMNLP 2020).</a:t>
            </a:r>
          </a:p>
        </p:txBody>
      </p:sp>
      <p:sp>
        <p:nvSpPr>
          <p:cNvPr id="39" name="TextBox 38">
            <a:extLst>
              <a:ext uri="{FF2B5EF4-FFF2-40B4-BE49-F238E27FC236}">
                <a16:creationId xmlns:a16="http://schemas.microsoft.com/office/drawing/2014/main" id="{99465333-05C5-71C3-90BF-B1443D159D0C}"/>
              </a:ext>
            </a:extLst>
          </p:cNvPr>
          <p:cNvSpPr txBox="1"/>
          <p:nvPr/>
        </p:nvSpPr>
        <p:spPr>
          <a:xfrm>
            <a:off x="6248400" y="5029200"/>
            <a:ext cx="5283200" cy="1219200"/>
          </a:xfrm>
          <a:prstGeom prst="rect">
            <a:avLst/>
          </a:prstGeom>
          <a:noFill/>
        </p:spPr>
        <p:txBody>
          <a:bodyPr vert="horz" wrap="square" lIns="0" tIns="0" rIns="0" bIns="0" rtlCol="0">
            <a:noAutofit/>
          </a:bodyPr>
          <a:lstStyle/>
          <a:p>
            <a:pPr>
              <a:spcAft>
                <a:spcPts val="400"/>
              </a:spcAft>
            </a:pPr>
            <a:r>
              <a:rPr lang="en-IN" sz="850">
                <a:solidFill>
                  <a:srgbClr val="F1F4F9"/>
                </a:solidFill>
                <a:latin typeface="Segoe UI Semibold" panose="020B0702040204020203" pitchFamily="34" charset="0"/>
              </a:rPr>
              <a:t>[10] GraphCodeBERT</a:t>
            </a:r>
            <a:r>
              <a:rPr lang="en-IN" sz="850">
                <a:solidFill>
                  <a:srgbClr val="B3BDCF"/>
                </a:solidFill>
                <a:latin typeface="Segoe UI" panose="020B0502040204020203" pitchFamily="34" charset="0"/>
              </a:rPr>
              <a:t>  — pre-training code representations with data flow (ICLR 2021).</a:t>
            </a:r>
          </a:p>
          <a:p>
            <a:pPr>
              <a:spcAft>
                <a:spcPts val="400"/>
              </a:spcAft>
            </a:pPr>
            <a:r>
              <a:rPr lang="en-IN" sz="850">
                <a:solidFill>
                  <a:srgbClr val="F1F4F9"/>
                </a:solidFill>
                <a:latin typeface="Segoe UI Semibold" panose="020B0702040204020203" pitchFamily="34" charset="0"/>
              </a:rPr>
              <a:t>[11] Zeng et al.</a:t>
            </a:r>
            <a:r>
              <a:rPr lang="en-IN" sz="850">
                <a:solidFill>
                  <a:srgbClr val="B3BDCF"/>
                </a:solidFill>
                <a:latin typeface="Segoe UI" panose="020B0502040204020203" pitchFamily="34" charset="0"/>
              </a:rPr>
              <a:t>  — empirical study of deep just-in-time defect prediction versus simpler baselines (ISSTA 2021).</a:t>
            </a:r>
          </a:p>
          <a:p>
            <a:pPr>
              <a:spcAft>
                <a:spcPts val="400"/>
              </a:spcAft>
            </a:pPr>
            <a:r>
              <a:rPr lang="en-IN" sz="850">
                <a:solidFill>
                  <a:srgbClr val="F1F4F9"/>
                </a:solidFill>
                <a:latin typeface="Segoe UI Semibold" panose="020B0702040204020203" pitchFamily="34" charset="0"/>
              </a:rPr>
              <a:t>[12] Kamei et al.</a:t>
            </a:r>
            <a:r>
              <a:rPr lang="en-IN" sz="850">
                <a:solidFill>
                  <a:srgbClr val="B3BDCF"/>
                </a:solidFill>
                <a:latin typeface="Segoe UI" panose="020B0502040204020203" pitchFamily="34" charset="0"/>
              </a:rPr>
              <a:t>  — large-scale study of just-in-time quality assurance and change-level metrics (IEEE TSE 2013).</a:t>
            </a:r>
          </a:p>
        </p:txBody>
      </p:sp>
    </p:spTree>
    <p:extLst>
      <p:ext uri="{BB962C8B-B14F-4D97-AF65-F5344CB8AC3E}">
        <p14:creationId xmlns:p14="http://schemas.microsoft.com/office/powerpoint/2010/main" val="1849155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2AD051-5DA3-F4E8-B7CD-13378C216CBA}"/>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US" sz="750" spc="110">
                <a:solidFill>
                  <a:srgbClr val="8B9BFF"/>
                </a:solidFill>
                <a:latin typeface="Segoe UI Semibold" panose="020B0702040204020203" pitchFamily="34" charset="0"/>
              </a:rPr>
              <a:t>08  ·  RESEARCH GAP AND NOVELTY</a:t>
            </a:r>
            <a:endParaRPr lang="en-IN" sz="750" spc="110">
              <a:solidFill>
                <a:srgbClr val="8B9BFF"/>
              </a:solidFill>
              <a:latin typeface="Segoe UI Semibold" panose="020B0702040204020203" pitchFamily="34" charset="0"/>
            </a:endParaRPr>
          </a:p>
        </p:txBody>
      </p:sp>
      <p:sp>
        <p:nvSpPr>
          <p:cNvPr id="3" name="TextBox 2">
            <a:extLst>
              <a:ext uri="{FF2B5EF4-FFF2-40B4-BE49-F238E27FC236}">
                <a16:creationId xmlns:a16="http://schemas.microsoft.com/office/drawing/2014/main" id="{EA46B096-F7EB-D43F-FC12-7735678FAE45}"/>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US" sz="2200">
                <a:solidFill>
                  <a:srgbClr val="F1F4F9"/>
                </a:solidFill>
                <a:latin typeface="Segoe UI Semibold" panose="020B0702040204020203" pitchFamily="34" charset="0"/>
              </a:rPr>
              <a:t>Literature Insight and Research Gap</a:t>
            </a:r>
            <a:endParaRPr lang="en-IN" sz="2200">
              <a:solidFill>
                <a:srgbClr val="F1F4F9"/>
              </a:solidFill>
              <a:latin typeface="Segoe UI Semibold" panose="020B0702040204020203" pitchFamily="34" charset="0"/>
            </a:endParaRPr>
          </a:p>
        </p:txBody>
      </p:sp>
      <p:sp>
        <p:nvSpPr>
          <p:cNvPr id="4" name="TextBox 3">
            <a:extLst>
              <a:ext uri="{FF2B5EF4-FFF2-40B4-BE49-F238E27FC236}">
                <a16:creationId xmlns:a16="http://schemas.microsoft.com/office/drawing/2014/main" id="{09D83EFC-4876-1422-E468-062DAFCB810E}"/>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The five papers form one pipeline. Each solves one stage in isolation.</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A9D819D1-3F1F-326D-A279-E9210D5D5827}"/>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EA04E5C-0644-8162-13A6-0A7DC9E5BB98}"/>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4C756C6D-789E-7B1E-FF64-0FC6D2AFF177}"/>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08 / 20</a:t>
            </a:r>
          </a:p>
        </p:txBody>
      </p:sp>
      <p:sp>
        <p:nvSpPr>
          <p:cNvPr id="8" name="Rectangle: Rounded Corners 7">
            <a:extLst>
              <a:ext uri="{FF2B5EF4-FFF2-40B4-BE49-F238E27FC236}">
                <a16:creationId xmlns:a16="http://schemas.microsoft.com/office/drawing/2014/main" id="{5609E830-EE4D-9CC0-4070-EA662A21FDA1}"/>
              </a:ext>
            </a:extLst>
          </p:cNvPr>
          <p:cNvSpPr/>
          <p:nvPr/>
        </p:nvSpPr>
        <p:spPr>
          <a:xfrm>
            <a:off x="508000" y="1193800"/>
            <a:ext cx="2032000" cy="990600"/>
          </a:xfrm>
          <a:prstGeom prst="roundRect">
            <a:avLst>
              <a:gd name="adj" fmla="val 10256"/>
            </a:avLst>
          </a:prstGeom>
          <a:solidFill>
            <a:srgbClr val="111A2E"/>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260E75D-CA1A-435E-A642-6819DEE01552}"/>
              </a:ext>
            </a:extLst>
          </p:cNvPr>
          <p:cNvSpPr txBox="1"/>
          <p:nvPr/>
        </p:nvSpPr>
        <p:spPr>
          <a:xfrm>
            <a:off x="660400" y="1320800"/>
            <a:ext cx="1778000" cy="203200"/>
          </a:xfrm>
          <a:prstGeom prst="rect">
            <a:avLst/>
          </a:prstGeom>
          <a:noFill/>
        </p:spPr>
        <p:txBody>
          <a:bodyPr vert="horz" wrap="square" lIns="0" tIns="0" rIns="0" bIns="0" rtlCol="0" anchor="t">
            <a:noAutofit/>
          </a:bodyPr>
          <a:lstStyle/>
          <a:p>
            <a:r>
              <a:rPr lang="en-IN" sz="1250" spc="100">
                <a:solidFill>
                  <a:srgbClr val="F1F4F9"/>
                </a:solidFill>
                <a:latin typeface="Segoe UI Semibold" panose="020B0702040204020203" pitchFamily="34" charset="0"/>
              </a:rPr>
              <a:t>REPRESENT</a:t>
            </a:r>
          </a:p>
        </p:txBody>
      </p:sp>
      <p:sp>
        <p:nvSpPr>
          <p:cNvPr id="10" name="TextBox 9">
            <a:extLst>
              <a:ext uri="{FF2B5EF4-FFF2-40B4-BE49-F238E27FC236}">
                <a16:creationId xmlns:a16="http://schemas.microsoft.com/office/drawing/2014/main" id="{2F23F7E6-DD19-7280-FB61-2727DB844C6E}"/>
              </a:ext>
            </a:extLst>
          </p:cNvPr>
          <p:cNvSpPr txBox="1"/>
          <p:nvPr/>
        </p:nvSpPr>
        <p:spPr>
          <a:xfrm>
            <a:off x="660400" y="1574800"/>
            <a:ext cx="1778000" cy="177800"/>
          </a:xfrm>
          <a:prstGeom prst="rect">
            <a:avLst/>
          </a:prstGeom>
          <a:noFill/>
        </p:spPr>
        <p:txBody>
          <a:bodyPr vert="horz" wrap="square" lIns="0" tIns="0" rIns="0" bIns="0" rtlCol="0" anchor="t">
            <a:noAutofit/>
          </a:bodyPr>
          <a:lstStyle/>
          <a:p>
            <a:r>
              <a:rPr lang="en-IN" sz="950">
                <a:solidFill>
                  <a:srgbClr val="8B9BFF"/>
                </a:solidFill>
                <a:latin typeface="Segoe UI Semibold" panose="020B0702040204020203" pitchFamily="34" charset="0"/>
              </a:rPr>
              <a:t>RepoGraph [1]</a:t>
            </a:r>
          </a:p>
        </p:txBody>
      </p:sp>
      <p:sp>
        <p:nvSpPr>
          <p:cNvPr id="11" name="TextBox 10">
            <a:extLst>
              <a:ext uri="{FF2B5EF4-FFF2-40B4-BE49-F238E27FC236}">
                <a16:creationId xmlns:a16="http://schemas.microsoft.com/office/drawing/2014/main" id="{23E0C374-1981-C067-2B6C-202DECA4B80A}"/>
              </a:ext>
            </a:extLst>
          </p:cNvPr>
          <p:cNvSpPr txBox="1"/>
          <p:nvPr/>
        </p:nvSpPr>
        <p:spPr>
          <a:xfrm>
            <a:off x="660400" y="1790700"/>
            <a:ext cx="1778000" cy="177800"/>
          </a:xfrm>
          <a:prstGeom prst="rect">
            <a:avLst/>
          </a:prstGeom>
          <a:noFill/>
        </p:spPr>
        <p:txBody>
          <a:bodyPr vert="horz" wrap="square" lIns="0" tIns="0" rIns="0" bIns="0" rtlCol="0" anchor="t">
            <a:noAutofit/>
          </a:bodyPr>
          <a:lstStyle/>
          <a:p>
            <a:r>
              <a:rPr lang="en-IN" sz="850">
                <a:solidFill>
                  <a:srgbClr val="B3BDCF"/>
                </a:solidFill>
                <a:latin typeface="Segoe UI" panose="020B0502040204020203" pitchFamily="34" charset="0"/>
              </a:rPr>
              <a:t>repository code graph</a:t>
            </a:r>
          </a:p>
        </p:txBody>
      </p:sp>
      <p:cxnSp>
        <p:nvCxnSpPr>
          <p:cNvPr id="12" name="Straight Connector 11">
            <a:extLst>
              <a:ext uri="{FF2B5EF4-FFF2-40B4-BE49-F238E27FC236}">
                <a16:creationId xmlns:a16="http://schemas.microsoft.com/office/drawing/2014/main" id="{B0564B41-8BF0-57B5-E913-E319B432EFC2}"/>
              </a:ext>
            </a:extLst>
          </p:cNvPr>
          <p:cNvCxnSpPr/>
          <p:nvPr/>
        </p:nvCxnSpPr>
        <p:spPr>
          <a:xfrm>
            <a:off x="2565400" y="1689100"/>
            <a:ext cx="203200" cy="0"/>
          </a:xfrm>
          <a:prstGeom prst="line">
            <a:avLst/>
          </a:prstGeom>
          <a:ln w="19050">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FF9EB722-301F-53E3-B3BD-A6D222B52D57}"/>
              </a:ext>
            </a:extLst>
          </p:cNvPr>
          <p:cNvSpPr/>
          <p:nvPr/>
        </p:nvSpPr>
        <p:spPr>
          <a:xfrm>
            <a:off x="533400" y="2286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sp>
        <p:nvSpPr>
          <p:cNvPr id="14" name="TextBox 13">
            <a:extLst>
              <a:ext uri="{FF2B5EF4-FFF2-40B4-BE49-F238E27FC236}">
                <a16:creationId xmlns:a16="http://schemas.microsoft.com/office/drawing/2014/main" id="{D3A8D16F-86AB-1524-4AAA-5CB4309A767C}"/>
              </a:ext>
            </a:extLst>
          </p:cNvPr>
          <p:cNvSpPr txBox="1"/>
          <p:nvPr/>
        </p:nvSpPr>
        <p:spPr>
          <a:xfrm>
            <a:off x="533400" y="2501900"/>
            <a:ext cx="1981200" cy="330200"/>
          </a:xfrm>
          <a:prstGeom prst="rect">
            <a:avLst/>
          </a:prstGeom>
          <a:noFill/>
        </p:spPr>
        <p:txBody>
          <a:bodyPr vert="horz" wrap="square" lIns="0" tIns="0" rIns="0" bIns="0" rtlCol="0" anchor="t">
            <a:noAutofit/>
          </a:bodyPr>
          <a:lstStyle/>
          <a:p>
            <a:r>
              <a:rPr lang="en-US" sz="800">
                <a:solidFill>
                  <a:srgbClr val="78849A"/>
                </a:solidFill>
                <a:latin typeface="Segoe UI" panose="020B0502040204020203" pitchFamily="34" charset="0"/>
              </a:rPr>
              <a:t>OneForAll: Foundation: symbols and relationships from ASTs (2H)</a:t>
            </a:r>
            <a:endParaRPr lang="en-IN" sz="800">
              <a:solidFill>
                <a:srgbClr val="78849A"/>
              </a:solidFill>
              <a:latin typeface="Segoe UI" panose="020B0502040204020203" pitchFamily="34" charset="0"/>
            </a:endParaRPr>
          </a:p>
        </p:txBody>
      </p:sp>
      <p:sp>
        <p:nvSpPr>
          <p:cNvPr id="15" name="Rectangle: Rounded Corners 14">
            <a:extLst>
              <a:ext uri="{FF2B5EF4-FFF2-40B4-BE49-F238E27FC236}">
                <a16:creationId xmlns:a16="http://schemas.microsoft.com/office/drawing/2014/main" id="{B93ADD74-7FFE-3474-2E0E-94C2152A2679}"/>
              </a:ext>
            </a:extLst>
          </p:cNvPr>
          <p:cNvSpPr/>
          <p:nvPr/>
        </p:nvSpPr>
        <p:spPr>
          <a:xfrm>
            <a:off x="2794000" y="1193800"/>
            <a:ext cx="2032000" cy="990600"/>
          </a:xfrm>
          <a:prstGeom prst="roundRect">
            <a:avLst>
              <a:gd name="adj" fmla="val 10256"/>
            </a:avLst>
          </a:prstGeom>
          <a:solidFill>
            <a:srgbClr val="111A2E"/>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7DFBA35C-677C-06DF-FE56-E8C18154ABC1}"/>
              </a:ext>
            </a:extLst>
          </p:cNvPr>
          <p:cNvSpPr txBox="1"/>
          <p:nvPr/>
        </p:nvSpPr>
        <p:spPr>
          <a:xfrm>
            <a:off x="2946400" y="1320800"/>
            <a:ext cx="1778000" cy="203200"/>
          </a:xfrm>
          <a:prstGeom prst="rect">
            <a:avLst/>
          </a:prstGeom>
          <a:noFill/>
        </p:spPr>
        <p:txBody>
          <a:bodyPr vert="horz" wrap="square" lIns="0" tIns="0" rIns="0" bIns="0" rtlCol="0" anchor="t">
            <a:noAutofit/>
          </a:bodyPr>
          <a:lstStyle/>
          <a:p>
            <a:r>
              <a:rPr lang="en-IN" sz="1250" spc="100">
                <a:solidFill>
                  <a:srgbClr val="F1F4F9"/>
                </a:solidFill>
                <a:latin typeface="Segoe UI Semibold" panose="020B0702040204020203" pitchFamily="34" charset="0"/>
              </a:rPr>
              <a:t>UNDERSTAND</a:t>
            </a:r>
          </a:p>
        </p:txBody>
      </p:sp>
      <p:sp>
        <p:nvSpPr>
          <p:cNvPr id="17" name="TextBox 16">
            <a:extLst>
              <a:ext uri="{FF2B5EF4-FFF2-40B4-BE49-F238E27FC236}">
                <a16:creationId xmlns:a16="http://schemas.microsoft.com/office/drawing/2014/main" id="{F80BC5B0-F631-AED6-9A79-E160F5EC93D5}"/>
              </a:ext>
            </a:extLst>
          </p:cNvPr>
          <p:cNvSpPr txBox="1"/>
          <p:nvPr/>
        </p:nvSpPr>
        <p:spPr>
          <a:xfrm>
            <a:off x="2946400" y="1574800"/>
            <a:ext cx="1778000" cy="177800"/>
          </a:xfrm>
          <a:prstGeom prst="rect">
            <a:avLst/>
          </a:prstGeom>
          <a:noFill/>
        </p:spPr>
        <p:txBody>
          <a:bodyPr vert="horz" wrap="square" lIns="0" tIns="0" rIns="0" bIns="0" rtlCol="0" anchor="t">
            <a:noAutofit/>
          </a:bodyPr>
          <a:lstStyle/>
          <a:p>
            <a:r>
              <a:rPr lang="en-IN" sz="950">
                <a:solidFill>
                  <a:srgbClr val="8B9BFF"/>
                </a:solidFill>
                <a:latin typeface="Segoe UI Semibold" panose="020B0702040204020203" pitchFamily="34" charset="0"/>
              </a:rPr>
              <a:t>CGM [2]</a:t>
            </a:r>
          </a:p>
        </p:txBody>
      </p:sp>
      <p:sp>
        <p:nvSpPr>
          <p:cNvPr id="18" name="TextBox 17">
            <a:extLst>
              <a:ext uri="{FF2B5EF4-FFF2-40B4-BE49-F238E27FC236}">
                <a16:creationId xmlns:a16="http://schemas.microsoft.com/office/drawing/2014/main" id="{B5AE8208-0776-51BC-2DBC-8B467B0C258F}"/>
              </a:ext>
            </a:extLst>
          </p:cNvPr>
          <p:cNvSpPr txBox="1"/>
          <p:nvPr/>
        </p:nvSpPr>
        <p:spPr>
          <a:xfrm>
            <a:off x="2946400" y="1790700"/>
            <a:ext cx="1778000" cy="177800"/>
          </a:xfrm>
          <a:prstGeom prst="rect">
            <a:avLst/>
          </a:prstGeom>
          <a:noFill/>
        </p:spPr>
        <p:txBody>
          <a:bodyPr vert="horz" wrap="square" lIns="0" tIns="0" rIns="0" bIns="0" rtlCol="0" anchor="t">
            <a:noAutofit/>
          </a:bodyPr>
          <a:lstStyle/>
          <a:p>
            <a:r>
              <a:rPr lang="en-IN" sz="850">
                <a:solidFill>
                  <a:srgbClr val="B3BDCF"/>
                </a:solidFill>
                <a:latin typeface="Segoe UI" panose="020B0502040204020203" pitchFamily="34" charset="0"/>
              </a:rPr>
              <a:t>graph-integrated LLM</a:t>
            </a:r>
          </a:p>
        </p:txBody>
      </p:sp>
      <p:cxnSp>
        <p:nvCxnSpPr>
          <p:cNvPr id="19" name="Straight Connector 18">
            <a:extLst>
              <a:ext uri="{FF2B5EF4-FFF2-40B4-BE49-F238E27FC236}">
                <a16:creationId xmlns:a16="http://schemas.microsoft.com/office/drawing/2014/main" id="{C482F447-B4EF-311F-EAFA-E0CCB04C1178}"/>
              </a:ext>
            </a:extLst>
          </p:cNvPr>
          <p:cNvCxnSpPr/>
          <p:nvPr/>
        </p:nvCxnSpPr>
        <p:spPr>
          <a:xfrm>
            <a:off x="4851400" y="1689100"/>
            <a:ext cx="203200" cy="0"/>
          </a:xfrm>
          <a:prstGeom prst="line">
            <a:avLst/>
          </a:prstGeom>
          <a:ln w="19050">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DA79E90F-B89C-1968-EF7A-6D8E7FDC06A3}"/>
              </a:ext>
            </a:extLst>
          </p:cNvPr>
          <p:cNvSpPr/>
          <p:nvPr/>
        </p:nvSpPr>
        <p:spPr>
          <a:xfrm>
            <a:off x="2819400" y="22860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21" name="TextBox 20">
            <a:extLst>
              <a:ext uri="{FF2B5EF4-FFF2-40B4-BE49-F238E27FC236}">
                <a16:creationId xmlns:a16="http://schemas.microsoft.com/office/drawing/2014/main" id="{9F8092B5-4529-B667-DCC0-98D2B840416E}"/>
              </a:ext>
            </a:extLst>
          </p:cNvPr>
          <p:cNvSpPr txBox="1"/>
          <p:nvPr/>
        </p:nvSpPr>
        <p:spPr>
          <a:xfrm>
            <a:off x="2819400" y="2501900"/>
            <a:ext cx="1981200" cy="330200"/>
          </a:xfrm>
          <a:prstGeom prst="rect">
            <a:avLst/>
          </a:prstGeom>
          <a:noFill/>
        </p:spPr>
        <p:txBody>
          <a:bodyPr vert="horz" wrap="square" lIns="0" tIns="0" rIns="0" bIns="0" rtlCol="0" anchor="t">
            <a:noAutofit/>
          </a:bodyPr>
          <a:lstStyle/>
          <a:p>
            <a:r>
              <a:rPr lang="en-IN" sz="800">
                <a:solidFill>
                  <a:srgbClr val="78849A"/>
                </a:solidFill>
                <a:latin typeface="Segoe UI" panose="020B0502040204020203" pitchFamily="34" charset="0"/>
              </a:rPr>
              <a:t>OneForAll: Context-grounded AI services</a:t>
            </a:r>
          </a:p>
        </p:txBody>
      </p:sp>
      <p:sp>
        <p:nvSpPr>
          <p:cNvPr id="22" name="Rectangle: Rounded Corners 21">
            <a:extLst>
              <a:ext uri="{FF2B5EF4-FFF2-40B4-BE49-F238E27FC236}">
                <a16:creationId xmlns:a16="http://schemas.microsoft.com/office/drawing/2014/main" id="{5F3C8073-07A1-75AA-C484-56326A934075}"/>
              </a:ext>
            </a:extLst>
          </p:cNvPr>
          <p:cNvSpPr/>
          <p:nvPr/>
        </p:nvSpPr>
        <p:spPr>
          <a:xfrm>
            <a:off x="5080000" y="1193800"/>
            <a:ext cx="2032000" cy="990600"/>
          </a:xfrm>
          <a:prstGeom prst="roundRect">
            <a:avLst>
              <a:gd name="adj" fmla="val 10256"/>
            </a:avLst>
          </a:prstGeom>
          <a:solidFill>
            <a:srgbClr val="111A2E"/>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7A5E3523-1C65-8E7B-C9DB-C7E17FDF2E98}"/>
              </a:ext>
            </a:extLst>
          </p:cNvPr>
          <p:cNvSpPr txBox="1"/>
          <p:nvPr/>
        </p:nvSpPr>
        <p:spPr>
          <a:xfrm>
            <a:off x="5232400" y="1320800"/>
            <a:ext cx="1778000" cy="203200"/>
          </a:xfrm>
          <a:prstGeom prst="rect">
            <a:avLst/>
          </a:prstGeom>
          <a:noFill/>
        </p:spPr>
        <p:txBody>
          <a:bodyPr vert="horz" wrap="square" lIns="0" tIns="0" rIns="0" bIns="0" rtlCol="0" anchor="t">
            <a:noAutofit/>
          </a:bodyPr>
          <a:lstStyle/>
          <a:p>
            <a:r>
              <a:rPr lang="en-IN" sz="1250" spc="100">
                <a:solidFill>
                  <a:srgbClr val="F1F4F9"/>
                </a:solidFill>
                <a:latin typeface="Segoe UI Semibold" panose="020B0702040204020203" pitchFamily="34" charset="0"/>
              </a:rPr>
              <a:t>PLAN</a:t>
            </a:r>
          </a:p>
        </p:txBody>
      </p:sp>
      <p:sp>
        <p:nvSpPr>
          <p:cNvPr id="24" name="TextBox 23">
            <a:extLst>
              <a:ext uri="{FF2B5EF4-FFF2-40B4-BE49-F238E27FC236}">
                <a16:creationId xmlns:a16="http://schemas.microsoft.com/office/drawing/2014/main" id="{9AE17EF1-2105-5110-0401-AA1407DCBF23}"/>
              </a:ext>
            </a:extLst>
          </p:cNvPr>
          <p:cNvSpPr txBox="1"/>
          <p:nvPr/>
        </p:nvSpPr>
        <p:spPr>
          <a:xfrm>
            <a:off x="5232400" y="1574800"/>
            <a:ext cx="1778000" cy="177800"/>
          </a:xfrm>
          <a:prstGeom prst="rect">
            <a:avLst/>
          </a:prstGeom>
          <a:noFill/>
        </p:spPr>
        <p:txBody>
          <a:bodyPr vert="horz" wrap="square" lIns="0" tIns="0" rIns="0" bIns="0" rtlCol="0" anchor="t">
            <a:noAutofit/>
          </a:bodyPr>
          <a:lstStyle/>
          <a:p>
            <a:r>
              <a:rPr lang="en-IN" sz="950">
                <a:solidFill>
                  <a:srgbClr val="8B9BFF"/>
                </a:solidFill>
                <a:latin typeface="Segoe UI Semibold" panose="020B0702040204020203" pitchFamily="34" charset="0"/>
              </a:rPr>
              <a:t>CodePlan [3]</a:t>
            </a:r>
          </a:p>
        </p:txBody>
      </p:sp>
      <p:sp>
        <p:nvSpPr>
          <p:cNvPr id="25" name="TextBox 24">
            <a:extLst>
              <a:ext uri="{FF2B5EF4-FFF2-40B4-BE49-F238E27FC236}">
                <a16:creationId xmlns:a16="http://schemas.microsoft.com/office/drawing/2014/main" id="{DA9B7BD8-5CEE-52F3-19E4-EA5F4D167856}"/>
              </a:ext>
            </a:extLst>
          </p:cNvPr>
          <p:cNvSpPr txBox="1"/>
          <p:nvPr/>
        </p:nvSpPr>
        <p:spPr>
          <a:xfrm>
            <a:off x="5232400" y="1790700"/>
            <a:ext cx="1778000" cy="177800"/>
          </a:xfrm>
          <a:prstGeom prst="rect">
            <a:avLst/>
          </a:prstGeom>
          <a:noFill/>
        </p:spPr>
        <p:txBody>
          <a:bodyPr vert="horz" wrap="square" lIns="0" tIns="0" rIns="0" bIns="0" rtlCol="0" anchor="t">
            <a:noAutofit/>
          </a:bodyPr>
          <a:lstStyle/>
          <a:p>
            <a:r>
              <a:rPr lang="en-IN" sz="850">
                <a:solidFill>
                  <a:srgbClr val="B3BDCF"/>
                </a:solidFill>
                <a:latin typeface="Segoe UI" panose="020B0502040204020203" pitchFamily="34" charset="0"/>
              </a:rPr>
              <a:t>dependency-aware edit plans</a:t>
            </a:r>
          </a:p>
        </p:txBody>
      </p:sp>
      <p:cxnSp>
        <p:nvCxnSpPr>
          <p:cNvPr id="26" name="Straight Connector 25">
            <a:extLst>
              <a:ext uri="{FF2B5EF4-FFF2-40B4-BE49-F238E27FC236}">
                <a16:creationId xmlns:a16="http://schemas.microsoft.com/office/drawing/2014/main" id="{C65A6C7B-73CA-070C-A157-1BBC2A6D4A25}"/>
              </a:ext>
            </a:extLst>
          </p:cNvPr>
          <p:cNvCxnSpPr/>
          <p:nvPr/>
        </p:nvCxnSpPr>
        <p:spPr>
          <a:xfrm>
            <a:off x="7137400" y="1689100"/>
            <a:ext cx="203200" cy="0"/>
          </a:xfrm>
          <a:prstGeom prst="line">
            <a:avLst/>
          </a:prstGeom>
          <a:ln w="19050">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FEF3A6E5-20C7-5EFD-2266-C415E22BBA93}"/>
              </a:ext>
            </a:extLst>
          </p:cNvPr>
          <p:cNvSpPr/>
          <p:nvPr/>
        </p:nvSpPr>
        <p:spPr>
          <a:xfrm>
            <a:off x="5105400" y="22860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28" name="TextBox 27">
            <a:extLst>
              <a:ext uri="{FF2B5EF4-FFF2-40B4-BE49-F238E27FC236}">
                <a16:creationId xmlns:a16="http://schemas.microsoft.com/office/drawing/2014/main" id="{18BB040D-0782-F3D8-3618-E38655598C18}"/>
              </a:ext>
            </a:extLst>
          </p:cNvPr>
          <p:cNvSpPr txBox="1"/>
          <p:nvPr/>
        </p:nvSpPr>
        <p:spPr>
          <a:xfrm>
            <a:off x="5105400" y="2501900"/>
            <a:ext cx="1981200" cy="330200"/>
          </a:xfrm>
          <a:prstGeom prst="rect">
            <a:avLst/>
          </a:prstGeom>
          <a:noFill/>
        </p:spPr>
        <p:txBody>
          <a:bodyPr vert="horz" wrap="square" lIns="0" tIns="0" rIns="0" bIns="0" rtlCol="0" anchor="t">
            <a:noAutofit/>
          </a:bodyPr>
          <a:lstStyle/>
          <a:p>
            <a:r>
              <a:rPr lang="en-US" sz="800">
                <a:solidFill>
                  <a:srgbClr val="78849A"/>
                </a:solidFill>
                <a:latin typeface="Segoe UI" panose="020B0502040204020203" pitchFamily="34" charset="0"/>
              </a:rPr>
              <a:t>OneForAll: Change planning on the code graph</a:t>
            </a:r>
            <a:endParaRPr lang="en-IN" sz="800">
              <a:solidFill>
                <a:srgbClr val="78849A"/>
              </a:solidFill>
              <a:latin typeface="Segoe UI" panose="020B0502040204020203" pitchFamily="34" charset="0"/>
            </a:endParaRPr>
          </a:p>
        </p:txBody>
      </p:sp>
      <p:sp>
        <p:nvSpPr>
          <p:cNvPr id="29" name="Rectangle: Rounded Corners 28">
            <a:extLst>
              <a:ext uri="{FF2B5EF4-FFF2-40B4-BE49-F238E27FC236}">
                <a16:creationId xmlns:a16="http://schemas.microsoft.com/office/drawing/2014/main" id="{D1D1655D-0B01-C6E0-18B1-E9B25D827FD8}"/>
              </a:ext>
            </a:extLst>
          </p:cNvPr>
          <p:cNvSpPr/>
          <p:nvPr/>
        </p:nvSpPr>
        <p:spPr>
          <a:xfrm>
            <a:off x="7366000" y="1193800"/>
            <a:ext cx="2032000" cy="990600"/>
          </a:xfrm>
          <a:prstGeom prst="roundRect">
            <a:avLst>
              <a:gd name="adj" fmla="val 10256"/>
            </a:avLst>
          </a:prstGeom>
          <a:solidFill>
            <a:srgbClr val="111A2E"/>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32020517-E5F3-684F-93BB-018F7EF673FE}"/>
              </a:ext>
            </a:extLst>
          </p:cNvPr>
          <p:cNvSpPr txBox="1"/>
          <p:nvPr/>
        </p:nvSpPr>
        <p:spPr>
          <a:xfrm>
            <a:off x="7518400" y="1320800"/>
            <a:ext cx="1778000" cy="203200"/>
          </a:xfrm>
          <a:prstGeom prst="rect">
            <a:avLst/>
          </a:prstGeom>
          <a:noFill/>
        </p:spPr>
        <p:txBody>
          <a:bodyPr vert="horz" wrap="square" lIns="0" tIns="0" rIns="0" bIns="0" rtlCol="0" anchor="t">
            <a:noAutofit/>
          </a:bodyPr>
          <a:lstStyle/>
          <a:p>
            <a:r>
              <a:rPr lang="en-IN" sz="1250" spc="100">
                <a:solidFill>
                  <a:srgbClr val="F1F4F9"/>
                </a:solidFill>
                <a:latin typeface="Segoe UI Semibold" panose="020B0702040204020203" pitchFamily="34" charset="0"/>
              </a:rPr>
              <a:t>PREDICT</a:t>
            </a:r>
          </a:p>
        </p:txBody>
      </p:sp>
      <p:sp>
        <p:nvSpPr>
          <p:cNvPr id="31" name="TextBox 30">
            <a:extLst>
              <a:ext uri="{FF2B5EF4-FFF2-40B4-BE49-F238E27FC236}">
                <a16:creationId xmlns:a16="http://schemas.microsoft.com/office/drawing/2014/main" id="{B61C6E8F-2C9D-BC98-89ED-7CEEDE9E4CCA}"/>
              </a:ext>
            </a:extLst>
          </p:cNvPr>
          <p:cNvSpPr txBox="1"/>
          <p:nvPr/>
        </p:nvSpPr>
        <p:spPr>
          <a:xfrm>
            <a:off x="7518400" y="1574800"/>
            <a:ext cx="1778000" cy="177800"/>
          </a:xfrm>
          <a:prstGeom prst="rect">
            <a:avLst/>
          </a:prstGeom>
          <a:noFill/>
        </p:spPr>
        <p:txBody>
          <a:bodyPr vert="horz" wrap="square" lIns="0" tIns="0" rIns="0" bIns="0" rtlCol="0" anchor="t">
            <a:noAutofit/>
          </a:bodyPr>
          <a:lstStyle/>
          <a:p>
            <a:r>
              <a:rPr lang="en-IN" sz="950">
                <a:solidFill>
                  <a:srgbClr val="8B9BFF"/>
                </a:solidFill>
                <a:latin typeface="Segoe UI Semibold" panose="020B0702040204020203" pitchFamily="34" charset="0"/>
              </a:rPr>
              <a:t>JIT-BiCC [4]</a:t>
            </a:r>
          </a:p>
        </p:txBody>
      </p:sp>
      <p:sp>
        <p:nvSpPr>
          <p:cNvPr id="32" name="TextBox 31">
            <a:extLst>
              <a:ext uri="{FF2B5EF4-FFF2-40B4-BE49-F238E27FC236}">
                <a16:creationId xmlns:a16="http://schemas.microsoft.com/office/drawing/2014/main" id="{3D952B57-6322-3DB5-3BC4-9053189A49DD}"/>
              </a:ext>
            </a:extLst>
          </p:cNvPr>
          <p:cNvSpPr txBox="1"/>
          <p:nvPr/>
        </p:nvSpPr>
        <p:spPr>
          <a:xfrm>
            <a:off x="7518400" y="1790700"/>
            <a:ext cx="1778000" cy="177800"/>
          </a:xfrm>
          <a:prstGeom prst="rect">
            <a:avLst/>
          </a:prstGeom>
          <a:noFill/>
        </p:spPr>
        <p:txBody>
          <a:bodyPr vert="horz" wrap="square" lIns="0" tIns="0" rIns="0" bIns="0" rtlCol="0" anchor="t">
            <a:noAutofit/>
          </a:bodyPr>
          <a:lstStyle/>
          <a:p>
            <a:r>
              <a:rPr lang="en-IN" sz="850">
                <a:solidFill>
                  <a:srgbClr val="B3BDCF"/>
                </a:solidFill>
                <a:latin typeface="Segoe UI" panose="020B0502040204020203" pitchFamily="34" charset="0"/>
              </a:rPr>
              <a:t>change-level defect risk</a:t>
            </a:r>
          </a:p>
        </p:txBody>
      </p:sp>
      <p:cxnSp>
        <p:nvCxnSpPr>
          <p:cNvPr id="33" name="Straight Connector 32">
            <a:extLst>
              <a:ext uri="{FF2B5EF4-FFF2-40B4-BE49-F238E27FC236}">
                <a16:creationId xmlns:a16="http://schemas.microsoft.com/office/drawing/2014/main" id="{15A18A99-59AD-9E5E-913B-02AC7C0B01F1}"/>
              </a:ext>
            </a:extLst>
          </p:cNvPr>
          <p:cNvCxnSpPr/>
          <p:nvPr/>
        </p:nvCxnSpPr>
        <p:spPr>
          <a:xfrm>
            <a:off x="9423400" y="1689100"/>
            <a:ext cx="203200" cy="0"/>
          </a:xfrm>
          <a:prstGeom prst="line">
            <a:avLst/>
          </a:prstGeom>
          <a:ln w="19050">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D4F07630-0C5D-9275-6A2D-B73FA86578E2}"/>
              </a:ext>
            </a:extLst>
          </p:cNvPr>
          <p:cNvSpPr/>
          <p:nvPr/>
        </p:nvSpPr>
        <p:spPr>
          <a:xfrm>
            <a:off x="7391400" y="22860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35" name="TextBox 34">
            <a:extLst>
              <a:ext uri="{FF2B5EF4-FFF2-40B4-BE49-F238E27FC236}">
                <a16:creationId xmlns:a16="http://schemas.microsoft.com/office/drawing/2014/main" id="{F9169C53-CD9C-FBF9-C58E-90AFCB4BA119}"/>
              </a:ext>
            </a:extLst>
          </p:cNvPr>
          <p:cNvSpPr txBox="1"/>
          <p:nvPr/>
        </p:nvSpPr>
        <p:spPr>
          <a:xfrm>
            <a:off x="7391400" y="2501900"/>
            <a:ext cx="1981200" cy="330200"/>
          </a:xfrm>
          <a:prstGeom prst="rect">
            <a:avLst/>
          </a:prstGeom>
          <a:noFill/>
        </p:spPr>
        <p:txBody>
          <a:bodyPr vert="horz" wrap="square" lIns="0" tIns="0" rIns="0" bIns="0" rtlCol="0" anchor="t">
            <a:noAutofit/>
          </a:bodyPr>
          <a:lstStyle/>
          <a:p>
            <a:r>
              <a:rPr lang="en-US" sz="800">
                <a:solidFill>
                  <a:srgbClr val="78849A"/>
                </a:solidFill>
                <a:latin typeface="Segoe UI" panose="020B0502040204020203" pitchFamily="34" charset="0"/>
              </a:rPr>
              <a:t>OneForAll: Defect-risk estimate per change</a:t>
            </a:r>
            <a:endParaRPr lang="en-IN" sz="800">
              <a:solidFill>
                <a:srgbClr val="78849A"/>
              </a:solidFill>
              <a:latin typeface="Segoe UI" panose="020B0502040204020203" pitchFamily="34" charset="0"/>
            </a:endParaRPr>
          </a:p>
        </p:txBody>
      </p:sp>
      <p:sp>
        <p:nvSpPr>
          <p:cNvPr id="36" name="Rectangle: Rounded Corners 35">
            <a:extLst>
              <a:ext uri="{FF2B5EF4-FFF2-40B4-BE49-F238E27FC236}">
                <a16:creationId xmlns:a16="http://schemas.microsoft.com/office/drawing/2014/main" id="{7DF0D80B-A25B-9D28-E5AF-78AA1DE4457A}"/>
              </a:ext>
            </a:extLst>
          </p:cNvPr>
          <p:cNvSpPr/>
          <p:nvPr/>
        </p:nvSpPr>
        <p:spPr>
          <a:xfrm>
            <a:off x="9652000" y="1193800"/>
            <a:ext cx="2032000" cy="990600"/>
          </a:xfrm>
          <a:prstGeom prst="roundRect">
            <a:avLst>
              <a:gd name="adj" fmla="val 10256"/>
            </a:avLst>
          </a:prstGeom>
          <a:solidFill>
            <a:srgbClr val="111A2E"/>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C442323B-4CAB-7B8A-B846-9EAB571A7705}"/>
              </a:ext>
            </a:extLst>
          </p:cNvPr>
          <p:cNvSpPr txBox="1"/>
          <p:nvPr/>
        </p:nvSpPr>
        <p:spPr>
          <a:xfrm>
            <a:off x="9804400" y="1320800"/>
            <a:ext cx="1778000" cy="203200"/>
          </a:xfrm>
          <a:prstGeom prst="rect">
            <a:avLst/>
          </a:prstGeom>
          <a:noFill/>
        </p:spPr>
        <p:txBody>
          <a:bodyPr vert="horz" wrap="square" lIns="0" tIns="0" rIns="0" bIns="0" rtlCol="0" anchor="t">
            <a:noAutofit/>
          </a:bodyPr>
          <a:lstStyle/>
          <a:p>
            <a:r>
              <a:rPr lang="en-IN" sz="1250" spc="100">
                <a:solidFill>
                  <a:srgbClr val="F1F4F9"/>
                </a:solidFill>
                <a:latin typeface="Segoe UI Semibold" panose="020B0702040204020203" pitchFamily="34" charset="0"/>
              </a:rPr>
              <a:t>EXPLAIN</a:t>
            </a:r>
          </a:p>
        </p:txBody>
      </p:sp>
      <p:sp>
        <p:nvSpPr>
          <p:cNvPr id="38" name="TextBox 37">
            <a:extLst>
              <a:ext uri="{FF2B5EF4-FFF2-40B4-BE49-F238E27FC236}">
                <a16:creationId xmlns:a16="http://schemas.microsoft.com/office/drawing/2014/main" id="{9606569A-88E9-FFCE-CD6A-D5C7918186B4}"/>
              </a:ext>
            </a:extLst>
          </p:cNvPr>
          <p:cNvSpPr txBox="1"/>
          <p:nvPr/>
        </p:nvSpPr>
        <p:spPr>
          <a:xfrm>
            <a:off x="9804400" y="1574800"/>
            <a:ext cx="1778000" cy="177800"/>
          </a:xfrm>
          <a:prstGeom prst="rect">
            <a:avLst/>
          </a:prstGeom>
          <a:noFill/>
        </p:spPr>
        <p:txBody>
          <a:bodyPr vert="horz" wrap="square" lIns="0" tIns="0" rIns="0" bIns="0" rtlCol="0" anchor="t">
            <a:noAutofit/>
          </a:bodyPr>
          <a:lstStyle/>
          <a:p>
            <a:r>
              <a:rPr lang="en-IN" sz="950">
                <a:solidFill>
                  <a:srgbClr val="8B9BFF"/>
                </a:solidFill>
                <a:latin typeface="Segoe UI Semibold" panose="020B0702040204020203" pitchFamily="34" charset="0"/>
              </a:rPr>
              <a:t>FoX [5]</a:t>
            </a:r>
          </a:p>
        </p:txBody>
      </p:sp>
      <p:sp>
        <p:nvSpPr>
          <p:cNvPr id="39" name="TextBox 38">
            <a:extLst>
              <a:ext uri="{FF2B5EF4-FFF2-40B4-BE49-F238E27FC236}">
                <a16:creationId xmlns:a16="http://schemas.microsoft.com/office/drawing/2014/main" id="{AAAD6214-9FD3-26CB-2F8D-340A2CFCB3EE}"/>
              </a:ext>
            </a:extLst>
          </p:cNvPr>
          <p:cNvSpPr txBox="1"/>
          <p:nvPr/>
        </p:nvSpPr>
        <p:spPr>
          <a:xfrm>
            <a:off x="9804400" y="1790700"/>
            <a:ext cx="1778000" cy="177800"/>
          </a:xfrm>
          <a:prstGeom prst="rect">
            <a:avLst/>
          </a:prstGeom>
          <a:noFill/>
        </p:spPr>
        <p:txBody>
          <a:bodyPr vert="horz" wrap="square" lIns="0" tIns="0" rIns="0" bIns="0" rtlCol="0" anchor="t">
            <a:noAutofit/>
          </a:bodyPr>
          <a:lstStyle/>
          <a:p>
            <a:r>
              <a:rPr lang="en-IN" sz="850">
                <a:solidFill>
                  <a:srgbClr val="B3BDCF"/>
                </a:solidFill>
                <a:latin typeface="Segoe UI" panose="020B0502040204020203" pitchFamily="34" charset="0"/>
              </a:rPr>
              <a:t>provable explanations</a:t>
            </a:r>
          </a:p>
        </p:txBody>
      </p:sp>
      <p:sp>
        <p:nvSpPr>
          <p:cNvPr id="40" name="Rectangle: Rounded Corners 39">
            <a:extLst>
              <a:ext uri="{FF2B5EF4-FFF2-40B4-BE49-F238E27FC236}">
                <a16:creationId xmlns:a16="http://schemas.microsoft.com/office/drawing/2014/main" id="{FAE5A7C0-E324-1218-3061-25C2F387A2C4}"/>
              </a:ext>
            </a:extLst>
          </p:cNvPr>
          <p:cNvSpPr/>
          <p:nvPr/>
        </p:nvSpPr>
        <p:spPr>
          <a:xfrm>
            <a:off x="9677400" y="22860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41" name="TextBox 40">
            <a:extLst>
              <a:ext uri="{FF2B5EF4-FFF2-40B4-BE49-F238E27FC236}">
                <a16:creationId xmlns:a16="http://schemas.microsoft.com/office/drawing/2014/main" id="{753B0C16-1FD6-3D71-E36E-0E8749BE4045}"/>
              </a:ext>
            </a:extLst>
          </p:cNvPr>
          <p:cNvSpPr txBox="1"/>
          <p:nvPr/>
        </p:nvSpPr>
        <p:spPr>
          <a:xfrm>
            <a:off x="9677400" y="2501900"/>
            <a:ext cx="1981200" cy="330200"/>
          </a:xfrm>
          <a:prstGeom prst="rect">
            <a:avLst/>
          </a:prstGeom>
          <a:noFill/>
        </p:spPr>
        <p:txBody>
          <a:bodyPr vert="horz" wrap="square" lIns="0" tIns="0" rIns="0" bIns="0" rtlCol="0" anchor="t">
            <a:noAutofit/>
          </a:bodyPr>
          <a:lstStyle/>
          <a:p>
            <a:r>
              <a:rPr lang="en-US" sz="800">
                <a:solidFill>
                  <a:srgbClr val="78849A"/>
                </a:solidFill>
                <a:latin typeface="Segoe UI" panose="020B0502040204020203" pitchFamily="34" charset="0"/>
              </a:rPr>
              <a:t>OneForAll: Explanation shown with each risk</a:t>
            </a:r>
            <a:endParaRPr lang="en-IN" sz="800">
              <a:solidFill>
                <a:srgbClr val="78849A"/>
              </a:solidFill>
              <a:latin typeface="Segoe UI" panose="020B0502040204020203" pitchFamily="34" charset="0"/>
            </a:endParaRPr>
          </a:p>
        </p:txBody>
      </p:sp>
      <p:sp>
        <p:nvSpPr>
          <p:cNvPr id="42" name="Rectangle: Rounded Corners 41">
            <a:extLst>
              <a:ext uri="{FF2B5EF4-FFF2-40B4-BE49-F238E27FC236}">
                <a16:creationId xmlns:a16="http://schemas.microsoft.com/office/drawing/2014/main" id="{4E907352-E63D-30DA-C7B5-909540738B9C}"/>
              </a:ext>
            </a:extLst>
          </p:cNvPr>
          <p:cNvSpPr/>
          <p:nvPr/>
        </p:nvSpPr>
        <p:spPr>
          <a:xfrm>
            <a:off x="508000" y="2997200"/>
            <a:ext cx="5486400" cy="2489200"/>
          </a:xfrm>
          <a:prstGeom prst="roundRect">
            <a:avLst>
              <a:gd name="adj" fmla="val 4082"/>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7C865EA9-63AA-4494-56BC-0BC9ABC16B1C}"/>
              </a:ext>
            </a:extLst>
          </p:cNvPr>
          <p:cNvSpPr txBox="1"/>
          <p:nvPr/>
        </p:nvSpPr>
        <p:spPr>
          <a:xfrm>
            <a:off x="711200" y="3149600"/>
            <a:ext cx="381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RESEARCH GAP</a:t>
            </a:r>
          </a:p>
        </p:txBody>
      </p:sp>
      <p:sp>
        <p:nvSpPr>
          <p:cNvPr id="44" name="TextBox 43">
            <a:extLst>
              <a:ext uri="{FF2B5EF4-FFF2-40B4-BE49-F238E27FC236}">
                <a16:creationId xmlns:a16="http://schemas.microsoft.com/office/drawing/2014/main" id="{4F968192-9F23-AAC7-699B-9678B27B52E2}"/>
              </a:ext>
            </a:extLst>
          </p:cNvPr>
          <p:cNvSpPr txBox="1"/>
          <p:nvPr/>
        </p:nvSpPr>
        <p:spPr>
          <a:xfrm>
            <a:off x="711200" y="3378200"/>
            <a:ext cx="5130800" cy="2032000"/>
          </a:xfrm>
          <a:prstGeom prst="rect">
            <a:avLst/>
          </a:prstGeom>
          <a:noFill/>
        </p:spPr>
        <p:txBody>
          <a:bodyPr vert="horz" wrap="square" lIns="0" tIns="0" rIns="0" bIns="0" rtlCol="0">
            <a:noAutofit/>
          </a:bodyPr>
          <a:lstStyle/>
          <a:p>
            <a:pPr marL="139700" indent="-139700">
              <a:spcAft>
                <a:spcPts val="900"/>
              </a:spcAft>
              <a:buClr>
                <a:srgbClr val="8B9BFF"/>
              </a:buClr>
              <a:buSzPct val="90000"/>
              <a:buFont typeface="+mj-lt"/>
              <a:buChar char="▪"/>
            </a:pPr>
            <a:r>
              <a:rPr lang="en-US" sz="1050">
                <a:solidFill>
                  <a:srgbClr val="F1F4F9"/>
                </a:solidFill>
                <a:latin typeface="Segoe UI Semibold" panose="020B0702040204020203" pitchFamily="34" charset="0"/>
              </a:rPr>
              <a:t>Isolated stages.</a:t>
            </a:r>
            <a:r>
              <a:rPr lang="en-US" sz="1050">
                <a:solidFill>
                  <a:srgbClr val="B3BDCF"/>
                </a:solidFill>
                <a:latin typeface="Segoe UI" panose="020B0502040204020203" pitchFamily="34" charset="0"/>
              </a:rPr>
              <a:t>  Each method is evaluated on its own benchmark (SWE-bench, JIT datasets); none keeps a persistent context for a real team's project.</a:t>
            </a:r>
          </a:p>
          <a:p>
            <a:pPr marL="139700" indent="-139700">
              <a:spcAft>
                <a:spcPts val="900"/>
              </a:spcAft>
              <a:buClr>
                <a:srgbClr val="8B9BFF"/>
              </a:buClr>
              <a:buSzPct val="90000"/>
              <a:buFont typeface="+mj-lt"/>
              <a:buChar char="▪"/>
            </a:pPr>
            <a:r>
              <a:rPr lang="en-US" sz="1050">
                <a:solidFill>
                  <a:srgbClr val="F1F4F9"/>
                </a:solidFill>
                <a:latin typeface="Segoe UI Semibold" panose="020B0702040204020203" pitchFamily="34" charset="0"/>
              </a:rPr>
              <a:t>Missing links.</a:t>
            </a:r>
            <a:r>
              <a:rPr lang="en-US" sz="1050">
                <a:solidFill>
                  <a:srgbClr val="B3BDCF"/>
                </a:solidFill>
                <a:latin typeface="Segoe UI" panose="020B0502040204020203" pitchFamily="34" charset="0"/>
              </a:rPr>
              <a:t>  Requirements and tasks are absent from repository-level methods; code structure is absent from JIT defect prediction.</a:t>
            </a:r>
          </a:p>
          <a:p>
            <a:pPr marL="139700" indent="-139700">
              <a:spcAft>
                <a:spcPts val="900"/>
              </a:spcAft>
              <a:buClr>
                <a:srgbClr val="8B9BFF"/>
              </a:buClr>
              <a:buSzPct val="90000"/>
              <a:buFont typeface="+mj-lt"/>
              <a:buChar char="▪"/>
            </a:pPr>
            <a:r>
              <a:rPr lang="en-US" sz="1050">
                <a:solidFill>
                  <a:srgbClr val="F1F4F9"/>
                </a:solidFill>
                <a:latin typeface="Segoe UI Semibold" panose="020B0702040204020203" pitchFamily="34" charset="0"/>
              </a:rPr>
              <a:t>No access boundary.</a:t>
            </a:r>
            <a:r>
              <a:rPr lang="en-US" sz="1050">
                <a:solidFill>
                  <a:srgbClr val="B3BDCF"/>
                </a:solidFill>
                <a:latin typeface="Segoe UI" panose="020B0502040204020203" pitchFamily="34" charset="0"/>
              </a:rPr>
              <a:t>  Tenant isolation and role checks before context is used are outside their scope.</a:t>
            </a:r>
            <a:endParaRPr lang="en-IN" sz="1050">
              <a:solidFill>
                <a:srgbClr val="B3BDCF"/>
              </a:solidFill>
              <a:latin typeface="Segoe UI" panose="020B0502040204020203" pitchFamily="34" charset="0"/>
            </a:endParaRPr>
          </a:p>
        </p:txBody>
      </p:sp>
      <p:sp>
        <p:nvSpPr>
          <p:cNvPr id="45" name="Rectangle: Rounded Corners 44">
            <a:extLst>
              <a:ext uri="{FF2B5EF4-FFF2-40B4-BE49-F238E27FC236}">
                <a16:creationId xmlns:a16="http://schemas.microsoft.com/office/drawing/2014/main" id="{0335B142-2413-3376-A394-95206234EAE1}"/>
              </a:ext>
            </a:extLst>
          </p:cNvPr>
          <p:cNvSpPr/>
          <p:nvPr/>
        </p:nvSpPr>
        <p:spPr>
          <a:xfrm>
            <a:off x="6197600" y="2997200"/>
            <a:ext cx="5486400" cy="2489200"/>
          </a:xfrm>
          <a:prstGeom prst="roundRect">
            <a:avLst>
              <a:gd name="adj" fmla="val 4082"/>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extBox 45">
            <a:extLst>
              <a:ext uri="{FF2B5EF4-FFF2-40B4-BE49-F238E27FC236}">
                <a16:creationId xmlns:a16="http://schemas.microsoft.com/office/drawing/2014/main" id="{7BD8C53B-FC8C-26A4-0B60-2C187B9AE233}"/>
              </a:ext>
            </a:extLst>
          </p:cNvPr>
          <p:cNvSpPr txBox="1"/>
          <p:nvPr/>
        </p:nvSpPr>
        <p:spPr>
          <a:xfrm>
            <a:off x="6400800" y="3149600"/>
            <a:ext cx="3810000" cy="152400"/>
          </a:xfrm>
          <a:prstGeom prst="rect">
            <a:avLst/>
          </a:prstGeom>
          <a:noFill/>
        </p:spPr>
        <p:txBody>
          <a:bodyPr vert="horz" wrap="square" lIns="0" tIns="0" rIns="0" bIns="0" rtlCol="0" anchor="t">
            <a:noAutofit/>
          </a:bodyPr>
          <a:lstStyle/>
          <a:p>
            <a:r>
              <a:rPr lang="en-IN" sz="750" spc="110">
                <a:solidFill>
                  <a:srgbClr val="3CCF8E"/>
                </a:solidFill>
                <a:latin typeface="Segoe UI Semibold" panose="020B0702040204020203" pitchFamily="34" charset="0"/>
              </a:rPr>
              <a:t>NOVELTY OF ONEFORALL</a:t>
            </a:r>
          </a:p>
        </p:txBody>
      </p:sp>
      <p:sp>
        <p:nvSpPr>
          <p:cNvPr id="47" name="TextBox 46">
            <a:extLst>
              <a:ext uri="{FF2B5EF4-FFF2-40B4-BE49-F238E27FC236}">
                <a16:creationId xmlns:a16="http://schemas.microsoft.com/office/drawing/2014/main" id="{F84AB21C-6024-5CF9-4AA7-A251045B6878}"/>
              </a:ext>
            </a:extLst>
          </p:cNvPr>
          <p:cNvSpPr txBox="1"/>
          <p:nvPr/>
        </p:nvSpPr>
        <p:spPr>
          <a:xfrm>
            <a:off x="6400800" y="3378200"/>
            <a:ext cx="5130800" cy="2032000"/>
          </a:xfrm>
          <a:prstGeom prst="rect">
            <a:avLst/>
          </a:prstGeom>
          <a:noFill/>
        </p:spPr>
        <p:txBody>
          <a:bodyPr vert="horz" wrap="square" lIns="0" tIns="0" rIns="0" bIns="0" rtlCol="0">
            <a:noAutofit/>
          </a:bodyPr>
          <a:lstStyle/>
          <a:p>
            <a:pPr marL="139700" indent="-139700">
              <a:spcAft>
                <a:spcPts val="900"/>
              </a:spcAft>
              <a:buClr>
                <a:srgbClr val="3CCF8E"/>
              </a:buClr>
              <a:buSzPct val="90000"/>
              <a:buFont typeface="+mj-lt"/>
              <a:buChar char="▪"/>
            </a:pPr>
            <a:r>
              <a:rPr lang="en-US" sz="1050">
                <a:solidFill>
                  <a:srgbClr val="F1F4F9"/>
                </a:solidFill>
                <a:latin typeface="Segoe UI Semibold" panose="020B0702040204020203" pitchFamily="34" charset="0"/>
              </a:rPr>
              <a:t>Engineering context (Phase 2I, planned).</a:t>
            </a:r>
            <a:r>
              <a:rPr lang="en-US" sz="1050">
                <a:solidFill>
                  <a:srgbClr val="B3BDCF"/>
                </a:solidFill>
                <a:latin typeface="Segoe UI" panose="020B0502040204020203" pitchFamily="34" charset="0"/>
              </a:rPr>
              <a:t>  Requirements, tasks and code structure linked per project and kept across snapshots.</a:t>
            </a:r>
          </a:p>
          <a:p>
            <a:pPr marL="139700" indent="-139700">
              <a:spcAft>
                <a:spcPts val="900"/>
              </a:spcAft>
              <a:buClr>
                <a:srgbClr val="3CCF8E"/>
              </a:buClr>
              <a:buSzPct val="90000"/>
              <a:buFont typeface="+mj-lt"/>
              <a:buChar char="▪"/>
            </a:pPr>
            <a:r>
              <a:rPr lang="en-US" sz="1050">
                <a:solidFill>
                  <a:srgbClr val="F1F4F9"/>
                </a:solidFill>
                <a:latin typeface="Segoe UI Semibold" panose="020B0702040204020203" pitchFamily="34" charset="0"/>
              </a:rPr>
              <a:t>Authorization first.</a:t>
            </a:r>
            <a:r>
              <a:rPr lang="en-US" sz="1050">
                <a:solidFill>
                  <a:srgbClr val="B3BDCF"/>
                </a:solidFill>
                <a:latin typeface="Segoe UI" panose="020B0502040204020203" pitchFamily="34" charset="0"/>
              </a:rPr>
              <a:t>  Access is enforced in the database (RLS) before any context is read — the same boundary future AI services must pass.</a:t>
            </a:r>
          </a:p>
          <a:p>
            <a:pPr marL="139700" indent="-139700">
              <a:spcAft>
                <a:spcPts val="900"/>
              </a:spcAft>
              <a:buClr>
                <a:srgbClr val="3CCF8E"/>
              </a:buClr>
              <a:buSzPct val="90000"/>
              <a:buFont typeface="+mj-lt"/>
              <a:buChar char="▪"/>
            </a:pPr>
            <a:r>
              <a:rPr lang="en-US" sz="1050">
                <a:solidFill>
                  <a:srgbClr val="F1F4F9"/>
                </a:solidFill>
                <a:latin typeface="Segoe UI Semibold" panose="020B0702040204020203" pitchFamily="34" charset="0"/>
              </a:rPr>
              <a:t>Integration, not reinvention.</a:t>
            </a:r>
            <a:r>
              <a:rPr lang="en-US" sz="1050">
                <a:solidFill>
                  <a:srgbClr val="B3BDCF"/>
                </a:solidFill>
                <a:latin typeface="Segoe UI" panose="020B0502040204020203" pitchFamily="34" charset="0"/>
              </a:rPr>
              <a:t>  One pipeline carries the same context from representation to explained risk; published techniques are adopted and evaluated, not re-invented.</a:t>
            </a:r>
            <a:endParaRPr lang="en-IN" sz="1050">
              <a:solidFill>
                <a:srgbClr val="B3BDCF"/>
              </a:solidFill>
              <a:latin typeface="Segoe UI" panose="020B0502040204020203" pitchFamily="34" charset="0"/>
            </a:endParaRPr>
          </a:p>
        </p:txBody>
      </p:sp>
      <p:sp>
        <p:nvSpPr>
          <p:cNvPr id="48" name="Rectangle: Rounded Corners 47">
            <a:extLst>
              <a:ext uri="{FF2B5EF4-FFF2-40B4-BE49-F238E27FC236}">
                <a16:creationId xmlns:a16="http://schemas.microsoft.com/office/drawing/2014/main" id="{8344ABEB-EB30-D69A-A130-E668A47BAFA2}"/>
              </a:ext>
            </a:extLst>
          </p:cNvPr>
          <p:cNvSpPr/>
          <p:nvPr/>
        </p:nvSpPr>
        <p:spPr>
          <a:xfrm>
            <a:off x="508000" y="5613400"/>
            <a:ext cx="11176000" cy="660400"/>
          </a:xfrm>
          <a:prstGeom prst="roundRect">
            <a:avLst>
              <a:gd name="adj" fmla="val 11538"/>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F07E0027-CF34-3049-7963-D8BAE7FE2A72}"/>
              </a:ext>
            </a:extLst>
          </p:cNvPr>
          <p:cNvSpPr txBox="1"/>
          <p:nvPr/>
        </p:nvSpPr>
        <p:spPr>
          <a:xfrm>
            <a:off x="711200" y="5613400"/>
            <a:ext cx="10820400" cy="660400"/>
          </a:xfrm>
          <a:prstGeom prst="rect">
            <a:avLst/>
          </a:prstGeom>
          <a:noFill/>
        </p:spPr>
        <p:txBody>
          <a:bodyPr vert="horz" wrap="square" lIns="0" tIns="0" rIns="0" bIns="0" rtlCol="0" anchor="ctr">
            <a:noAutofit/>
          </a:bodyPr>
          <a:lstStyle/>
          <a:p>
            <a:r>
              <a:rPr lang="en-US" sz="1050">
                <a:solidFill>
                  <a:srgbClr val="F1F4F9"/>
                </a:solidFill>
                <a:latin typeface="Segoe UI Semibold" panose="020B0702040204020203" pitchFamily="34" charset="0"/>
              </a:rPr>
              <a:t>Therefore, there is a need to develop a permission-aware platform that maintains project-scoped engineering context from repositories and work items, and uses it for repository understanding and explainable defect-risk prediction.</a:t>
            </a:r>
            <a:endParaRPr lang="en-IN" sz="1050">
              <a:solidFill>
                <a:srgbClr val="F1F4F9"/>
              </a:solidFill>
              <a:latin typeface="Segoe UI Semibold" panose="020B0702040204020203" pitchFamily="34" charset="0"/>
            </a:endParaRPr>
          </a:p>
        </p:txBody>
      </p:sp>
    </p:spTree>
    <p:extLst>
      <p:ext uri="{BB962C8B-B14F-4D97-AF65-F5344CB8AC3E}">
        <p14:creationId xmlns:p14="http://schemas.microsoft.com/office/powerpoint/2010/main" val="2360222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5AC865-01BC-BB87-5B03-E0252CCB59F2}"/>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09  ·  OBJECTIVES</a:t>
            </a:r>
          </a:p>
        </p:txBody>
      </p:sp>
      <p:sp>
        <p:nvSpPr>
          <p:cNvPr id="3" name="TextBox 2">
            <a:extLst>
              <a:ext uri="{FF2B5EF4-FFF2-40B4-BE49-F238E27FC236}">
                <a16:creationId xmlns:a16="http://schemas.microsoft.com/office/drawing/2014/main" id="{F19F9B6B-C40A-893A-2B23-FA0186983317}"/>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Objectives and Expected Outcomes</a:t>
            </a:r>
          </a:p>
        </p:txBody>
      </p:sp>
      <p:sp>
        <p:nvSpPr>
          <p:cNvPr id="4" name="TextBox 3">
            <a:extLst>
              <a:ext uri="{FF2B5EF4-FFF2-40B4-BE49-F238E27FC236}">
                <a16:creationId xmlns:a16="http://schemas.microsoft.com/office/drawing/2014/main" id="{02816D90-B386-A1B5-6B48-F5FD57F9CC7A}"/>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Six measurable objectives; status as of Review 1.</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7ECD7215-3D03-BB7B-16D1-785D9C7FD089}"/>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247C47-7930-732F-D445-45E73361926F}"/>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21E743C6-B71A-F8A4-DB54-57DFEE71AD2F}"/>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09 / 20</a:t>
            </a:r>
          </a:p>
        </p:txBody>
      </p:sp>
      <p:sp>
        <p:nvSpPr>
          <p:cNvPr id="8" name="Rectangle: Rounded Corners 7">
            <a:extLst>
              <a:ext uri="{FF2B5EF4-FFF2-40B4-BE49-F238E27FC236}">
                <a16:creationId xmlns:a16="http://schemas.microsoft.com/office/drawing/2014/main" id="{459B7082-1B01-3FCF-6735-2F46CCBB623F}"/>
              </a:ext>
            </a:extLst>
          </p:cNvPr>
          <p:cNvSpPr/>
          <p:nvPr/>
        </p:nvSpPr>
        <p:spPr>
          <a:xfrm>
            <a:off x="9118600" y="889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sp>
        <p:nvSpPr>
          <p:cNvPr id="9" name="Rectangle: Rounded Corners 8">
            <a:extLst>
              <a:ext uri="{FF2B5EF4-FFF2-40B4-BE49-F238E27FC236}">
                <a16:creationId xmlns:a16="http://schemas.microsoft.com/office/drawing/2014/main" id="{82015938-ECC7-45CE-1804-7DDF9247DF50}"/>
              </a:ext>
            </a:extLst>
          </p:cNvPr>
          <p:cNvSpPr/>
          <p:nvPr/>
        </p:nvSpPr>
        <p:spPr>
          <a:xfrm>
            <a:off x="10020300" y="889000"/>
            <a:ext cx="419100" cy="165100"/>
          </a:xfrm>
          <a:prstGeom prst="roundRect">
            <a:avLst>
              <a:gd name="adj" fmla="val 50000"/>
            </a:avLst>
          </a:prstGeom>
          <a:solidFill>
            <a:srgbClr val="33270F"/>
          </a:solidFill>
          <a:ln w="9525">
            <a:solidFill>
              <a:srgbClr val="F1A73B"/>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F1A73B"/>
                </a:solidFill>
                <a:latin typeface="Segoe UI Semibold" panose="020B0702040204020203" pitchFamily="34" charset="0"/>
              </a:rPr>
              <a:t>NEXT</a:t>
            </a:r>
          </a:p>
        </p:txBody>
      </p:sp>
      <p:sp>
        <p:nvSpPr>
          <p:cNvPr id="10" name="Rectangle: Rounded Corners 9">
            <a:extLst>
              <a:ext uri="{FF2B5EF4-FFF2-40B4-BE49-F238E27FC236}">
                <a16:creationId xmlns:a16="http://schemas.microsoft.com/office/drawing/2014/main" id="{D17929C0-5D25-66E4-2050-72A6A702297D}"/>
              </a:ext>
            </a:extLst>
          </p:cNvPr>
          <p:cNvSpPr/>
          <p:nvPr/>
        </p:nvSpPr>
        <p:spPr>
          <a:xfrm>
            <a:off x="10515600" y="8890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11" name="TextBox 10">
            <a:extLst>
              <a:ext uri="{FF2B5EF4-FFF2-40B4-BE49-F238E27FC236}">
                <a16:creationId xmlns:a16="http://schemas.microsoft.com/office/drawing/2014/main" id="{550B7ACE-B742-9E6E-C166-69312BE44F50}"/>
              </a:ext>
            </a:extLst>
          </p:cNvPr>
          <p:cNvSpPr txBox="1"/>
          <p:nvPr/>
        </p:nvSpPr>
        <p:spPr>
          <a:xfrm>
            <a:off x="965200" y="1168400"/>
            <a:ext cx="2540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OBJECTIVE</a:t>
            </a:r>
          </a:p>
        </p:txBody>
      </p:sp>
      <p:sp>
        <p:nvSpPr>
          <p:cNvPr id="12" name="TextBox 11">
            <a:extLst>
              <a:ext uri="{FF2B5EF4-FFF2-40B4-BE49-F238E27FC236}">
                <a16:creationId xmlns:a16="http://schemas.microsoft.com/office/drawing/2014/main" id="{34C6719D-6CE1-0685-166D-A949D9D05016}"/>
              </a:ext>
            </a:extLst>
          </p:cNvPr>
          <p:cNvSpPr txBox="1"/>
          <p:nvPr/>
        </p:nvSpPr>
        <p:spPr>
          <a:xfrm>
            <a:off x="7112000" y="1168400"/>
            <a:ext cx="2540000" cy="152400"/>
          </a:xfrm>
          <a:prstGeom prst="rect">
            <a:avLst/>
          </a:prstGeom>
          <a:noFill/>
        </p:spPr>
        <p:txBody>
          <a:bodyPr vert="horz" wrap="square" lIns="0" tIns="0" rIns="0" bIns="0" rtlCol="0" anchor="t">
            <a:noAutofit/>
          </a:bodyPr>
          <a:lstStyle/>
          <a:p>
            <a:r>
              <a:rPr lang="en-IN" sz="700" spc="110">
                <a:solidFill>
                  <a:srgbClr val="78849A"/>
                </a:solidFill>
                <a:latin typeface="Segoe UI Semibold" panose="020B0702040204020203" pitchFamily="34" charset="0"/>
              </a:rPr>
              <a:t>MEASURE OF SUCCESS</a:t>
            </a:r>
          </a:p>
        </p:txBody>
      </p:sp>
      <p:sp>
        <p:nvSpPr>
          <p:cNvPr id="13" name="Rectangle: Rounded Corners 12">
            <a:extLst>
              <a:ext uri="{FF2B5EF4-FFF2-40B4-BE49-F238E27FC236}">
                <a16:creationId xmlns:a16="http://schemas.microsoft.com/office/drawing/2014/main" id="{4DA03E26-7BD7-3D15-A1A3-0CD64B7DAD7B}"/>
              </a:ext>
            </a:extLst>
          </p:cNvPr>
          <p:cNvSpPr/>
          <p:nvPr/>
        </p:nvSpPr>
        <p:spPr>
          <a:xfrm>
            <a:off x="508000" y="1346200"/>
            <a:ext cx="11176000" cy="635000"/>
          </a:xfrm>
          <a:prstGeom prst="roundRect">
            <a:avLst>
              <a:gd name="adj" fmla="val 1200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BB8FC264-9744-7F45-6324-D8EB25B1A81D}"/>
              </a:ext>
            </a:extLst>
          </p:cNvPr>
          <p:cNvSpPr/>
          <p:nvPr/>
        </p:nvSpPr>
        <p:spPr>
          <a:xfrm>
            <a:off x="635000" y="1536700"/>
            <a:ext cx="304800" cy="254000"/>
          </a:xfrm>
          <a:prstGeom prst="roundRect">
            <a:avLst>
              <a:gd name="adj" fmla="val 50000"/>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none" lIns="0" tIns="25400" rIns="0" bIns="25400" rtlCol="0" anchor="ctr">
            <a:noAutofit/>
          </a:bodyPr>
          <a:lstStyle/>
          <a:p>
            <a:pPr algn="ctr">
              <a:lnSpc>
                <a:spcPct val="95000"/>
              </a:lnSpc>
            </a:pPr>
            <a:r>
              <a:rPr lang="en-IN" sz="750">
                <a:solidFill>
                  <a:srgbClr val="8B9BFF"/>
                </a:solidFill>
                <a:latin typeface="Segoe UI Semibold" panose="020B0702040204020203" pitchFamily="34" charset="0"/>
              </a:rPr>
              <a:t>O1</a:t>
            </a:r>
          </a:p>
        </p:txBody>
      </p:sp>
      <p:sp>
        <p:nvSpPr>
          <p:cNvPr id="15" name="TextBox 14">
            <a:extLst>
              <a:ext uri="{FF2B5EF4-FFF2-40B4-BE49-F238E27FC236}">
                <a16:creationId xmlns:a16="http://schemas.microsoft.com/office/drawing/2014/main" id="{248C4363-26B5-F446-5EA7-A9BED97959D8}"/>
              </a:ext>
            </a:extLst>
          </p:cNvPr>
          <p:cNvSpPr txBox="1"/>
          <p:nvPr/>
        </p:nvSpPr>
        <p:spPr>
          <a:xfrm>
            <a:off x="1041400" y="1435100"/>
            <a:ext cx="5842000" cy="177800"/>
          </a:xfrm>
          <a:prstGeom prst="rect">
            <a:avLst/>
          </a:prstGeom>
          <a:noFill/>
        </p:spPr>
        <p:txBody>
          <a:bodyPr vert="horz" wrap="square" lIns="0" tIns="0" rIns="0" bIns="0" rtlCol="0" anchor="t">
            <a:noAutofit/>
          </a:bodyPr>
          <a:lstStyle/>
          <a:p>
            <a:r>
              <a:rPr lang="en-IN" sz="1050">
                <a:solidFill>
                  <a:srgbClr val="F1F4F9"/>
                </a:solidFill>
                <a:latin typeface="Segoe UI Semibold" panose="020B0702040204020203" pitchFamily="34" charset="0"/>
              </a:rPr>
              <a:t>Secure multi-tenant workspace</a:t>
            </a:r>
          </a:p>
        </p:txBody>
      </p:sp>
      <p:sp>
        <p:nvSpPr>
          <p:cNvPr id="16" name="TextBox 15">
            <a:extLst>
              <a:ext uri="{FF2B5EF4-FFF2-40B4-BE49-F238E27FC236}">
                <a16:creationId xmlns:a16="http://schemas.microsoft.com/office/drawing/2014/main" id="{4B0E544D-C67A-BAB5-802E-C7A9AF3F75CF}"/>
              </a:ext>
            </a:extLst>
          </p:cNvPr>
          <p:cNvSpPr txBox="1"/>
          <p:nvPr/>
        </p:nvSpPr>
        <p:spPr>
          <a:xfrm>
            <a:off x="1041400" y="1638300"/>
            <a:ext cx="5918200" cy="330200"/>
          </a:xfrm>
          <a:prstGeom prst="rect">
            <a:avLst/>
          </a:prstGeom>
          <a:noFill/>
        </p:spPr>
        <p:txBody>
          <a:bodyPr vert="horz" wrap="square" lIns="0" tIns="0" rIns="0" bIns="0" rtlCol="0" anchor="t">
            <a:noAutofit/>
          </a:bodyPr>
          <a:lstStyle/>
          <a:p>
            <a:r>
              <a:rPr lang="en-US" sz="850">
                <a:solidFill>
                  <a:srgbClr val="B3BDCF"/>
                </a:solidFill>
                <a:latin typeface="Segoe UI" panose="020B0502040204020203" pitchFamily="34" charset="0"/>
              </a:rPr>
              <a:t>Organisation → department → team → project, with OWNER / ADMIN / MEMBER roles enforced in the database.</a:t>
            </a:r>
            <a:endParaRPr lang="en-IN" sz="850">
              <a:solidFill>
                <a:srgbClr val="B3BDCF"/>
              </a:solidFill>
              <a:latin typeface="Segoe UI" panose="020B0502040204020203" pitchFamily="34" charset="0"/>
            </a:endParaRPr>
          </a:p>
        </p:txBody>
      </p:sp>
      <p:sp>
        <p:nvSpPr>
          <p:cNvPr id="17" name="TextBox 16">
            <a:extLst>
              <a:ext uri="{FF2B5EF4-FFF2-40B4-BE49-F238E27FC236}">
                <a16:creationId xmlns:a16="http://schemas.microsoft.com/office/drawing/2014/main" id="{3CB9726D-5186-824D-EDED-9F9D5ED5498E}"/>
              </a:ext>
            </a:extLst>
          </p:cNvPr>
          <p:cNvSpPr txBox="1"/>
          <p:nvPr/>
        </p:nvSpPr>
        <p:spPr>
          <a:xfrm>
            <a:off x="7112000" y="1447800"/>
            <a:ext cx="3175000" cy="4572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Cross-tenant and role tests pass (153/153 PostgREST checks).</a:t>
            </a:r>
            <a:endParaRPr lang="en-IN" sz="850">
              <a:solidFill>
                <a:srgbClr val="B3BDCF"/>
              </a:solidFill>
              <a:latin typeface="Segoe UI" panose="020B0502040204020203" pitchFamily="34" charset="0"/>
            </a:endParaRPr>
          </a:p>
        </p:txBody>
      </p:sp>
      <p:sp>
        <p:nvSpPr>
          <p:cNvPr id="18" name="Rectangle: Rounded Corners 17">
            <a:extLst>
              <a:ext uri="{FF2B5EF4-FFF2-40B4-BE49-F238E27FC236}">
                <a16:creationId xmlns:a16="http://schemas.microsoft.com/office/drawing/2014/main" id="{1F343F23-FF12-B870-5CBF-CC4CF7E97618}"/>
              </a:ext>
            </a:extLst>
          </p:cNvPr>
          <p:cNvSpPr/>
          <p:nvPr/>
        </p:nvSpPr>
        <p:spPr>
          <a:xfrm>
            <a:off x="10706100" y="15748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sp>
        <p:nvSpPr>
          <p:cNvPr id="19" name="Rectangle: Rounded Corners 18">
            <a:extLst>
              <a:ext uri="{FF2B5EF4-FFF2-40B4-BE49-F238E27FC236}">
                <a16:creationId xmlns:a16="http://schemas.microsoft.com/office/drawing/2014/main" id="{A02497A1-66A5-391D-5DD9-3CBF1EBA264B}"/>
              </a:ext>
            </a:extLst>
          </p:cNvPr>
          <p:cNvSpPr/>
          <p:nvPr/>
        </p:nvSpPr>
        <p:spPr>
          <a:xfrm>
            <a:off x="508000" y="2057400"/>
            <a:ext cx="11176000" cy="635000"/>
          </a:xfrm>
          <a:prstGeom prst="roundRect">
            <a:avLst>
              <a:gd name="adj" fmla="val 1200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21B24F9F-5861-4C3B-B8C9-F980246F0625}"/>
              </a:ext>
            </a:extLst>
          </p:cNvPr>
          <p:cNvSpPr/>
          <p:nvPr/>
        </p:nvSpPr>
        <p:spPr>
          <a:xfrm>
            <a:off x="635000" y="2247900"/>
            <a:ext cx="304800" cy="254000"/>
          </a:xfrm>
          <a:prstGeom prst="roundRect">
            <a:avLst>
              <a:gd name="adj" fmla="val 50000"/>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none" lIns="0" tIns="25400" rIns="0" bIns="25400" rtlCol="0" anchor="ctr">
            <a:noAutofit/>
          </a:bodyPr>
          <a:lstStyle/>
          <a:p>
            <a:pPr algn="ctr">
              <a:lnSpc>
                <a:spcPct val="95000"/>
              </a:lnSpc>
            </a:pPr>
            <a:r>
              <a:rPr lang="en-IN" sz="750">
                <a:solidFill>
                  <a:srgbClr val="8B9BFF"/>
                </a:solidFill>
                <a:latin typeface="Segoe UI Semibold" panose="020B0702040204020203" pitchFamily="34" charset="0"/>
              </a:rPr>
              <a:t>O2</a:t>
            </a:r>
          </a:p>
        </p:txBody>
      </p:sp>
      <p:sp>
        <p:nvSpPr>
          <p:cNvPr id="21" name="TextBox 20">
            <a:extLst>
              <a:ext uri="{FF2B5EF4-FFF2-40B4-BE49-F238E27FC236}">
                <a16:creationId xmlns:a16="http://schemas.microsoft.com/office/drawing/2014/main" id="{F5DBABF5-6543-248A-36A1-663D72643B84}"/>
              </a:ext>
            </a:extLst>
          </p:cNvPr>
          <p:cNvSpPr txBox="1"/>
          <p:nvPr/>
        </p:nvSpPr>
        <p:spPr>
          <a:xfrm>
            <a:off x="1041400" y="2146300"/>
            <a:ext cx="5842000" cy="177800"/>
          </a:xfrm>
          <a:prstGeom prst="rect">
            <a:avLst/>
          </a:prstGeom>
          <a:noFill/>
        </p:spPr>
        <p:txBody>
          <a:bodyPr vert="horz" wrap="square" lIns="0" tIns="0" rIns="0" bIns="0" rtlCol="0" anchor="t">
            <a:noAutofit/>
          </a:bodyPr>
          <a:lstStyle/>
          <a:p>
            <a:r>
              <a:rPr lang="en-IN" sz="1050">
                <a:solidFill>
                  <a:srgbClr val="F1F4F9"/>
                </a:solidFill>
                <a:latin typeface="Segoe UI Semibold" panose="020B0702040204020203" pitchFamily="34" charset="0"/>
              </a:rPr>
              <a:t>Engineering work capture</a:t>
            </a:r>
          </a:p>
        </p:txBody>
      </p:sp>
      <p:sp>
        <p:nvSpPr>
          <p:cNvPr id="22" name="TextBox 21">
            <a:extLst>
              <a:ext uri="{FF2B5EF4-FFF2-40B4-BE49-F238E27FC236}">
                <a16:creationId xmlns:a16="http://schemas.microsoft.com/office/drawing/2014/main" id="{0144248B-2B84-151D-503E-E659EE745AF5}"/>
              </a:ext>
            </a:extLst>
          </p:cNvPr>
          <p:cNvSpPr txBox="1"/>
          <p:nvPr/>
        </p:nvSpPr>
        <p:spPr>
          <a:xfrm>
            <a:off x="1041400" y="2349500"/>
            <a:ext cx="5918200" cy="330200"/>
          </a:xfrm>
          <a:prstGeom prst="rect">
            <a:avLst/>
          </a:prstGeom>
          <a:noFill/>
        </p:spPr>
        <p:txBody>
          <a:bodyPr vert="horz" wrap="square" lIns="0" tIns="0" rIns="0" bIns="0" rtlCol="0" anchor="t">
            <a:noAutofit/>
          </a:bodyPr>
          <a:lstStyle/>
          <a:p>
            <a:r>
              <a:rPr lang="en-US" sz="850">
                <a:solidFill>
                  <a:srgbClr val="B3BDCF"/>
                </a:solidFill>
                <a:latin typeface="Segoe UI" panose="020B0502040204020203" pitchFamily="34" charset="0"/>
              </a:rPr>
              <a:t>Requirements and tasks per project, with lifecycle rules enforced by database triggers.</a:t>
            </a:r>
            <a:endParaRPr lang="en-IN" sz="850">
              <a:solidFill>
                <a:srgbClr val="B3BDCF"/>
              </a:solidFill>
              <a:latin typeface="Segoe UI" panose="020B0502040204020203" pitchFamily="34" charset="0"/>
            </a:endParaRPr>
          </a:p>
        </p:txBody>
      </p:sp>
      <p:sp>
        <p:nvSpPr>
          <p:cNvPr id="23" name="TextBox 22">
            <a:extLst>
              <a:ext uri="{FF2B5EF4-FFF2-40B4-BE49-F238E27FC236}">
                <a16:creationId xmlns:a16="http://schemas.microsoft.com/office/drawing/2014/main" id="{3047ADD9-122A-B51B-490B-0213F98082BA}"/>
              </a:ext>
            </a:extLst>
          </p:cNvPr>
          <p:cNvSpPr txBox="1"/>
          <p:nvPr/>
        </p:nvSpPr>
        <p:spPr>
          <a:xfrm>
            <a:off x="7112000" y="2159000"/>
            <a:ext cx="3175000" cy="4572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Invalid transitions rejected; regression suites pass.</a:t>
            </a:r>
          </a:p>
        </p:txBody>
      </p:sp>
      <p:sp>
        <p:nvSpPr>
          <p:cNvPr id="24" name="Rectangle: Rounded Corners 23">
            <a:extLst>
              <a:ext uri="{FF2B5EF4-FFF2-40B4-BE49-F238E27FC236}">
                <a16:creationId xmlns:a16="http://schemas.microsoft.com/office/drawing/2014/main" id="{F44E47A0-7CE5-FC9F-7C0D-978F235F0B54}"/>
              </a:ext>
            </a:extLst>
          </p:cNvPr>
          <p:cNvSpPr/>
          <p:nvPr/>
        </p:nvSpPr>
        <p:spPr>
          <a:xfrm>
            <a:off x="10706100" y="2286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sp>
        <p:nvSpPr>
          <p:cNvPr id="25" name="Rectangle: Rounded Corners 24">
            <a:extLst>
              <a:ext uri="{FF2B5EF4-FFF2-40B4-BE49-F238E27FC236}">
                <a16:creationId xmlns:a16="http://schemas.microsoft.com/office/drawing/2014/main" id="{F2F1700E-327F-1201-0FD4-0939A56EC131}"/>
              </a:ext>
            </a:extLst>
          </p:cNvPr>
          <p:cNvSpPr/>
          <p:nvPr/>
        </p:nvSpPr>
        <p:spPr>
          <a:xfrm>
            <a:off x="508000" y="2768600"/>
            <a:ext cx="11176000" cy="635000"/>
          </a:xfrm>
          <a:prstGeom prst="roundRect">
            <a:avLst>
              <a:gd name="adj" fmla="val 1200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C0D42857-7C82-40AC-FAC0-DC143302DDD3}"/>
              </a:ext>
            </a:extLst>
          </p:cNvPr>
          <p:cNvSpPr/>
          <p:nvPr/>
        </p:nvSpPr>
        <p:spPr>
          <a:xfrm>
            <a:off x="635000" y="2959100"/>
            <a:ext cx="304800" cy="254000"/>
          </a:xfrm>
          <a:prstGeom prst="roundRect">
            <a:avLst>
              <a:gd name="adj" fmla="val 50000"/>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none" lIns="0" tIns="25400" rIns="0" bIns="25400" rtlCol="0" anchor="ctr">
            <a:noAutofit/>
          </a:bodyPr>
          <a:lstStyle/>
          <a:p>
            <a:pPr algn="ctr">
              <a:lnSpc>
                <a:spcPct val="95000"/>
              </a:lnSpc>
            </a:pPr>
            <a:r>
              <a:rPr lang="en-IN" sz="750">
                <a:solidFill>
                  <a:srgbClr val="8B9BFF"/>
                </a:solidFill>
                <a:latin typeface="Segoe UI Semibold" panose="020B0702040204020203" pitchFamily="34" charset="0"/>
              </a:rPr>
              <a:t>O3</a:t>
            </a:r>
          </a:p>
        </p:txBody>
      </p:sp>
      <p:sp>
        <p:nvSpPr>
          <p:cNvPr id="27" name="TextBox 26">
            <a:extLst>
              <a:ext uri="{FF2B5EF4-FFF2-40B4-BE49-F238E27FC236}">
                <a16:creationId xmlns:a16="http://schemas.microsoft.com/office/drawing/2014/main" id="{7ABF6E1A-23FA-A936-14F0-4A0E6B645AA7}"/>
              </a:ext>
            </a:extLst>
          </p:cNvPr>
          <p:cNvSpPr txBox="1"/>
          <p:nvPr/>
        </p:nvSpPr>
        <p:spPr>
          <a:xfrm>
            <a:off x="1041400" y="2857500"/>
            <a:ext cx="5842000" cy="177800"/>
          </a:xfrm>
          <a:prstGeom prst="rect">
            <a:avLst/>
          </a:prstGeom>
          <a:noFill/>
        </p:spPr>
        <p:txBody>
          <a:bodyPr vert="horz" wrap="square" lIns="0" tIns="0" rIns="0" bIns="0" rtlCol="0" anchor="t">
            <a:noAutofit/>
          </a:bodyPr>
          <a:lstStyle/>
          <a:p>
            <a:r>
              <a:rPr lang="en-IN" sz="1050">
                <a:solidFill>
                  <a:srgbClr val="F1F4F9"/>
                </a:solidFill>
                <a:latin typeface="Segoe UI Semibold" panose="020B0702040204020203" pitchFamily="34" charset="0"/>
              </a:rPr>
              <a:t>Repository intelligence foundation</a:t>
            </a:r>
          </a:p>
        </p:txBody>
      </p:sp>
      <p:sp>
        <p:nvSpPr>
          <p:cNvPr id="28" name="TextBox 27">
            <a:extLst>
              <a:ext uri="{FF2B5EF4-FFF2-40B4-BE49-F238E27FC236}">
                <a16:creationId xmlns:a16="http://schemas.microsoft.com/office/drawing/2014/main" id="{BFBB2512-4119-2706-E2B2-63C9C4F1462B}"/>
              </a:ext>
            </a:extLst>
          </p:cNvPr>
          <p:cNvSpPr txBox="1"/>
          <p:nvPr/>
        </p:nvSpPr>
        <p:spPr>
          <a:xfrm>
            <a:off x="1041400" y="3060700"/>
            <a:ext cx="5918200" cy="330200"/>
          </a:xfrm>
          <a:prstGeom prst="rect">
            <a:avLst/>
          </a:prstGeom>
          <a:noFill/>
        </p:spPr>
        <p:txBody>
          <a:bodyPr vert="horz" wrap="square" lIns="0" tIns="0" rIns="0" bIns="0" rtlCol="0" anchor="t">
            <a:noAutofit/>
          </a:bodyPr>
          <a:lstStyle/>
          <a:p>
            <a:r>
              <a:rPr lang="en-US" sz="850">
                <a:solidFill>
                  <a:srgbClr val="B3BDCF"/>
                </a:solidFill>
                <a:latin typeface="Segoe UI" panose="020B0502040204020203" pitchFamily="34" charset="0"/>
              </a:rPr>
              <a:t>Snapshots, file manifests and AST extraction of symbols and relationships for TypeScript, JavaScript, Python and Java.</a:t>
            </a:r>
            <a:endParaRPr lang="en-IN" sz="850">
              <a:solidFill>
                <a:srgbClr val="B3BDCF"/>
              </a:solidFill>
              <a:latin typeface="Segoe UI" panose="020B0502040204020203" pitchFamily="34" charset="0"/>
            </a:endParaRPr>
          </a:p>
        </p:txBody>
      </p:sp>
      <p:sp>
        <p:nvSpPr>
          <p:cNvPr id="29" name="TextBox 28">
            <a:extLst>
              <a:ext uri="{FF2B5EF4-FFF2-40B4-BE49-F238E27FC236}">
                <a16:creationId xmlns:a16="http://schemas.microsoft.com/office/drawing/2014/main" id="{869678DA-E9B3-9662-3E29-E77063596D49}"/>
              </a:ext>
            </a:extLst>
          </p:cNvPr>
          <p:cNvSpPr txBox="1"/>
          <p:nvPr/>
        </p:nvSpPr>
        <p:spPr>
          <a:xfrm>
            <a:off x="7112000" y="2870200"/>
            <a:ext cx="3175000" cy="4572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Parser tests 166/166; signed, tamper-checked persistence.</a:t>
            </a:r>
          </a:p>
        </p:txBody>
      </p:sp>
      <p:sp>
        <p:nvSpPr>
          <p:cNvPr id="30" name="Rectangle: Rounded Corners 29">
            <a:extLst>
              <a:ext uri="{FF2B5EF4-FFF2-40B4-BE49-F238E27FC236}">
                <a16:creationId xmlns:a16="http://schemas.microsoft.com/office/drawing/2014/main" id="{71D681D1-D6F7-3AD4-00C2-1DBC42C8F22E}"/>
              </a:ext>
            </a:extLst>
          </p:cNvPr>
          <p:cNvSpPr/>
          <p:nvPr/>
        </p:nvSpPr>
        <p:spPr>
          <a:xfrm>
            <a:off x="10706100" y="29972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sp>
        <p:nvSpPr>
          <p:cNvPr id="31" name="Rectangle: Rounded Corners 30">
            <a:extLst>
              <a:ext uri="{FF2B5EF4-FFF2-40B4-BE49-F238E27FC236}">
                <a16:creationId xmlns:a16="http://schemas.microsoft.com/office/drawing/2014/main" id="{65C42F24-60F8-0EB6-04B6-E827F94ED568}"/>
              </a:ext>
            </a:extLst>
          </p:cNvPr>
          <p:cNvSpPr/>
          <p:nvPr/>
        </p:nvSpPr>
        <p:spPr>
          <a:xfrm>
            <a:off x="508000" y="3479800"/>
            <a:ext cx="11176000" cy="635000"/>
          </a:xfrm>
          <a:prstGeom prst="roundRect">
            <a:avLst>
              <a:gd name="adj" fmla="val 1200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Rounded Corners 31">
            <a:extLst>
              <a:ext uri="{FF2B5EF4-FFF2-40B4-BE49-F238E27FC236}">
                <a16:creationId xmlns:a16="http://schemas.microsoft.com/office/drawing/2014/main" id="{6E8FD58F-36A2-6B88-8BBA-DA151F294A0D}"/>
              </a:ext>
            </a:extLst>
          </p:cNvPr>
          <p:cNvSpPr/>
          <p:nvPr/>
        </p:nvSpPr>
        <p:spPr>
          <a:xfrm>
            <a:off x="635000" y="3670300"/>
            <a:ext cx="304800" cy="254000"/>
          </a:xfrm>
          <a:prstGeom prst="roundRect">
            <a:avLst>
              <a:gd name="adj" fmla="val 50000"/>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none" lIns="0" tIns="25400" rIns="0" bIns="25400" rtlCol="0" anchor="ctr">
            <a:noAutofit/>
          </a:bodyPr>
          <a:lstStyle/>
          <a:p>
            <a:pPr algn="ctr">
              <a:lnSpc>
                <a:spcPct val="95000"/>
              </a:lnSpc>
            </a:pPr>
            <a:r>
              <a:rPr lang="en-IN" sz="750">
                <a:solidFill>
                  <a:srgbClr val="8B9BFF"/>
                </a:solidFill>
                <a:latin typeface="Segoe UI Semibold" panose="020B0702040204020203" pitchFamily="34" charset="0"/>
              </a:rPr>
              <a:t>O4</a:t>
            </a:r>
          </a:p>
        </p:txBody>
      </p:sp>
      <p:sp>
        <p:nvSpPr>
          <p:cNvPr id="33" name="TextBox 32">
            <a:extLst>
              <a:ext uri="{FF2B5EF4-FFF2-40B4-BE49-F238E27FC236}">
                <a16:creationId xmlns:a16="http://schemas.microsoft.com/office/drawing/2014/main" id="{F24CEB0F-C026-CEFD-4825-AA6A8F9904A6}"/>
              </a:ext>
            </a:extLst>
          </p:cNvPr>
          <p:cNvSpPr txBox="1"/>
          <p:nvPr/>
        </p:nvSpPr>
        <p:spPr>
          <a:xfrm>
            <a:off x="1041400" y="3568700"/>
            <a:ext cx="5842000" cy="177800"/>
          </a:xfrm>
          <a:prstGeom prst="rect">
            <a:avLst/>
          </a:prstGeom>
          <a:noFill/>
        </p:spPr>
        <p:txBody>
          <a:bodyPr vert="horz" wrap="square" lIns="0" tIns="0" rIns="0" bIns="0" rtlCol="0" anchor="t">
            <a:noAutofit/>
          </a:bodyPr>
          <a:lstStyle/>
          <a:p>
            <a:r>
              <a:rPr lang="en-IN" sz="1050">
                <a:solidFill>
                  <a:srgbClr val="F1F4F9"/>
                </a:solidFill>
                <a:latin typeface="Segoe UI Semibold" panose="020B0702040204020203" pitchFamily="34" charset="0"/>
              </a:rPr>
              <a:t>Shared engineering context</a:t>
            </a:r>
          </a:p>
        </p:txBody>
      </p:sp>
      <p:sp>
        <p:nvSpPr>
          <p:cNvPr id="34" name="TextBox 33">
            <a:extLst>
              <a:ext uri="{FF2B5EF4-FFF2-40B4-BE49-F238E27FC236}">
                <a16:creationId xmlns:a16="http://schemas.microsoft.com/office/drawing/2014/main" id="{E0E34ED9-46B9-82E3-8155-A9779A30C194}"/>
              </a:ext>
            </a:extLst>
          </p:cNvPr>
          <p:cNvSpPr txBox="1"/>
          <p:nvPr/>
        </p:nvSpPr>
        <p:spPr>
          <a:xfrm>
            <a:off x="1041400" y="3771900"/>
            <a:ext cx="5918200" cy="330200"/>
          </a:xfrm>
          <a:prstGeom prst="rect">
            <a:avLst/>
          </a:prstGeom>
          <a:noFill/>
        </p:spPr>
        <p:txBody>
          <a:bodyPr vert="horz" wrap="square" lIns="0" tIns="0" rIns="0" bIns="0" rtlCol="0" anchor="t">
            <a:noAutofit/>
          </a:bodyPr>
          <a:lstStyle/>
          <a:p>
            <a:r>
              <a:rPr lang="en-US" sz="850">
                <a:solidFill>
                  <a:srgbClr val="B3BDCF"/>
                </a:solidFill>
                <a:latin typeface="Segoe UI" panose="020B0502040204020203" pitchFamily="34" charset="0"/>
              </a:rPr>
              <a:t>Link requirements and tasks to code entities per project (Phase 2I).</a:t>
            </a:r>
            <a:endParaRPr lang="en-IN" sz="850">
              <a:solidFill>
                <a:srgbClr val="B3BDCF"/>
              </a:solidFill>
              <a:latin typeface="Segoe UI" panose="020B0502040204020203" pitchFamily="34" charset="0"/>
            </a:endParaRPr>
          </a:p>
        </p:txBody>
      </p:sp>
      <p:sp>
        <p:nvSpPr>
          <p:cNvPr id="35" name="TextBox 34">
            <a:extLst>
              <a:ext uri="{FF2B5EF4-FFF2-40B4-BE49-F238E27FC236}">
                <a16:creationId xmlns:a16="http://schemas.microsoft.com/office/drawing/2014/main" id="{7E11A1C3-A562-534B-D831-FF720F6F3C37}"/>
              </a:ext>
            </a:extLst>
          </p:cNvPr>
          <p:cNvSpPr txBox="1"/>
          <p:nvPr/>
        </p:nvSpPr>
        <p:spPr>
          <a:xfrm>
            <a:off x="7112000" y="3581400"/>
            <a:ext cx="3175000" cy="4572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Every work item linkable to code; links respect RLS.</a:t>
            </a:r>
            <a:endParaRPr lang="en-IN" sz="850">
              <a:solidFill>
                <a:srgbClr val="B3BDCF"/>
              </a:solidFill>
              <a:latin typeface="Segoe UI" panose="020B0502040204020203" pitchFamily="34" charset="0"/>
            </a:endParaRPr>
          </a:p>
        </p:txBody>
      </p:sp>
      <p:sp>
        <p:nvSpPr>
          <p:cNvPr id="36" name="Rectangle: Rounded Corners 35">
            <a:extLst>
              <a:ext uri="{FF2B5EF4-FFF2-40B4-BE49-F238E27FC236}">
                <a16:creationId xmlns:a16="http://schemas.microsoft.com/office/drawing/2014/main" id="{B0576995-DF7E-3B0D-4E40-2CC12BFE0AE5}"/>
              </a:ext>
            </a:extLst>
          </p:cNvPr>
          <p:cNvSpPr/>
          <p:nvPr/>
        </p:nvSpPr>
        <p:spPr>
          <a:xfrm>
            <a:off x="11112500" y="3708400"/>
            <a:ext cx="419100" cy="165100"/>
          </a:xfrm>
          <a:prstGeom prst="roundRect">
            <a:avLst>
              <a:gd name="adj" fmla="val 50000"/>
            </a:avLst>
          </a:prstGeom>
          <a:solidFill>
            <a:srgbClr val="33270F"/>
          </a:solidFill>
          <a:ln w="9525">
            <a:solidFill>
              <a:srgbClr val="F1A73B"/>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F1A73B"/>
                </a:solidFill>
                <a:latin typeface="Segoe UI Semibold" panose="020B0702040204020203" pitchFamily="34" charset="0"/>
              </a:rPr>
              <a:t>NEXT</a:t>
            </a:r>
          </a:p>
        </p:txBody>
      </p:sp>
      <p:sp>
        <p:nvSpPr>
          <p:cNvPr id="37" name="Rectangle: Rounded Corners 36">
            <a:extLst>
              <a:ext uri="{FF2B5EF4-FFF2-40B4-BE49-F238E27FC236}">
                <a16:creationId xmlns:a16="http://schemas.microsoft.com/office/drawing/2014/main" id="{580F952D-747D-9420-3AB7-D5249BEF8512}"/>
              </a:ext>
            </a:extLst>
          </p:cNvPr>
          <p:cNvSpPr/>
          <p:nvPr/>
        </p:nvSpPr>
        <p:spPr>
          <a:xfrm>
            <a:off x="508000" y="4191000"/>
            <a:ext cx="11176000" cy="635000"/>
          </a:xfrm>
          <a:prstGeom prst="roundRect">
            <a:avLst>
              <a:gd name="adj" fmla="val 1200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B30EB88D-51F3-B027-E912-D8518A4FC4C5}"/>
              </a:ext>
            </a:extLst>
          </p:cNvPr>
          <p:cNvSpPr/>
          <p:nvPr/>
        </p:nvSpPr>
        <p:spPr>
          <a:xfrm>
            <a:off x="635000" y="4381500"/>
            <a:ext cx="304800" cy="254000"/>
          </a:xfrm>
          <a:prstGeom prst="roundRect">
            <a:avLst>
              <a:gd name="adj" fmla="val 50000"/>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none" lIns="0" tIns="25400" rIns="0" bIns="25400" rtlCol="0" anchor="ctr">
            <a:noAutofit/>
          </a:bodyPr>
          <a:lstStyle/>
          <a:p>
            <a:pPr algn="ctr">
              <a:lnSpc>
                <a:spcPct val="95000"/>
              </a:lnSpc>
            </a:pPr>
            <a:r>
              <a:rPr lang="en-IN" sz="750">
                <a:solidFill>
                  <a:srgbClr val="8B9BFF"/>
                </a:solidFill>
                <a:latin typeface="Segoe UI Semibold" panose="020B0702040204020203" pitchFamily="34" charset="0"/>
              </a:rPr>
              <a:t>O5</a:t>
            </a:r>
          </a:p>
        </p:txBody>
      </p:sp>
      <p:sp>
        <p:nvSpPr>
          <p:cNvPr id="39" name="TextBox 38">
            <a:extLst>
              <a:ext uri="{FF2B5EF4-FFF2-40B4-BE49-F238E27FC236}">
                <a16:creationId xmlns:a16="http://schemas.microsoft.com/office/drawing/2014/main" id="{849F4E0E-E07B-8B59-EDBF-CB39B33675ED}"/>
              </a:ext>
            </a:extLst>
          </p:cNvPr>
          <p:cNvSpPr txBox="1"/>
          <p:nvPr/>
        </p:nvSpPr>
        <p:spPr>
          <a:xfrm>
            <a:off x="1041400" y="4279900"/>
            <a:ext cx="5842000" cy="177800"/>
          </a:xfrm>
          <a:prstGeom prst="rect">
            <a:avLst/>
          </a:prstGeom>
          <a:noFill/>
        </p:spPr>
        <p:txBody>
          <a:bodyPr vert="horz" wrap="square" lIns="0" tIns="0" rIns="0" bIns="0" rtlCol="0" anchor="t">
            <a:noAutofit/>
          </a:bodyPr>
          <a:lstStyle/>
          <a:p>
            <a:r>
              <a:rPr lang="en-IN" sz="1050">
                <a:solidFill>
                  <a:srgbClr val="F1F4F9"/>
                </a:solidFill>
                <a:latin typeface="Segoe UI Semibold" panose="020B0702040204020203" pitchFamily="34" charset="0"/>
              </a:rPr>
              <a:t>Context-grounded AI assistance</a:t>
            </a:r>
          </a:p>
        </p:txBody>
      </p:sp>
      <p:sp>
        <p:nvSpPr>
          <p:cNvPr id="40" name="TextBox 39">
            <a:extLst>
              <a:ext uri="{FF2B5EF4-FFF2-40B4-BE49-F238E27FC236}">
                <a16:creationId xmlns:a16="http://schemas.microsoft.com/office/drawing/2014/main" id="{81ACDCB0-2A77-F755-E0D0-4D86FC25A175}"/>
              </a:ext>
            </a:extLst>
          </p:cNvPr>
          <p:cNvSpPr txBox="1"/>
          <p:nvPr/>
        </p:nvSpPr>
        <p:spPr>
          <a:xfrm>
            <a:off x="1041400" y="4483100"/>
            <a:ext cx="5918200" cy="330200"/>
          </a:xfrm>
          <a:prstGeom prst="rect">
            <a:avLst/>
          </a:prstGeom>
          <a:noFill/>
        </p:spPr>
        <p:txBody>
          <a:bodyPr vert="horz" wrap="square" lIns="0" tIns="0" rIns="0" bIns="0" rtlCol="0" anchor="t">
            <a:noAutofit/>
          </a:bodyPr>
          <a:lstStyle/>
          <a:p>
            <a:r>
              <a:rPr lang="en-US" sz="850">
                <a:solidFill>
                  <a:srgbClr val="B3BDCF"/>
                </a:solidFill>
                <a:latin typeface="Segoe UI" panose="020B0502040204020203" pitchFamily="34" charset="0"/>
              </a:rPr>
              <a:t>Authorization-aware orchestrator that assembles only permitted context for AI services.</a:t>
            </a:r>
            <a:endParaRPr lang="en-IN" sz="850">
              <a:solidFill>
                <a:srgbClr val="B3BDCF"/>
              </a:solidFill>
              <a:latin typeface="Segoe UI" panose="020B0502040204020203" pitchFamily="34" charset="0"/>
            </a:endParaRPr>
          </a:p>
        </p:txBody>
      </p:sp>
      <p:sp>
        <p:nvSpPr>
          <p:cNvPr id="41" name="TextBox 40">
            <a:extLst>
              <a:ext uri="{FF2B5EF4-FFF2-40B4-BE49-F238E27FC236}">
                <a16:creationId xmlns:a16="http://schemas.microsoft.com/office/drawing/2014/main" id="{64C2370D-BBA1-1CB6-7DEE-C525CDEF6CDC}"/>
              </a:ext>
            </a:extLst>
          </p:cNvPr>
          <p:cNvSpPr txBox="1"/>
          <p:nvPr/>
        </p:nvSpPr>
        <p:spPr>
          <a:xfrm>
            <a:off x="7112000" y="4292600"/>
            <a:ext cx="3175000" cy="4572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Answers cite only context the user may access.</a:t>
            </a:r>
            <a:endParaRPr lang="en-IN" sz="850">
              <a:solidFill>
                <a:srgbClr val="B3BDCF"/>
              </a:solidFill>
              <a:latin typeface="Segoe UI" panose="020B0502040204020203" pitchFamily="34" charset="0"/>
            </a:endParaRPr>
          </a:p>
        </p:txBody>
      </p:sp>
      <p:sp>
        <p:nvSpPr>
          <p:cNvPr id="42" name="Rectangle: Rounded Corners 41">
            <a:extLst>
              <a:ext uri="{FF2B5EF4-FFF2-40B4-BE49-F238E27FC236}">
                <a16:creationId xmlns:a16="http://schemas.microsoft.com/office/drawing/2014/main" id="{BACED936-2E54-7A5A-3F49-C5DF397E5B9C}"/>
              </a:ext>
            </a:extLst>
          </p:cNvPr>
          <p:cNvSpPr/>
          <p:nvPr/>
        </p:nvSpPr>
        <p:spPr>
          <a:xfrm>
            <a:off x="10998200" y="44196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43" name="Rectangle: Rounded Corners 42">
            <a:extLst>
              <a:ext uri="{FF2B5EF4-FFF2-40B4-BE49-F238E27FC236}">
                <a16:creationId xmlns:a16="http://schemas.microsoft.com/office/drawing/2014/main" id="{1EF7C3B4-3CCA-9B67-22B4-E423413C0739}"/>
              </a:ext>
            </a:extLst>
          </p:cNvPr>
          <p:cNvSpPr/>
          <p:nvPr/>
        </p:nvSpPr>
        <p:spPr>
          <a:xfrm>
            <a:off x="508000" y="4902200"/>
            <a:ext cx="11176000" cy="635000"/>
          </a:xfrm>
          <a:prstGeom prst="roundRect">
            <a:avLst>
              <a:gd name="adj" fmla="val 1200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Rounded Corners 43">
            <a:extLst>
              <a:ext uri="{FF2B5EF4-FFF2-40B4-BE49-F238E27FC236}">
                <a16:creationId xmlns:a16="http://schemas.microsoft.com/office/drawing/2014/main" id="{1B3B0FEA-EF62-771B-525F-C67C05A99331}"/>
              </a:ext>
            </a:extLst>
          </p:cNvPr>
          <p:cNvSpPr/>
          <p:nvPr/>
        </p:nvSpPr>
        <p:spPr>
          <a:xfrm>
            <a:off x="635000" y="5092700"/>
            <a:ext cx="304800" cy="254000"/>
          </a:xfrm>
          <a:prstGeom prst="roundRect">
            <a:avLst>
              <a:gd name="adj" fmla="val 50000"/>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none" lIns="0" tIns="25400" rIns="0" bIns="25400" rtlCol="0" anchor="ctr">
            <a:noAutofit/>
          </a:bodyPr>
          <a:lstStyle/>
          <a:p>
            <a:pPr algn="ctr">
              <a:lnSpc>
                <a:spcPct val="95000"/>
              </a:lnSpc>
            </a:pPr>
            <a:r>
              <a:rPr lang="en-IN" sz="750">
                <a:solidFill>
                  <a:srgbClr val="8B9BFF"/>
                </a:solidFill>
                <a:latin typeface="Segoe UI Semibold" panose="020B0702040204020203" pitchFamily="34" charset="0"/>
              </a:rPr>
              <a:t>O6</a:t>
            </a:r>
          </a:p>
        </p:txBody>
      </p:sp>
      <p:sp>
        <p:nvSpPr>
          <p:cNvPr id="45" name="TextBox 44">
            <a:extLst>
              <a:ext uri="{FF2B5EF4-FFF2-40B4-BE49-F238E27FC236}">
                <a16:creationId xmlns:a16="http://schemas.microsoft.com/office/drawing/2014/main" id="{955F027D-3C39-BC99-FC99-D0B2F901C650}"/>
              </a:ext>
            </a:extLst>
          </p:cNvPr>
          <p:cNvSpPr txBox="1"/>
          <p:nvPr/>
        </p:nvSpPr>
        <p:spPr>
          <a:xfrm>
            <a:off x="1041400" y="4991100"/>
            <a:ext cx="5842000" cy="177800"/>
          </a:xfrm>
          <a:prstGeom prst="rect">
            <a:avLst/>
          </a:prstGeom>
          <a:noFill/>
        </p:spPr>
        <p:txBody>
          <a:bodyPr vert="horz" wrap="square" lIns="0" tIns="0" rIns="0" bIns="0" rtlCol="0" anchor="t">
            <a:noAutofit/>
          </a:bodyPr>
          <a:lstStyle/>
          <a:p>
            <a:r>
              <a:rPr lang="en-IN" sz="1050">
                <a:solidFill>
                  <a:srgbClr val="F1F4F9"/>
                </a:solidFill>
                <a:latin typeface="Segoe UI Semibold" panose="020B0702040204020203" pitchFamily="34" charset="0"/>
              </a:rPr>
              <a:t>Explainable defect-risk prediction</a:t>
            </a:r>
          </a:p>
        </p:txBody>
      </p:sp>
      <p:sp>
        <p:nvSpPr>
          <p:cNvPr id="46" name="TextBox 45">
            <a:extLst>
              <a:ext uri="{FF2B5EF4-FFF2-40B4-BE49-F238E27FC236}">
                <a16:creationId xmlns:a16="http://schemas.microsoft.com/office/drawing/2014/main" id="{357AA219-BDD9-1931-31AA-D6DA178E4411}"/>
              </a:ext>
            </a:extLst>
          </p:cNvPr>
          <p:cNvSpPr txBox="1"/>
          <p:nvPr/>
        </p:nvSpPr>
        <p:spPr>
          <a:xfrm>
            <a:off x="1041400" y="5194300"/>
            <a:ext cx="5918200" cy="330200"/>
          </a:xfrm>
          <a:prstGeom prst="rect">
            <a:avLst/>
          </a:prstGeom>
          <a:noFill/>
        </p:spPr>
        <p:txBody>
          <a:bodyPr vert="horz" wrap="square" lIns="0" tIns="0" rIns="0" bIns="0" rtlCol="0" anchor="t">
            <a:noAutofit/>
          </a:bodyPr>
          <a:lstStyle/>
          <a:p>
            <a:r>
              <a:rPr lang="en-US" sz="850">
                <a:solidFill>
                  <a:srgbClr val="B3BDCF"/>
                </a:solidFill>
                <a:latin typeface="Segoe UI" panose="020B0502040204020203" pitchFamily="34" charset="0"/>
              </a:rPr>
              <a:t>Change-level risk estimate with an explanation, informed by JIT-BiCC [4] and FoX [5].</a:t>
            </a:r>
            <a:endParaRPr lang="en-IN" sz="850">
              <a:solidFill>
                <a:srgbClr val="B3BDCF"/>
              </a:solidFill>
              <a:latin typeface="Segoe UI" panose="020B0502040204020203" pitchFamily="34" charset="0"/>
            </a:endParaRPr>
          </a:p>
        </p:txBody>
      </p:sp>
      <p:sp>
        <p:nvSpPr>
          <p:cNvPr id="47" name="TextBox 46">
            <a:extLst>
              <a:ext uri="{FF2B5EF4-FFF2-40B4-BE49-F238E27FC236}">
                <a16:creationId xmlns:a16="http://schemas.microsoft.com/office/drawing/2014/main" id="{BBFFB005-A04A-53C6-6774-CAC38C94CD5D}"/>
              </a:ext>
            </a:extLst>
          </p:cNvPr>
          <p:cNvSpPr txBox="1"/>
          <p:nvPr/>
        </p:nvSpPr>
        <p:spPr>
          <a:xfrm>
            <a:off x="7112000" y="5003800"/>
            <a:ext cx="3175000" cy="4572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Precision / recall / F1 against published JIT baselines.</a:t>
            </a:r>
            <a:endParaRPr lang="en-IN" sz="850">
              <a:solidFill>
                <a:srgbClr val="B3BDCF"/>
              </a:solidFill>
              <a:latin typeface="Segoe UI" panose="020B0502040204020203" pitchFamily="34" charset="0"/>
            </a:endParaRPr>
          </a:p>
        </p:txBody>
      </p:sp>
      <p:sp>
        <p:nvSpPr>
          <p:cNvPr id="48" name="Rectangle: Rounded Corners 47">
            <a:extLst>
              <a:ext uri="{FF2B5EF4-FFF2-40B4-BE49-F238E27FC236}">
                <a16:creationId xmlns:a16="http://schemas.microsoft.com/office/drawing/2014/main" id="{E8610898-436C-2714-0385-C91B1C148945}"/>
              </a:ext>
            </a:extLst>
          </p:cNvPr>
          <p:cNvSpPr/>
          <p:nvPr/>
        </p:nvSpPr>
        <p:spPr>
          <a:xfrm>
            <a:off x="10998200" y="51308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49" name="Rectangle: Rounded Corners 48">
            <a:extLst>
              <a:ext uri="{FF2B5EF4-FFF2-40B4-BE49-F238E27FC236}">
                <a16:creationId xmlns:a16="http://schemas.microsoft.com/office/drawing/2014/main" id="{F19137D3-1311-D629-0350-524C377D9D30}"/>
              </a:ext>
            </a:extLst>
          </p:cNvPr>
          <p:cNvSpPr/>
          <p:nvPr/>
        </p:nvSpPr>
        <p:spPr>
          <a:xfrm>
            <a:off x="508000" y="5664200"/>
            <a:ext cx="11176000" cy="609600"/>
          </a:xfrm>
          <a:prstGeom prst="roundRect">
            <a:avLst>
              <a:gd name="adj" fmla="val 12500"/>
            </a:avLst>
          </a:prstGeom>
          <a:solidFill>
            <a:srgbClr val="16213A"/>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370115F9-2677-5881-7DB9-8E7EB498F71F}"/>
              </a:ext>
            </a:extLst>
          </p:cNvPr>
          <p:cNvSpPr txBox="1"/>
          <p:nvPr/>
        </p:nvSpPr>
        <p:spPr>
          <a:xfrm>
            <a:off x="711200" y="5791200"/>
            <a:ext cx="254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EXPECTED DELIVERABLES</a:t>
            </a:r>
          </a:p>
        </p:txBody>
      </p:sp>
      <p:sp>
        <p:nvSpPr>
          <p:cNvPr id="51" name="TextBox 50">
            <a:extLst>
              <a:ext uri="{FF2B5EF4-FFF2-40B4-BE49-F238E27FC236}">
                <a16:creationId xmlns:a16="http://schemas.microsoft.com/office/drawing/2014/main" id="{AFA28BFF-0822-D05C-E2B6-3A7813C3161C}"/>
              </a:ext>
            </a:extLst>
          </p:cNvPr>
          <p:cNvSpPr txBox="1"/>
          <p:nvPr/>
        </p:nvSpPr>
        <p:spPr>
          <a:xfrm>
            <a:off x="711200" y="5969000"/>
            <a:ext cx="10922000" cy="254000"/>
          </a:xfrm>
          <a:prstGeom prst="rect">
            <a:avLst/>
          </a:prstGeom>
          <a:noFill/>
        </p:spPr>
        <p:txBody>
          <a:bodyPr vert="horz" wrap="square" lIns="0" tIns="0" rIns="0" bIns="0" rtlCol="0" anchor="t">
            <a:noAutofit/>
          </a:bodyPr>
          <a:lstStyle/>
          <a:p>
            <a:r>
              <a:rPr lang="en-US" sz="900">
                <a:solidFill>
                  <a:srgbClr val="B3BDCF"/>
                </a:solidFill>
                <a:latin typeface="Segoe UI" panose="020B0502040204020203" pitchFamily="34" charset="0"/>
              </a:rPr>
              <a:t>Web prototype (running, partial)  ·  Repository intelligence module  ·  Engineering context store (next)  ·  Risk prediction and explanation module (planned)  ·  Project report  ·  Conference paper (planned)</a:t>
            </a:r>
            <a:endParaRPr lang="en-IN" sz="900">
              <a:solidFill>
                <a:srgbClr val="B3BDCF"/>
              </a:solidFill>
              <a:latin typeface="Segoe UI" panose="020B0502040204020203" pitchFamily="34" charset="0"/>
            </a:endParaRPr>
          </a:p>
        </p:txBody>
      </p:sp>
    </p:spTree>
    <p:extLst>
      <p:ext uri="{BB962C8B-B14F-4D97-AF65-F5344CB8AC3E}">
        <p14:creationId xmlns:p14="http://schemas.microsoft.com/office/powerpoint/2010/main" val="1177684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7BD19F-C7B3-2E01-9D8C-74496131B4CC}"/>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10  ·  SCOPE</a:t>
            </a:r>
          </a:p>
        </p:txBody>
      </p:sp>
      <p:sp>
        <p:nvSpPr>
          <p:cNvPr id="3" name="TextBox 2">
            <a:extLst>
              <a:ext uri="{FF2B5EF4-FFF2-40B4-BE49-F238E27FC236}">
                <a16:creationId xmlns:a16="http://schemas.microsoft.com/office/drawing/2014/main" id="{8D9F0735-E94B-FF66-4342-7A08A617DEE5}"/>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Scope of the Project</a:t>
            </a:r>
          </a:p>
        </p:txBody>
      </p:sp>
      <p:sp>
        <p:nvSpPr>
          <p:cNvPr id="4" name="TextBox 3">
            <a:extLst>
              <a:ext uri="{FF2B5EF4-FFF2-40B4-BE49-F238E27FC236}">
                <a16:creationId xmlns:a16="http://schemas.microsoft.com/office/drawing/2014/main" id="{0183AC01-80A9-49CE-506C-396EBC4C7042}"/>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What is built, what comes next, and what is planned — clearly separated.</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E9A48691-C054-B379-01FD-424363441E3F}"/>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2E2BED8-41D9-DE12-D362-8817E8DA5DE8}"/>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828A70CB-BFB3-3864-7A40-5E6ABB257D1E}"/>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10 / 20</a:t>
            </a:r>
          </a:p>
        </p:txBody>
      </p:sp>
      <p:sp>
        <p:nvSpPr>
          <p:cNvPr id="8" name="Rectangle: Rounded Corners 7">
            <a:extLst>
              <a:ext uri="{FF2B5EF4-FFF2-40B4-BE49-F238E27FC236}">
                <a16:creationId xmlns:a16="http://schemas.microsoft.com/office/drawing/2014/main" id="{8A1E7C2C-37C2-70F3-8EDB-42C08A8430B9}"/>
              </a:ext>
            </a:extLst>
          </p:cNvPr>
          <p:cNvSpPr/>
          <p:nvPr/>
        </p:nvSpPr>
        <p:spPr>
          <a:xfrm>
            <a:off x="508000" y="1168400"/>
            <a:ext cx="3556000" cy="4368800"/>
          </a:xfrm>
          <a:prstGeom prst="roundRect">
            <a:avLst>
              <a:gd name="adj" fmla="val 2857"/>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F72BC83A-A5B2-F514-67B8-90865C0150C9}"/>
              </a:ext>
            </a:extLst>
          </p:cNvPr>
          <p:cNvSpPr/>
          <p:nvPr/>
        </p:nvSpPr>
        <p:spPr>
          <a:xfrm>
            <a:off x="685800" y="13208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sp>
        <p:nvSpPr>
          <p:cNvPr id="10" name="TextBox 9">
            <a:extLst>
              <a:ext uri="{FF2B5EF4-FFF2-40B4-BE49-F238E27FC236}">
                <a16:creationId xmlns:a16="http://schemas.microsoft.com/office/drawing/2014/main" id="{C2C50851-0223-6581-0E03-690F6B1AB08F}"/>
              </a:ext>
            </a:extLst>
          </p:cNvPr>
          <p:cNvSpPr txBox="1"/>
          <p:nvPr/>
        </p:nvSpPr>
        <p:spPr>
          <a:xfrm>
            <a:off x="685800" y="1549400"/>
            <a:ext cx="3175000" cy="203200"/>
          </a:xfrm>
          <a:prstGeom prst="rect">
            <a:avLst/>
          </a:prstGeom>
          <a:noFill/>
        </p:spPr>
        <p:txBody>
          <a:bodyPr vert="horz" wrap="square" lIns="0" tIns="0" rIns="0" bIns="0" rtlCol="0" anchor="t">
            <a:noAutofit/>
          </a:bodyPr>
          <a:lstStyle/>
          <a:p>
            <a:r>
              <a:rPr lang="en-IN" sz="1100">
                <a:solidFill>
                  <a:srgbClr val="F1F4F9"/>
                </a:solidFill>
                <a:latin typeface="Segoe UI Semibold" panose="020B0702040204020203" pitchFamily="34" charset="0"/>
              </a:rPr>
              <a:t>Phase 1, 2A–2H</a:t>
            </a:r>
          </a:p>
        </p:txBody>
      </p:sp>
      <p:sp>
        <p:nvSpPr>
          <p:cNvPr id="11" name="TextBox 10">
            <a:extLst>
              <a:ext uri="{FF2B5EF4-FFF2-40B4-BE49-F238E27FC236}">
                <a16:creationId xmlns:a16="http://schemas.microsoft.com/office/drawing/2014/main" id="{5E87FA4E-8A01-2AE6-3E45-4094953F08DA}"/>
              </a:ext>
            </a:extLst>
          </p:cNvPr>
          <p:cNvSpPr txBox="1"/>
          <p:nvPr/>
        </p:nvSpPr>
        <p:spPr>
          <a:xfrm>
            <a:off x="685800" y="1854200"/>
            <a:ext cx="3225800" cy="3175000"/>
          </a:xfrm>
          <a:prstGeom prst="rect">
            <a:avLst/>
          </a:prstGeom>
          <a:noFill/>
        </p:spPr>
        <p:txBody>
          <a:bodyPr vert="horz" wrap="square" lIns="0" tIns="0" rIns="0" bIns="0" rtlCol="0">
            <a:noAutofit/>
          </a:bodyPr>
          <a:lstStyle/>
          <a:p>
            <a:pPr marL="139700" indent="-139700">
              <a:spcAft>
                <a:spcPts val="700"/>
              </a:spcAft>
              <a:buClr>
                <a:srgbClr val="3CCF8E"/>
              </a:buClr>
              <a:buSzPct val="90000"/>
              <a:buFont typeface="+mj-lt"/>
              <a:buChar char="▪"/>
            </a:pPr>
            <a:r>
              <a:rPr lang="en-US" sz="1000">
                <a:solidFill>
                  <a:srgbClr val="B3BDCF"/>
                </a:solidFill>
                <a:latin typeface="Segoe UI" panose="020B0502040204020203" pitchFamily="34" charset="0"/>
              </a:rPr>
              <a:t>Email / password authentication, sessions, protected routes</a:t>
            </a:r>
          </a:p>
          <a:p>
            <a:pPr marL="139700" indent="-139700">
              <a:spcAft>
                <a:spcPts val="700"/>
              </a:spcAft>
              <a:buClr>
                <a:srgbClr val="3CCF8E"/>
              </a:buClr>
              <a:buSzPct val="90000"/>
              <a:buFont typeface="+mj-lt"/>
              <a:buChar char="▪"/>
            </a:pPr>
            <a:r>
              <a:rPr lang="en-US" sz="1000">
                <a:solidFill>
                  <a:srgbClr val="B3BDCF"/>
                </a:solidFill>
                <a:latin typeface="Segoe UI" panose="020B0502040204020203" pitchFamily="34" charset="0"/>
              </a:rPr>
              <a:t>Organisations, departments, teams and memberships</a:t>
            </a:r>
          </a:p>
          <a:p>
            <a:pPr marL="139700" indent="-139700">
              <a:spcAft>
                <a:spcPts val="700"/>
              </a:spcAft>
              <a:buClr>
                <a:srgbClr val="3CCF8E"/>
              </a:buClr>
              <a:buSzPct val="90000"/>
              <a:buFont typeface="+mj-lt"/>
              <a:buChar char="▪"/>
            </a:pPr>
            <a:r>
              <a:rPr lang="en-US" sz="1000">
                <a:solidFill>
                  <a:srgbClr val="B3BDCF"/>
                </a:solidFill>
                <a:latin typeface="Segoe UI" panose="020B0502040204020203" pitchFamily="34" charset="0"/>
              </a:rPr>
              <a:t>Roles: OWNER, ADMIN, MEMBER</a:t>
            </a:r>
          </a:p>
          <a:p>
            <a:pPr marL="139700" indent="-139700">
              <a:spcAft>
                <a:spcPts val="700"/>
              </a:spcAft>
              <a:buClr>
                <a:srgbClr val="3CCF8E"/>
              </a:buClr>
              <a:buSzPct val="90000"/>
              <a:buFont typeface="+mj-lt"/>
              <a:buChar char="▪"/>
            </a:pPr>
            <a:r>
              <a:rPr lang="en-US" sz="1000">
                <a:solidFill>
                  <a:srgbClr val="B3BDCF"/>
                </a:solidFill>
                <a:latin typeface="Segoe UI" panose="020B0502040204020203" pitchFamily="34" charset="0"/>
              </a:rPr>
              <a:t>Projects (greenfield / brownfield) with lifecycle</a:t>
            </a:r>
          </a:p>
          <a:p>
            <a:pPr marL="139700" indent="-139700">
              <a:spcAft>
                <a:spcPts val="700"/>
              </a:spcAft>
              <a:buClr>
                <a:srgbClr val="3CCF8E"/>
              </a:buClr>
              <a:buSzPct val="90000"/>
              <a:buFont typeface="+mj-lt"/>
              <a:buChar char="▪"/>
            </a:pPr>
            <a:r>
              <a:rPr lang="en-US" sz="1000">
                <a:solidFill>
                  <a:srgbClr val="B3BDCF"/>
                </a:solidFill>
                <a:latin typeface="Segoe UI" panose="020B0502040204020203" pitchFamily="34" charset="0"/>
              </a:rPr>
              <a:t>Requirements and tasks with status rules</a:t>
            </a:r>
          </a:p>
          <a:p>
            <a:pPr marL="139700" indent="-139700">
              <a:spcAft>
                <a:spcPts val="700"/>
              </a:spcAft>
              <a:buClr>
                <a:srgbClr val="3CCF8E"/>
              </a:buClr>
              <a:buSzPct val="90000"/>
              <a:buFont typeface="+mj-lt"/>
              <a:buChar char="▪"/>
            </a:pPr>
            <a:r>
              <a:rPr lang="en-US" sz="1000">
                <a:solidFill>
                  <a:srgbClr val="B3BDCF"/>
                </a:solidFill>
                <a:latin typeface="Segoe UI" panose="020B0502040204020203" pitchFamily="34" charset="0"/>
              </a:rPr>
              <a:t>Repository connection record (no cloning, no credentials stored)</a:t>
            </a:r>
          </a:p>
          <a:p>
            <a:pPr marL="139700" indent="-139700">
              <a:spcAft>
                <a:spcPts val="700"/>
              </a:spcAft>
              <a:buClr>
                <a:srgbClr val="3CCF8E"/>
              </a:buClr>
              <a:buSzPct val="90000"/>
              <a:buFont typeface="+mj-lt"/>
              <a:buChar char="▪"/>
            </a:pPr>
            <a:r>
              <a:rPr lang="en-US" sz="1000">
                <a:solidFill>
                  <a:srgbClr val="B3BDCF"/>
                </a:solidFill>
                <a:latin typeface="Segoe UI" panose="020B0502040204020203" pitchFamily="34" charset="0"/>
              </a:rPr>
              <a:t>Snapshots and file manifests (path, language, size, SHA-256)</a:t>
            </a:r>
          </a:p>
          <a:p>
            <a:pPr marL="139700" indent="-139700">
              <a:spcAft>
                <a:spcPts val="700"/>
              </a:spcAft>
              <a:buClr>
                <a:srgbClr val="3CCF8E"/>
              </a:buClr>
              <a:buSzPct val="90000"/>
              <a:buFont typeface="+mj-lt"/>
              <a:buChar char="▪"/>
            </a:pPr>
            <a:r>
              <a:rPr lang="en-US" sz="1000">
                <a:solidFill>
                  <a:srgbClr val="B3BDCF"/>
                </a:solidFill>
                <a:latin typeface="Segoe UI" panose="020B0502040204020203" pitchFamily="34" charset="0"/>
              </a:rPr>
              <a:t>Structure analysis: symbols and relationships, 4 languages</a:t>
            </a:r>
          </a:p>
          <a:p>
            <a:pPr marL="139700" indent="-139700">
              <a:spcAft>
                <a:spcPts val="700"/>
              </a:spcAft>
              <a:buClr>
                <a:srgbClr val="3CCF8E"/>
              </a:buClr>
              <a:buSzPct val="90000"/>
              <a:buFont typeface="+mj-lt"/>
              <a:buChar char="▪"/>
            </a:pPr>
            <a:r>
              <a:rPr lang="en-US" sz="1000">
                <a:solidFill>
                  <a:srgbClr val="B3BDCF"/>
                </a:solidFill>
                <a:latin typeface="Segoe UI" panose="020B0502040204020203" pitchFamily="34" charset="0"/>
              </a:rPr>
              <a:t>Enterprise web UI (desktop, tablet, mobile)</a:t>
            </a:r>
            <a:endParaRPr lang="en-IN" sz="1000">
              <a:solidFill>
                <a:srgbClr val="B3BDCF"/>
              </a:solidFill>
              <a:latin typeface="Segoe UI" panose="020B0502040204020203" pitchFamily="34" charset="0"/>
            </a:endParaRPr>
          </a:p>
        </p:txBody>
      </p:sp>
      <p:sp>
        <p:nvSpPr>
          <p:cNvPr id="12" name="TextBox 11">
            <a:extLst>
              <a:ext uri="{FF2B5EF4-FFF2-40B4-BE49-F238E27FC236}">
                <a16:creationId xmlns:a16="http://schemas.microsoft.com/office/drawing/2014/main" id="{BEB36843-D8A8-D766-0BBA-654D13B63499}"/>
              </a:ext>
            </a:extLst>
          </p:cNvPr>
          <p:cNvSpPr txBox="1"/>
          <p:nvPr/>
        </p:nvSpPr>
        <p:spPr>
          <a:xfrm>
            <a:off x="685800" y="5130800"/>
            <a:ext cx="3225800" cy="330200"/>
          </a:xfrm>
          <a:prstGeom prst="rect">
            <a:avLst/>
          </a:prstGeom>
          <a:noFill/>
        </p:spPr>
        <p:txBody>
          <a:bodyPr vert="horz" wrap="square" lIns="0" tIns="0" rIns="0" bIns="0" rtlCol="0" anchor="t">
            <a:noAutofit/>
          </a:bodyPr>
          <a:lstStyle/>
          <a:p>
            <a:endParaRPr lang="en-IN" sz="800">
              <a:solidFill>
                <a:srgbClr val="78849A"/>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B72A61BD-ED6A-A83B-E915-5F7B747EE581}"/>
              </a:ext>
            </a:extLst>
          </p:cNvPr>
          <p:cNvSpPr/>
          <p:nvPr/>
        </p:nvSpPr>
        <p:spPr>
          <a:xfrm>
            <a:off x="4318000" y="1168400"/>
            <a:ext cx="3556000" cy="4368800"/>
          </a:xfrm>
          <a:prstGeom prst="roundRect">
            <a:avLst>
              <a:gd name="adj" fmla="val 2857"/>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51CF11DF-FC1A-0F94-0155-09A87BB163D2}"/>
              </a:ext>
            </a:extLst>
          </p:cNvPr>
          <p:cNvSpPr/>
          <p:nvPr/>
        </p:nvSpPr>
        <p:spPr>
          <a:xfrm>
            <a:off x="4495800" y="1320800"/>
            <a:ext cx="419100" cy="165100"/>
          </a:xfrm>
          <a:prstGeom prst="roundRect">
            <a:avLst>
              <a:gd name="adj" fmla="val 50000"/>
            </a:avLst>
          </a:prstGeom>
          <a:solidFill>
            <a:srgbClr val="33270F"/>
          </a:solidFill>
          <a:ln w="9525">
            <a:solidFill>
              <a:srgbClr val="F1A73B"/>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F1A73B"/>
                </a:solidFill>
                <a:latin typeface="Segoe UI Semibold" panose="020B0702040204020203" pitchFamily="34" charset="0"/>
              </a:rPr>
              <a:t>NEXT</a:t>
            </a:r>
          </a:p>
        </p:txBody>
      </p:sp>
      <p:sp>
        <p:nvSpPr>
          <p:cNvPr id="15" name="TextBox 14">
            <a:extLst>
              <a:ext uri="{FF2B5EF4-FFF2-40B4-BE49-F238E27FC236}">
                <a16:creationId xmlns:a16="http://schemas.microsoft.com/office/drawing/2014/main" id="{3BE19F40-188F-E907-DCF2-273E8D022F9B}"/>
              </a:ext>
            </a:extLst>
          </p:cNvPr>
          <p:cNvSpPr txBox="1"/>
          <p:nvPr/>
        </p:nvSpPr>
        <p:spPr>
          <a:xfrm>
            <a:off x="4495800" y="1549400"/>
            <a:ext cx="3175000" cy="203200"/>
          </a:xfrm>
          <a:prstGeom prst="rect">
            <a:avLst/>
          </a:prstGeom>
          <a:noFill/>
        </p:spPr>
        <p:txBody>
          <a:bodyPr vert="horz" wrap="square" lIns="0" tIns="0" rIns="0" bIns="0" rtlCol="0" anchor="t">
            <a:noAutofit/>
          </a:bodyPr>
          <a:lstStyle/>
          <a:p>
            <a:r>
              <a:rPr lang="en-IN" sz="1100">
                <a:solidFill>
                  <a:srgbClr val="F1F4F9"/>
                </a:solidFill>
                <a:latin typeface="Segoe UI Semibold" panose="020B0702040204020203" pitchFamily="34" charset="0"/>
              </a:rPr>
              <a:t>Phase 2I and prerequisites</a:t>
            </a:r>
          </a:p>
        </p:txBody>
      </p:sp>
      <p:sp>
        <p:nvSpPr>
          <p:cNvPr id="16" name="TextBox 15">
            <a:extLst>
              <a:ext uri="{FF2B5EF4-FFF2-40B4-BE49-F238E27FC236}">
                <a16:creationId xmlns:a16="http://schemas.microsoft.com/office/drawing/2014/main" id="{405290DA-1BEC-562F-54F9-2139C53E7509}"/>
              </a:ext>
            </a:extLst>
          </p:cNvPr>
          <p:cNvSpPr txBox="1"/>
          <p:nvPr/>
        </p:nvSpPr>
        <p:spPr>
          <a:xfrm>
            <a:off x="4495800" y="1854200"/>
            <a:ext cx="3225800" cy="3175000"/>
          </a:xfrm>
          <a:prstGeom prst="rect">
            <a:avLst/>
          </a:prstGeom>
          <a:noFill/>
        </p:spPr>
        <p:txBody>
          <a:bodyPr vert="horz" wrap="square" lIns="0" tIns="0" rIns="0" bIns="0" rtlCol="0">
            <a:noAutofit/>
          </a:bodyPr>
          <a:lstStyle/>
          <a:p>
            <a:pPr marL="139700" indent="-139700">
              <a:spcAft>
                <a:spcPts val="700"/>
              </a:spcAft>
              <a:buClr>
                <a:srgbClr val="F1A73B"/>
              </a:buClr>
              <a:buSzPct val="90000"/>
              <a:buFont typeface="+mj-lt"/>
              <a:buChar char="▪"/>
            </a:pPr>
            <a:r>
              <a:rPr lang="en-US" sz="1000">
                <a:solidFill>
                  <a:srgbClr val="B3BDCF"/>
                </a:solidFill>
                <a:latin typeface="Segoe UI" panose="020B0502040204020203" pitchFamily="34" charset="0"/>
              </a:rPr>
              <a:t>Shared Engineering Context: link requirements and tasks to code entities</a:t>
            </a:r>
          </a:p>
          <a:p>
            <a:pPr marL="139700" indent="-139700">
              <a:spcAft>
                <a:spcPts val="700"/>
              </a:spcAft>
              <a:buClr>
                <a:srgbClr val="F1A73B"/>
              </a:buClr>
              <a:buSzPct val="90000"/>
              <a:buFont typeface="+mj-lt"/>
              <a:buChar char="▪"/>
            </a:pPr>
            <a:r>
              <a:rPr lang="en-US" sz="1000">
                <a:solidFill>
                  <a:srgbClr val="B3BDCF"/>
                </a:solidFill>
                <a:latin typeface="Segoe UI" panose="020B0502040204020203" pitchFamily="34" charset="0"/>
              </a:rPr>
              <a:t>Repository source ingestion (fetch file content for analysis)</a:t>
            </a:r>
          </a:p>
          <a:p>
            <a:pPr marL="139700" indent="-139700">
              <a:spcAft>
                <a:spcPts val="700"/>
              </a:spcAft>
              <a:buClr>
                <a:srgbClr val="F1A73B"/>
              </a:buClr>
              <a:buSzPct val="90000"/>
              <a:buFont typeface="+mj-lt"/>
              <a:buChar char="▪"/>
            </a:pPr>
            <a:r>
              <a:rPr lang="en-US" sz="1000">
                <a:solidFill>
                  <a:srgbClr val="B3BDCF"/>
                </a:solidFill>
                <a:latin typeface="Segoe UI" panose="020B0502040204020203" pitchFamily="34" charset="0"/>
              </a:rPr>
              <a:t>Job-based execution and recovery for long analyses</a:t>
            </a:r>
            <a:endParaRPr lang="en-IN" sz="1000">
              <a:solidFill>
                <a:srgbClr val="B3BDCF"/>
              </a:solidFill>
              <a:latin typeface="Segoe UI" panose="020B0502040204020203" pitchFamily="34" charset="0"/>
            </a:endParaRPr>
          </a:p>
        </p:txBody>
      </p:sp>
      <p:sp>
        <p:nvSpPr>
          <p:cNvPr id="17" name="TextBox 16">
            <a:extLst>
              <a:ext uri="{FF2B5EF4-FFF2-40B4-BE49-F238E27FC236}">
                <a16:creationId xmlns:a16="http://schemas.microsoft.com/office/drawing/2014/main" id="{AC04248B-43F9-F405-8674-364FD7EFEA06}"/>
              </a:ext>
            </a:extLst>
          </p:cNvPr>
          <p:cNvSpPr txBox="1"/>
          <p:nvPr/>
        </p:nvSpPr>
        <p:spPr>
          <a:xfrm>
            <a:off x="4495800" y="5130800"/>
            <a:ext cx="3225800" cy="330200"/>
          </a:xfrm>
          <a:prstGeom prst="rect">
            <a:avLst/>
          </a:prstGeom>
          <a:noFill/>
        </p:spPr>
        <p:txBody>
          <a:bodyPr vert="horz" wrap="square" lIns="0" tIns="0" rIns="0" bIns="0" rtlCol="0" anchor="t">
            <a:noAutofit/>
          </a:bodyPr>
          <a:lstStyle/>
          <a:p>
            <a:r>
              <a:rPr lang="en-US" sz="800">
                <a:solidFill>
                  <a:srgbClr val="78849A"/>
                </a:solidFill>
                <a:latin typeface="Segoe UI" panose="020B0502040204020203" pitchFamily="34" charset="0"/>
              </a:rPr>
              <a:t>Starts after Review 1. Source ingestion and jobs are prerequisites for analysing real repositories.</a:t>
            </a:r>
            <a:endParaRPr lang="en-IN" sz="800">
              <a:solidFill>
                <a:srgbClr val="78849A"/>
              </a:solidFill>
              <a:latin typeface="Segoe UI" panose="020B0502040204020203" pitchFamily="34" charset="0"/>
            </a:endParaRPr>
          </a:p>
        </p:txBody>
      </p:sp>
      <p:sp>
        <p:nvSpPr>
          <p:cNvPr id="18" name="Rectangle: Rounded Corners 17">
            <a:extLst>
              <a:ext uri="{FF2B5EF4-FFF2-40B4-BE49-F238E27FC236}">
                <a16:creationId xmlns:a16="http://schemas.microsoft.com/office/drawing/2014/main" id="{69F20D72-C3B1-B33C-7E17-8990DE31A4F3}"/>
              </a:ext>
            </a:extLst>
          </p:cNvPr>
          <p:cNvSpPr/>
          <p:nvPr/>
        </p:nvSpPr>
        <p:spPr>
          <a:xfrm>
            <a:off x="8128000" y="1168400"/>
            <a:ext cx="3556000" cy="4368800"/>
          </a:xfrm>
          <a:prstGeom prst="roundRect">
            <a:avLst>
              <a:gd name="adj" fmla="val 2857"/>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878047DB-D724-F58E-D7B7-EDF4433B5407}"/>
              </a:ext>
            </a:extLst>
          </p:cNvPr>
          <p:cNvSpPr/>
          <p:nvPr/>
        </p:nvSpPr>
        <p:spPr>
          <a:xfrm>
            <a:off x="8305800" y="13208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20" name="TextBox 19">
            <a:extLst>
              <a:ext uri="{FF2B5EF4-FFF2-40B4-BE49-F238E27FC236}">
                <a16:creationId xmlns:a16="http://schemas.microsoft.com/office/drawing/2014/main" id="{47F22723-083E-1839-21F2-38EB8391AC64}"/>
              </a:ext>
            </a:extLst>
          </p:cNvPr>
          <p:cNvSpPr txBox="1"/>
          <p:nvPr/>
        </p:nvSpPr>
        <p:spPr>
          <a:xfrm>
            <a:off x="8305800" y="1549400"/>
            <a:ext cx="3175000" cy="203200"/>
          </a:xfrm>
          <a:prstGeom prst="rect">
            <a:avLst/>
          </a:prstGeom>
          <a:noFill/>
        </p:spPr>
        <p:txBody>
          <a:bodyPr vert="horz" wrap="square" lIns="0" tIns="0" rIns="0" bIns="0" rtlCol="0" anchor="t">
            <a:noAutofit/>
          </a:bodyPr>
          <a:lstStyle/>
          <a:p>
            <a:r>
              <a:rPr lang="en-IN" sz="1100">
                <a:solidFill>
                  <a:srgbClr val="F1F4F9"/>
                </a:solidFill>
                <a:latin typeface="Segoe UI Semibold" panose="020B0702040204020203" pitchFamily="34" charset="0"/>
              </a:rPr>
              <a:t>Later phases</a:t>
            </a:r>
          </a:p>
        </p:txBody>
      </p:sp>
      <p:sp>
        <p:nvSpPr>
          <p:cNvPr id="21" name="TextBox 20">
            <a:extLst>
              <a:ext uri="{FF2B5EF4-FFF2-40B4-BE49-F238E27FC236}">
                <a16:creationId xmlns:a16="http://schemas.microsoft.com/office/drawing/2014/main" id="{8E5F59B9-10F0-8AE6-7CD1-7888EEDADAB2}"/>
              </a:ext>
            </a:extLst>
          </p:cNvPr>
          <p:cNvSpPr txBox="1"/>
          <p:nvPr/>
        </p:nvSpPr>
        <p:spPr>
          <a:xfrm>
            <a:off x="8305800" y="1854200"/>
            <a:ext cx="3225800" cy="3175000"/>
          </a:xfrm>
          <a:prstGeom prst="rect">
            <a:avLst/>
          </a:prstGeom>
          <a:noFill/>
        </p:spPr>
        <p:txBody>
          <a:bodyPr vert="horz" wrap="square" lIns="0" tIns="0" rIns="0" bIns="0" rtlCol="0">
            <a:noAutofit/>
          </a:bodyPr>
          <a:lstStyle/>
          <a:p>
            <a:pPr marL="139700" indent="-139700">
              <a:spcAft>
                <a:spcPts val="700"/>
              </a:spcAft>
              <a:buClr>
                <a:srgbClr val="8F99AD"/>
              </a:buClr>
              <a:buSzPct val="90000"/>
              <a:buFont typeface="+mj-lt"/>
              <a:buChar char="▪"/>
            </a:pPr>
            <a:r>
              <a:rPr lang="en-IN" sz="1000">
                <a:solidFill>
                  <a:srgbClr val="B3BDCF"/>
                </a:solidFill>
                <a:latin typeface="Segoe UI" panose="020B0502040204020203" pitchFamily="34" charset="0"/>
              </a:rPr>
              <a:t>AI Orchestrator: intent, authorization check, context assembly, model routing</a:t>
            </a:r>
          </a:p>
          <a:p>
            <a:pPr marL="139700" indent="-139700">
              <a:spcAft>
                <a:spcPts val="700"/>
              </a:spcAft>
              <a:buClr>
                <a:srgbClr val="8F99AD"/>
              </a:buClr>
              <a:buSzPct val="90000"/>
              <a:buFont typeface="+mj-lt"/>
              <a:buChar char="▪"/>
            </a:pPr>
            <a:r>
              <a:rPr lang="en-IN" sz="1000">
                <a:solidFill>
                  <a:srgbClr val="B3BDCF"/>
                </a:solidFill>
                <a:latin typeface="Segoe UI" panose="020B0502040204020203" pitchFamily="34" charset="0"/>
              </a:rPr>
              <a:t>AI services: Q&amp;A, review, test generation, documentation</a:t>
            </a:r>
          </a:p>
          <a:p>
            <a:pPr marL="139700" indent="-139700">
              <a:spcAft>
                <a:spcPts val="700"/>
              </a:spcAft>
              <a:buClr>
                <a:srgbClr val="8F99AD"/>
              </a:buClr>
              <a:buSzPct val="90000"/>
              <a:buFont typeface="+mj-lt"/>
              <a:buChar char="▪"/>
            </a:pPr>
            <a:r>
              <a:rPr lang="en-IN" sz="1000">
                <a:solidFill>
                  <a:srgbClr val="B3BDCF"/>
                </a:solidFill>
                <a:latin typeface="Segoe UI" panose="020B0502040204020203" pitchFamily="34" charset="0"/>
              </a:rPr>
              <a:t>Code graph traversal and change history</a:t>
            </a:r>
          </a:p>
          <a:p>
            <a:pPr marL="139700" indent="-139700">
              <a:spcAft>
                <a:spcPts val="700"/>
              </a:spcAft>
              <a:buClr>
                <a:srgbClr val="8F99AD"/>
              </a:buClr>
              <a:buSzPct val="90000"/>
              <a:buFont typeface="+mj-lt"/>
              <a:buChar char="▪"/>
            </a:pPr>
            <a:r>
              <a:rPr lang="en-IN" sz="1000">
                <a:solidFill>
                  <a:srgbClr val="B3BDCF"/>
                </a:solidFill>
                <a:latin typeface="Segoe UI" panose="020B0502040204020203" pitchFamily="34" charset="0"/>
              </a:rPr>
              <a:t>Defect-risk prediction with explanations</a:t>
            </a:r>
          </a:p>
          <a:p>
            <a:pPr marL="139700" indent="-139700">
              <a:spcAft>
                <a:spcPts val="700"/>
              </a:spcAft>
              <a:buClr>
                <a:srgbClr val="8F99AD"/>
              </a:buClr>
              <a:buSzPct val="90000"/>
              <a:buFont typeface="+mj-lt"/>
              <a:buChar char="▪"/>
            </a:pPr>
            <a:r>
              <a:rPr lang="en-IN" sz="1000">
                <a:solidFill>
                  <a:srgbClr val="B3BDCF"/>
                </a:solidFill>
                <a:latin typeface="Segoe UI" panose="020B0502040204020203" pitchFamily="34" charset="0"/>
              </a:rPr>
              <a:t>CI/CD integration and deployment feedback</a:t>
            </a:r>
          </a:p>
        </p:txBody>
      </p:sp>
      <p:sp>
        <p:nvSpPr>
          <p:cNvPr id="22" name="TextBox 21">
            <a:extLst>
              <a:ext uri="{FF2B5EF4-FFF2-40B4-BE49-F238E27FC236}">
                <a16:creationId xmlns:a16="http://schemas.microsoft.com/office/drawing/2014/main" id="{6D602CBF-3B37-55EE-4222-98E643197B0E}"/>
              </a:ext>
            </a:extLst>
          </p:cNvPr>
          <p:cNvSpPr txBox="1"/>
          <p:nvPr/>
        </p:nvSpPr>
        <p:spPr>
          <a:xfrm>
            <a:off x="8305800" y="5130800"/>
            <a:ext cx="3225800" cy="330200"/>
          </a:xfrm>
          <a:prstGeom prst="rect">
            <a:avLst/>
          </a:prstGeom>
          <a:noFill/>
        </p:spPr>
        <p:txBody>
          <a:bodyPr vert="horz" wrap="square" lIns="0" tIns="0" rIns="0" bIns="0" rtlCol="0" anchor="t">
            <a:noAutofit/>
          </a:bodyPr>
          <a:lstStyle/>
          <a:p>
            <a:r>
              <a:rPr lang="en-US" sz="800">
                <a:solidFill>
                  <a:srgbClr val="78849A"/>
                </a:solidFill>
                <a:latin typeface="Segoe UI" panose="020B0502040204020203" pitchFamily="34" charset="0"/>
              </a:rPr>
              <a:t>Planned for the rest of Phase I and Phase II; order may change after Phase 2I.</a:t>
            </a:r>
            <a:endParaRPr lang="en-IN" sz="800">
              <a:solidFill>
                <a:srgbClr val="78849A"/>
              </a:solidFill>
              <a:latin typeface="Segoe UI" panose="020B0502040204020203" pitchFamily="34" charset="0"/>
            </a:endParaRPr>
          </a:p>
        </p:txBody>
      </p:sp>
      <p:sp>
        <p:nvSpPr>
          <p:cNvPr id="23" name="Rectangle: Rounded Corners 22">
            <a:extLst>
              <a:ext uri="{FF2B5EF4-FFF2-40B4-BE49-F238E27FC236}">
                <a16:creationId xmlns:a16="http://schemas.microsoft.com/office/drawing/2014/main" id="{6587B79F-6133-5504-378A-1F80A49AB46A}"/>
              </a:ext>
            </a:extLst>
          </p:cNvPr>
          <p:cNvSpPr/>
          <p:nvPr/>
        </p:nvSpPr>
        <p:spPr>
          <a:xfrm>
            <a:off x="508000" y="5664200"/>
            <a:ext cx="11176000" cy="609600"/>
          </a:xfrm>
          <a:prstGeom prst="roundRect">
            <a:avLst>
              <a:gd name="adj" fmla="val 12500"/>
            </a:avLst>
          </a:prstGeom>
          <a:solidFill>
            <a:srgbClr val="33161A"/>
          </a:solidFill>
          <a:ln w="9525">
            <a:solidFill>
              <a:srgbClr val="7A3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F1EB9D51-6E6E-CF54-0FD9-B52D726CC207}"/>
              </a:ext>
            </a:extLst>
          </p:cNvPr>
          <p:cNvSpPr txBox="1"/>
          <p:nvPr/>
        </p:nvSpPr>
        <p:spPr>
          <a:xfrm>
            <a:off x="711200" y="5791200"/>
            <a:ext cx="2540000" cy="152400"/>
          </a:xfrm>
          <a:prstGeom prst="rect">
            <a:avLst/>
          </a:prstGeom>
          <a:noFill/>
        </p:spPr>
        <p:txBody>
          <a:bodyPr vert="horz" wrap="square" lIns="0" tIns="0" rIns="0" bIns="0" rtlCol="0" anchor="t">
            <a:noAutofit/>
          </a:bodyPr>
          <a:lstStyle/>
          <a:p>
            <a:r>
              <a:rPr lang="en-IN" sz="750" spc="110">
                <a:solidFill>
                  <a:srgbClr val="F06A6F"/>
                </a:solidFill>
                <a:latin typeface="Segoe UI Semibold" panose="020B0702040204020203" pitchFamily="34" charset="0"/>
              </a:rPr>
              <a:t>OUT OF SCOPE</a:t>
            </a:r>
          </a:p>
        </p:txBody>
      </p:sp>
      <p:sp>
        <p:nvSpPr>
          <p:cNvPr id="25" name="TextBox 24">
            <a:extLst>
              <a:ext uri="{FF2B5EF4-FFF2-40B4-BE49-F238E27FC236}">
                <a16:creationId xmlns:a16="http://schemas.microsoft.com/office/drawing/2014/main" id="{A7D3AF99-8603-02C7-9A44-2A67DE464D1C}"/>
              </a:ext>
            </a:extLst>
          </p:cNvPr>
          <p:cNvSpPr txBox="1"/>
          <p:nvPr/>
        </p:nvSpPr>
        <p:spPr>
          <a:xfrm>
            <a:off x="711200" y="5969000"/>
            <a:ext cx="10922000" cy="254000"/>
          </a:xfrm>
          <a:prstGeom prst="rect">
            <a:avLst/>
          </a:prstGeom>
          <a:noFill/>
        </p:spPr>
        <p:txBody>
          <a:bodyPr vert="horz" wrap="square" lIns="0" tIns="0" rIns="0" bIns="0" rtlCol="0" anchor="t">
            <a:noAutofit/>
          </a:bodyPr>
          <a:lstStyle/>
          <a:p>
            <a:r>
              <a:rPr lang="en-US" sz="900">
                <a:solidFill>
                  <a:srgbClr val="B3BDCF"/>
                </a:solidFill>
                <a:latin typeface="Segoe UI" panose="020B0502040204020203" pitchFamily="34" charset="0"/>
              </a:rPr>
              <a:t>Replacing the IDE, Git host, issue tracker or CI system  ·  Autonomous production changes  ·  Unrestricted AI access to repositories</a:t>
            </a:r>
            <a:endParaRPr lang="en-IN" sz="900">
              <a:solidFill>
                <a:srgbClr val="B3BDCF"/>
              </a:solidFill>
              <a:latin typeface="Segoe UI" panose="020B0502040204020203" pitchFamily="34" charset="0"/>
            </a:endParaRPr>
          </a:p>
        </p:txBody>
      </p:sp>
    </p:spTree>
    <p:extLst>
      <p:ext uri="{BB962C8B-B14F-4D97-AF65-F5344CB8AC3E}">
        <p14:creationId xmlns:p14="http://schemas.microsoft.com/office/powerpoint/2010/main" val="2944145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312918-CF4F-AE71-4442-44653A7DA46B}"/>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11  ·  SYSTEM REQUIREMENTS</a:t>
            </a:r>
          </a:p>
        </p:txBody>
      </p:sp>
      <p:sp>
        <p:nvSpPr>
          <p:cNvPr id="3" name="TextBox 2">
            <a:extLst>
              <a:ext uri="{FF2B5EF4-FFF2-40B4-BE49-F238E27FC236}">
                <a16:creationId xmlns:a16="http://schemas.microsoft.com/office/drawing/2014/main" id="{28878692-48CF-B7E9-2E6D-D7C1DAF57B2F}"/>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Functional and Non-Functional Requirements</a:t>
            </a:r>
          </a:p>
        </p:txBody>
      </p:sp>
      <p:sp>
        <p:nvSpPr>
          <p:cNvPr id="4" name="TextBox 3">
            <a:extLst>
              <a:ext uri="{FF2B5EF4-FFF2-40B4-BE49-F238E27FC236}">
                <a16:creationId xmlns:a16="http://schemas.microsoft.com/office/drawing/2014/main" id="{AE00B9D0-42CA-2669-28F7-26DB955DB0DA}"/>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Functional requirements by subsystem; non-functional requirements as design constraints.</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35FB9DDF-1E3D-159B-3CBD-B937784C3383}"/>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D1D0F42-1563-4565-ED7D-5A2C4164206B}"/>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74D6B891-F8D3-71E4-4745-F3D7740B52F9}"/>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11 / 20</a:t>
            </a:r>
          </a:p>
        </p:txBody>
      </p:sp>
      <p:sp>
        <p:nvSpPr>
          <p:cNvPr id="8" name="Rectangle: Rounded Corners 7">
            <a:extLst>
              <a:ext uri="{FF2B5EF4-FFF2-40B4-BE49-F238E27FC236}">
                <a16:creationId xmlns:a16="http://schemas.microsoft.com/office/drawing/2014/main" id="{AEC9DD76-4283-D9DC-EB54-BB48C981C868}"/>
              </a:ext>
            </a:extLst>
          </p:cNvPr>
          <p:cNvSpPr/>
          <p:nvPr/>
        </p:nvSpPr>
        <p:spPr>
          <a:xfrm>
            <a:off x="508000" y="1168400"/>
            <a:ext cx="6604000" cy="5105400"/>
          </a:xfrm>
          <a:prstGeom prst="roundRect">
            <a:avLst>
              <a:gd name="adj" fmla="val 199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B5D8440-C288-BF65-C6EE-522DEA9226DD}"/>
              </a:ext>
            </a:extLst>
          </p:cNvPr>
          <p:cNvSpPr txBox="1"/>
          <p:nvPr/>
        </p:nvSpPr>
        <p:spPr>
          <a:xfrm>
            <a:off x="711200" y="1320800"/>
            <a:ext cx="381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FUNCTIONAL REQUIREMENTS</a:t>
            </a:r>
          </a:p>
        </p:txBody>
      </p:sp>
      <p:sp>
        <p:nvSpPr>
          <p:cNvPr id="10" name="TextBox 9">
            <a:extLst>
              <a:ext uri="{FF2B5EF4-FFF2-40B4-BE49-F238E27FC236}">
                <a16:creationId xmlns:a16="http://schemas.microsoft.com/office/drawing/2014/main" id="{EC584D37-6764-CE33-8F7C-B94C88C9F49B}"/>
              </a:ext>
            </a:extLst>
          </p:cNvPr>
          <p:cNvSpPr txBox="1"/>
          <p:nvPr/>
        </p:nvSpPr>
        <p:spPr>
          <a:xfrm>
            <a:off x="711200" y="1549400"/>
            <a:ext cx="1651000" cy="3810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Identity and access</a:t>
            </a:r>
          </a:p>
        </p:txBody>
      </p:sp>
      <p:sp>
        <p:nvSpPr>
          <p:cNvPr id="11" name="TextBox 10">
            <a:extLst>
              <a:ext uri="{FF2B5EF4-FFF2-40B4-BE49-F238E27FC236}">
                <a16:creationId xmlns:a16="http://schemas.microsoft.com/office/drawing/2014/main" id="{80D2CB86-C485-56E2-14DA-6BC4478D84B8}"/>
              </a:ext>
            </a:extLst>
          </p:cNvPr>
          <p:cNvSpPr txBox="1"/>
          <p:nvPr/>
        </p:nvSpPr>
        <p:spPr>
          <a:xfrm>
            <a:off x="2387600" y="1549400"/>
            <a:ext cx="3429000" cy="3810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Sign up, sign in, sign out; session refresh; route protection.</a:t>
            </a:r>
            <a:endParaRPr lang="en-IN" sz="850">
              <a:solidFill>
                <a:srgbClr val="B3BDCF"/>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B1B3E944-8A64-874D-4446-04AE77768E92}"/>
              </a:ext>
            </a:extLst>
          </p:cNvPr>
          <p:cNvSpPr/>
          <p:nvPr/>
        </p:nvSpPr>
        <p:spPr>
          <a:xfrm>
            <a:off x="6108700" y="1651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cxnSp>
        <p:nvCxnSpPr>
          <p:cNvPr id="13" name="Straight Connector 12">
            <a:extLst>
              <a:ext uri="{FF2B5EF4-FFF2-40B4-BE49-F238E27FC236}">
                <a16:creationId xmlns:a16="http://schemas.microsoft.com/office/drawing/2014/main" id="{46FD8DB8-0562-57A3-7B88-405A6340F903}"/>
              </a:ext>
            </a:extLst>
          </p:cNvPr>
          <p:cNvCxnSpPr/>
          <p:nvPr/>
        </p:nvCxnSpPr>
        <p:spPr>
          <a:xfrm>
            <a:off x="711200" y="1993900"/>
            <a:ext cx="6223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0CEC0E3-6D07-3418-876B-7EF2F410DCC5}"/>
              </a:ext>
            </a:extLst>
          </p:cNvPr>
          <p:cNvSpPr txBox="1"/>
          <p:nvPr/>
        </p:nvSpPr>
        <p:spPr>
          <a:xfrm>
            <a:off x="711200" y="2057400"/>
            <a:ext cx="1651000" cy="3810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Organisation hierarchy</a:t>
            </a:r>
          </a:p>
        </p:txBody>
      </p:sp>
      <p:sp>
        <p:nvSpPr>
          <p:cNvPr id="15" name="TextBox 14">
            <a:extLst>
              <a:ext uri="{FF2B5EF4-FFF2-40B4-BE49-F238E27FC236}">
                <a16:creationId xmlns:a16="http://schemas.microsoft.com/office/drawing/2014/main" id="{1AD7B84A-E463-5D35-C1EF-8025218BA7E6}"/>
              </a:ext>
            </a:extLst>
          </p:cNvPr>
          <p:cNvSpPr txBox="1"/>
          <p:nvPr/>
        </p:nvSpPr>
        <p:spPr>
          <a:xfrm>
            <a:off x="2387600" y="2057400"/>
            <a:ext cx="3429000" cy="3810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Create organisations, departments, teams; manage memberships and roles.</a:t>
            </a:r>
            <a:endParaRPr lang="en-IN" sz="850">
              <a:solidFill>
                <a:srgbClr val="B3BDCF"/>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846E31A4-0BD3-E451-D814-689C39787153}"/>
              </a:ext>
            </a:extLst>
          </p:cNvPr>
          <p:cNvSpPr/>
          <p:nvPr/>
        </p:nvSpPr>
        <p:spPr>
          <a:xfrm>
            <a:off x="6108700" y="2159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cxnSp>
        <p:nvCxnSpPr>
          <p:cNvPr id="17" name="Straight Connector 16">
            <a:extLst>
              <a:ext uri="{FF2B5EF4-FFF2-40B4-BE49-F238E27FC236}">
                <a16:creationId xmlns:a16="http://schemas.microsoft.com/office/drawing/2014/main" id="{88AD4143-97B2-26C3-8186-987BB8C7FDF9}"/>
              </a:ext>
            </a:extLst>
          </p:cNvPr>
          <p:cNvCxnSpPr/>
          <p:nvPr/>
        </p:nvCxnSpPr>
        <p:spPr>
          <a:xfrm>
            <a:off x="711200" y="2501900"/>
            <a:ext cx="6223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57C26A-A39A-006B-E009-94003A6567AB}"/>
              </a:ext>
            </a:extLst>
          </p:cNvPr>
          <p:cNvSpPr txBox="1"/>
          <p:nvPr/>
        </p:nvSpPr>
        <p:spPr>
          <a:xfrm>
            <a:off x="711200" y="2565400"/>
            <a:ext cx="1651000" cy="3810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Projects</a:t>
            </a:r>
          </a:p>
        </p:txBody>
      </p:sp>
      <p:sp>
        <p:nvSpPr>
          <p:cNvPr id="19" name="TextBox 18">
            <a:extLst>
              <a:ext uri="{FF2B5EF4-FFF2-40B4-BE49-F238E27FC236}">
                <a16:creationId xmlns:a16="http://schemas.microsoft.com/office/drawing/2014/main" id="{A394560F-3A66-1B98-872C-4DAEF65FA1C9}"/>
              </a:ext>
            </a:extLst>
          </p:cNvPr>
          <p:cNvSpPr txBox="1"/>
          <p:nvPr/>
        </p:nvSpPr>
        <p:spPr>
          <a:xfrm>
            <a:off x="2387600" y="2565400"/>
            <a:ext cx="3429000" cy="3810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Greenfield / brownfield projects; lifecycle DRAFT → ACTIVE → ARCHIVED.</a:t>
            </a:r>
            <a:endParaRPr lang="en-IN" sz="850">
              <a:solidFill>
                <a:srgbClr val="B3BDCF"/>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E3561722-80AC-A8B5-7FD0-2ABBF3476301}"/>
              </a:ext>
            </a:extLst>
          </p:cNvPr>
          <p:cNvSpPr/>
          <p:nvPr/>
        </p:nvSpPr>
        <p:spPr>
          <a:xfrm>
            <a:off x="6108700" y="2667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cxnSp>
        <p:nvCxnSpPr>
          <p:cNvPr id="21" name="Straight Connector 20">
            <a:extLst>
              <a:ext uri="{FF2B5EF4-FFF2-40B4-BE49-F238E27FC236}">
                <a16:creationId xmlns:a16="http://schemas.microsoft.com/office/drawing/2014/main" id="{EDB9F4FF-8781-CCAE-CC96-910E59F19866}"/>
              </a:ext>
            </a:extLst>
          </p:cNvPr>
          <p:cNvCxnSpPr/>
          <p:nvPr/>
        </p:nvCxnSpPr>
        <p:spPr>
          <a:xfrm>
            <a:off x="711200" y="3009900"/>
            <a:ext cx="6223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C9EF5D0-8758-4411-5F7F-178F032EEC11}"/>
              </a:ext>
            </a:extLst>
          </p:cNvPr>
          <p:cNvSpPr txBox="1"/>
          <p:nvPr/>
        </p:nvSpPr>
        <p:spPr>
          <a:xfrm>
            <a:off x="711200" y="3073400"/>
            <a:ext cx="1651000" cy="3810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Requirements and tasks</a:t>
            </a:r>
          </a:p>
        </p:txBody>
      </p:sp>
      <p:sp>
        <p:nvSpPr>
          <p:cNvPr id="23" name="TextBox 22">
            <a:extLst>
              <a:ext uri="{FF2B5EF4-FFF2-40B4-BE49-F238E27FC236}">
                <a16:creationId xmlns:a16="http://schemas.microsoft.com/office/drawing/2014/main" id="{CD49A53F-9F05-03F4-3C70-CCEE8A721609}"/>
              </a:ext>
            </a:extLst>
          </p:cNvPr>
          <p:cNvSpPr txBox="1"/>
          <p:nvPr/>
        </p:nvSpPr>
        <p:spPr>
          <a:xfrm>
            <a:off x="2387600" y="3073400"/>
            <a:ext cx="3429000" cy="3810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Create, prioritise and move through enforced status transitions.</a:t>
            </a:r>
            <a:endParaRPr lang="en-IN" sz="850">
              <a:solidFill>
                <a:srgbClr val="B3BDCF"/>
              </a:solidFill>
              <a:latin typeface="Segoe UI" panose="020B0502040204020203" pitchFamily="34" charset="0"/>
            </a:endParaRPr>
          </a:p>
        </p:txBody>
      </p:sp>
      <p:sp>
        <p:nvSpPr>
          <p:cNvPr id="24" name="Rectangle: Rounded Corners 23">
            <a:extLst>
              <a:ext uri="{FF2B5EF4-FFF2-40B4-BE49-F238E27FC236}">
                <a16:creationId xmlns:a16="http://schemas.microsoft.com/office/drawing/2014/main" id="{986E340B-38C6-E3B1-40EC-CF4CF9159469}"/>
              </a:ext>
            </a:extLst>
          </p:cNvPr>
          <p:cNvSpPr/>
          <p:nvPr/>
        </p:nvSpPr>
        <p:spPr>
          <a:xfrm>
            <a:off x="6108700" y="3175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cxnSp>
        <p:nvCxnSpPr>
          <p:cNvPr id="25" name="Straight Connector 24">
            <a:extLst>
              <a:ext uri="{FF2B5EF4-FFF2-40B4-BE49-F238E27FC236}">
                <a16:creationId xmlns:a16="http://schemas.microsoft.com/office/drawing/2014/main" id="{9E9C3AEB-CDEE-5540-CD9E-D75994854C8E}"/>
              </a:ext>
            </a:extLst>
          </p:cNvPr>
          <p:cNvCxnSpPr/>
          <p:nvPr/>
        </p:nvCxnSpPr>
        <p:spPr>
          <a:xfrm>
            <a:off x="711200" y="3517900"/>
            <a:ext cx="6223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AE4F237-D3D0-1523-7F34-9F4F305BC390}"/>
              </a:ext>
            </a:extLst>
          </p:cNvPr>
          <p:cNvSpPr txBox="1"/>
          <p:nvPr/>
        </p:nvSpPr>
        <p:spPr>
          <a:xfrm>
            <a:off x="711200" y="3581400"/>
            <a:ext cx="1651000" cy="3810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Repository</a:t>
            </a:r>
          </a:p>
        </p:txBody>
      </p:sp>
      <p:sp>
        <p:nvSpPr>
          <p:cNvPr id="27" name="TextBox 26">
            <a:extLst>
              <a:ext uri="{FF2B5EF4-FFF2-40B4-BE49-F238E27FC236}">
                <a16:creationId xmlns:a16="http://schemas.microsoft.com/office/drawing/2014/main" id="{2C992FBE-C718-82C3-0261-FEC699A0DCB1}"/>
              </a:ext>
            </a:extLst>
          </p:cNvPr>
          <p:cNvSpPr txBox="1"/>
          <p:nvPr/>
        </p:nvSpPr>
        <p:spPr>
          <a:xfrm>
            <a:off x="2387600" y="3581400"/>
            <a:ext cx="3429000" cy="3810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Record one repository per project (GitHub, GitLab, Bitbucket, generic Git); disconnect.</a:t>
            </a:r>
            <a:endParaRPr lang="en-IN" sz="850">
              <a:solidFill>
                <a:srgbClr val="B3BDCF"/>
              </a:solidFill>
              <a:latin typeface="Segoe UI" panose="020B0502040204020203" pitchFamily="34" charset="0"/>
            </a:endParaRPr>
          </a:p>
        </p:txBody>
      </p:sp>
      <p:sp>
        <p:nvSpPr>
          <p:cNvPr id="28" name="Rectangle: Rounded Corners 27">
            <a:extLst>
              <a:ext uri="{FF2B5EF4-FFF2-40B4-BE49-F238E27FC236}">
                <a16:creationId xmlns:a16="http://schemas.microsoft.com/office/drawing/2014/main" id="{AD4CE452-FECD-1F6E-5313-C98FBF473BC1}"/>
              </a:ext>
            </a:extLst>
          </p:cNvPr>
          <p:cNvSpPr/>
          <p:nvPr/>
        </p:nvSpPr>
        <p:spPr>
          <a:xfrm>
            <a:off x="6108700" y="3683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cxnSp>
        <p:nvCxnSpPr>
          <p:cNvPr id="29" name="Straight Connector 28">
            <a:extLst>
              <a:ext uri="{FF2B5EF4-FFF2-40B4-BE49-F238E27FC236}">
                <a16:creationId xmlns:a16="http://schemas.microsoft.com/office/drawing/2014/main" id="{EB7B3FA9-81FD-2019-70E7-2C357730822A}"/>
              </a:ext>
            </a:extLst>
          </p:cNvPr>
          <p:cNvCxnSpPr/>
          <p:nvPr/>
        </p:nvCxnSpPr>
        <p:spPr>
          <a:xfrm>
            <a:off x="711200" y="4025900"/>
            <a:ext cx="6223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5DE2B58-0F18-5480-B712-15EA59E6F3B8}"/>
              </a:ext>
            </a:extLst>
          </p:cNvPr>
          <p:cNvSpPr txBox="1"/>
          <p:nvPr/>
        </p:nvSpPr>
        <p:spPr>
          <a:xfrm>
            <a:off x="711200" y="4089400"/>
            <a:ext cx="1651000" cy="3810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Snapshots</a:t>
            </a:r>
          </a:p>
        </p:txBody>
      </p:sp>
      <p:sp>
        <p:nvSpPr>
          <p:cNvPr id="31" name="TextBox 30">
            <a:extLst>
              <a:ext uri="{FF2B5EF4-FFF2-40B4-BE49-F238E27FC236}">
                <a16:creationId xmlns:a16="http://schemas.microsoft.com/office/drawing/2014/main" id="{8DB99D35-8857-80CE-858F-2030609D30FB}"/>
              </a:ext>
            </a:extLst>
          </p:cNvPr>
          <p:cNvSpPr txBox="1"/>
          <p:nvPr/>
        </p:nvSpPr>
        <p:spPr>
          <a:xfrm>
            <a:off x="2387600" y="4089400"/>
            <a:ext cx="3429000" cy="3810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Record commit snapshots and file manifests.</a:t>
            </a:r>
            <a:endParaRPr lang="en-IN" sz="850">
              <a:solidFill>
                <a:srgbClr val="B3BDCF"/>
              </a:solidFill>
              <a:latin typeface="Segoe UI" panose="020B0502040204020203" pitchFamily="34" charset="0"/>
            </a:endParaRPr>
          </a:p>
        </p:txBody>
      </p:sp>
      <p:sp>
        <p:nvSpPr>
          <p:cNvPr id="32" name="Rectangle: Rounded Corners 31">
            <a:extLst>
              <a:ext uri="{FF2B5EF4-FFF2-40B4-BE49-F238E27FC236}">
                <a16:creationId xmlns:a16="http://schemas.microsoft.com/office/drawing/2014/main" id="{7B9A1934-19AE-4B74-B100-DF669052069E}"/>
              </a:ext>
            </a:extLst>
          </p:cNvPr>
          <p:cNvSpPr/>
          <p:nvPr/>
        </p:nvSpPr>
        <p:spPr>
          <a:xfrm>
            <a:off x="6108700" y="4191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cxnSp>
        <p:nvCxnSpPr>
          <p:cNvPr id="33" name="Straight Connector 32">
            <a:extLst>
              <a:ext uri="{FF2B5EF4-FFF2-40B4-BE49-F238E27FC236}">
                <a16:creationId xmlns:a16="http://schemas.microsoft.com/office/drawing/2014/main" id="{20DD3605-4117-9117-3552-BFC2B22D293E}"/>
              </a:ext>
            </a:extLst>
          </p:cNvPr>
          <p:cNvCxnSpPr/>
          <p:nvPr/>
        </p:nvCxnSpPr>
        <p:spPr>
          <a:xfrm>
            <a:off x="711200" y="4533900"/>
            <a:ext cx="6223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64F2B62-BD7A-A6D5-623A-22ABD546F195}"/>
              </a:ext>
            </a:extLst>
          </p:cNvPr>
          <p:cNvSpPr txBox="1"/>
          <p:nvPr/>
        </p:nvSpPr>
        <p:spPr>
          <a:xfrm>
            <a:off x="711200" y="4597400"/>
            <a:ext cx="1651000" cy="3810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Structure intelligence</a:t>
            </a:r>
          </a:p>
        </p:txBody>
      </p:sp>
      <p:sp>
        <p:nvSpPr>
          <p:cNvPr id="35" name="TextBox 34">
            <a:extLst>
              <a:ext uri="{FF2B5EF4-FFF2-40B4-BE49-F238E27FC236}">
                <a16:creationId xmlns:a16="http://schemas.microsoft.com/office/drawing/2014/main" id="{8A81CAAC-9C8D-5731-9170-28A42A6DBDD5}"/>
              </a:ext>
            </a:extLst>
          </p:cNvPr>
          <p:cNvSpPr txBox="1"/>
          <p:nvPr/>
        </p:nvSpPr>
        <p:spPr>
          <a:xfrm>
            <a:off x="2387600" y="4597400"/>
            <a:ext cx="3429000" cy="3810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Extract symbols and relationships per snapshot; show file coverage.</a:t>
            </a:r>
            <a:endParaRPr lang="en-IN" sz="850">
              <a:solidFill>
                <a:srgbClr val="B3BDCF"/>
              </a:solidFill>
              <a:latin typeface="Segoe UI" panose="020B0502040204020203" pitchFamily="34" charset="0"/>
            </a:endParaRPr>
          </a:p>
        </p:txBody>
      </p:sp>
      <p:sp>
        <p:nvSpPr>
          <p:cNvPr id="36" name="Rectangle: Rounded Corners 35">
            <a:extLst>
              <a:ext uri="{FF2B5EF4-FFF2-40B4-BE49-F238E27FC236}">
                <a16:creationId xmlns:a16="http://schemas.microsoft.com/office/drawing/2014/main" id="{50089732-D963-F7F2-D92C-68740C3A917F}"/>
              </a:ext>
            </a:extLst>
          </p:cNvPr>
          <p:cNvSpPr/>
          <p:nvPr/>
        </p:nvSpPr>
        <p:spPr>
          <a:xfrm>
            <a:off x="6108700" y="4699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cxnSp>
        <p:nvCxnSpPr>
          <p:cNvPr id="37" name="Straight Connector 36">
            <a:extLst>
              <a:ext uri="{FF2B5EF4-FFF2-40B4-BE49-F238E27FC236}">
                <a16:creationId xmlns:a16="http://schemas.microsoft.com/office/drawing/2014/main" id="{61ECD58D-3137-1F35-498E-4A4E4155EBDD}"/>
              </a:ext>
            </a:extLst>
          </p:cNvPr>
          <p:cNvCxnSpPr/>
          <p:nvPr/>
        </p:nvCxnSpPr>
        <p:spPr>
          <a:xfrm>
            <a:off x="711200" y="5041900"/>
            <a:ext cx="6223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BB4E5634-20F3-00C1-BA56-BFC3A08C3006}"/>
              </a:ext>
            </a:extLst>
          </p:cNvPr>
          <p:cNvSpPr txBox="1"/>
          <p:nvPr/>
        </p:nvSpPr>
        <p:spPr>
          <a:xfrm>
            <a:off x="711200" y="5105400"/>
            <a:ext cx="1651000" cy="3810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Engineering context</a:t>
            </a:r>
          </a:p>
        </p:txBody>
      </p:sp>
      <p:sp>
        <p:nvSpPr>
          <p:cNvPr id="39" name="TextBox 38">
            <a:extLst>
              <a:ext uri="{FF2B5EF4-FFF2-40B4-BE49-F238E27FC236}">
                <a16:creationId xmlns:a16="http://schemas.microsoft.com/office/drawing/2014/main" id="{DFA50F88-6840-E4C4-EC48-989F5605D547}"/>
              </a:ext>
            </a:extLst>
          </p:cNvPr>
          <p:cNvSpPr txBox="1"/>
          <p:nvPr/>
        </p:nvSpPr>
        <p:spPr>
          <a:xfrm>
            <a:off x="2387600" y="5105400"/>
            <a:ext cx="3429000" cy="3810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Link work items to code entities.</a:t>
            </a:r>
            <a:endParaRPr lang="en-IN" sz="850">
              <a:solidFill>
                <a:srgbClr val="B3BDCF"/>
              </a:solidFill>
              <a:latin typeface="Segoe UI" panose="020B0502040204020203" pitchFamily="34" charset="0"/>
            </a:endParaRPr>
          </a:p>
        </p:txBody>
      </p:sp>
      <p:sp>
        <p:nvSpPr>
          <p:cNvPr id="40" name="Rectangle: Rounded Corners 39">
            <a:extLst>
              <a:ext uri="{FF2B5EF4-FFF2-40B4-BE49-F238E27FC236}">
                <a16:creationId xmlns:a16="http://schemas.microsoft.com/office/drawing/2014/main" id="{776618BA-264D-19E0-2B5A-8E2CC1369DE3}"/>
              </a:ext>
            </a:extLst>
          </p:cNvPr>
          <p:cNvSpPr/>
          <p:nvPr/>
        </p:nvSpPr>
        <p:spPr>
          <a:xfrm>
            <a:off x="6515100" y="5207000"/>
            <a:ext cx="419100" cy="165100"/>
          </a:xfrm>
          <a:prstGeom prst="roundRect">
            <a:avLst>
              <a:gd name="adj" fmla="val 50000"/>
            </a:avLst>
          </a:prstGeom>
          <a:solidFill>
            <a:srgbClr val="33270F"/>
          </a:solidFill>
          <a:ln w="9525">
            <a:solidFill>
              <a:srgbClr val="F1A73B"/>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F1A73B"/>
                </a:solidFill>
                <a:latin typeface="Segoe UI Semibold" panose="020B0702040204020203" pitchFamily="34" charset="0"/>
              </a:rPr>
              <a:t>NEXT</a:t>
            </a:r>
          </a:p>
        </p:txBody>
      </p:sp>
      <p:cxnSp>
        <p:nvCxnSpPr>
          <p:cNvPr id="41" name="Straight Connector 40">
            <a:extLst>
              <a:ext uri="{FF2B5EF4-FFF2-40B4-BE49-F238E27FC236}">
                <a16:creationId xmlns:a16="http://schemas.microsoft.com/office/drawing/2014/main" id="{2A8E41EE-1E55-B2B6-3E77-B248AE714AE6}"/>
              </a:ext>
            </a:extLst>
          </p:cNvPr>
          <p:cNvCxnSpPr/>
          <p:nvPr/>
        </p:nvCxnSpPr>
        <p:spPr>
          <a:xfrm>
            <a:off x="711200" y="5549900"/>
            <a:ext cx="6223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8FBF2AB6-5C65-27C1-6C41-62D77CCB7BAC}"/>
              </a:ext>
            </a:extLst>
          </p:cNvPr>
          <p:cNvSpPr txBox="1"/>
          <p:nvPr/>
        </p:nvSpPr>
        <p:spPr>
          <a:xfrm>
            <a:off x="711200" y="5613400"/>
            <a:ext cx="1651000" cy="381000"/>
          </a:xfrm>
          <a:prstGeom prst="rect">
            <a:avLst/>
          </a:prstGeom>
          <a:noFill/>
        </p:spPr>
        <p:txBody>
          <a:bodyPr vert="horz" wrap="square" lIns="0" tIns="0" rIns="0" bIns="0" rtlCol="0" anchor="ctr">
            <a:noAutofit/>
          </a:bodyPr>
          <a:lstStyle/>
          <a:p>
            <a:r>
              <a:rPr lang="en-IN" sz="900">
                <a:solidFill>
                  <a:srgbClr val="F1F4F9"/>
                </a:solidFill>
                <a:latin typeface="Segoe UI Semibold" panose="020B0702040204020203" pitchFamily="34" charset="0"/>
              </a:rPr>
              <a:t>AI, risk, delivery</a:t>
            </a:r>
          </a:p>
        </p:txBody>
      </p:sp>
      <p:sp>
        <p:nvSpPr>
          <p:cNvPr id="43" name="TextBox 42">
            <a:extLst>
              <a:ext uri="{FF2B5EF4-FFF2-40B4-BE49-F238E27FC236}">
                <a16:creationId xmlns:a16="http://schemas.microsoft.com/office/drawing/2014/main" id="{D8B5BCB9-2724-7EC8-E662-19E3A3162E4E}"/>
              </a:ext>
            </a:extLst>
          </p:cNvPr>
          <p:cNvSpPr txBox="1"/>
          <p:nvPr/>
        </p:nvSpPr>
        <p:spPr>
          <a:xfrm>
            <a:off x="2387600" y="5613400"/>
            <a:ext cx="3429000" cy="3810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AI assistance; defect risk with explanation; CI/CD feedback.</a:t>
            </a:r>
            <a:endParaRPr lang="en-IN" sz="850">
              <a:solidFill>
                <a:srgbClr val="B3BDCF"/>
              </a:solidFill>
              <a:latin typeface="Segoe UI" panose="020B0502040204020203" pitchFamily="34" charset="0"/>
            </a:endParaRPr>
          </a:p>
        </p:txBody>
      </p:sp>
      <p:sp>
        <p:nvSpPr>
          <p:cNvPr id="44" name="Rectangle: Rounded Corners 43">
            <a:extLst>
              <a:ext uri="{FF2B5EF4-FFF2-40B4-BE49-F238E27FC236}">
                <a16:creationId xmlns:a16="http://schemas.microsoft.com/office/drawing/2014/main" id="{CE74D702-CDE0-EAD4-DCD6-82D2CC744386}"/>
              </a:ext>
            </a:extLst>
          </p:cNvPr>
          <p:cNvSpPr/>
          <p:nvPr/>
        </p:nvSpPr>
        <p:spPr>
          <a:xfrm>
            <a:off x="6400800" y="57150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45" name="Rectangle: Rounded Corners 44">
            <a:extLst>
              <a:ext uri="{FF2B5EF4-FFF2-40B4-BE49-F238E27FC236}">
                <a16:creationId xmlns:a16="http://schemas.microsoft.com/office/drawing/2014/main" id="{D4998DF5-5553-0427-0D38-A7FC1F630B0E}"/>
              </a:ext>
            </a:extLst>
          </p:cNvPr>
          <p:cNvSpPr/>
          <p:nvPr/>
        </p:nvSpPr>
        <p:spPr>
          <a:xfrm>
            <a:off x="7315200" y="1168400"/>
            <a:ext cx="4368800" cy="5105400"/>
          </a:xfrm>
          <a:prstGeom prst="roundRect">
            <a:avLst>
              <a:gd name="adj" fmla="val 2326"/>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extBox 45">
            <a:extLst>
              <a:ext uri="{FF2B5EF4-FFF2-40B4-BE49-F238E27FC236}">
                <a16:creationId xmlns:a16="http://schemas.microsoft.com/office/drawing/2014/main" id="{7AC57A1D-3D45-F3C4-0405-477B77245403}"/>
              </a:ext>
            </a:extLst>
          </p:cNvPr>
          <p:cNvSpPr txBox="1"/>
          <p:nvPr/>
        </p:nvSpPr>
        <p:spPr>
          <a:xfrm>
            <a:off x="7518400" y="1320800"/>
            <a:ext cx="381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NON-FUNCTIONAL REQUIREMENTS</a:t>
            </a:r>
          </a:p>
        </p:txBody>
      </p:sp>
      <p:sp>
        <p:nvSpPr>
          <p:cNvPr id="47" name="TextBox 46">
            <a:extLst>
              <a:ext uri="{FF2B5EF4-FFF2-40B4-BE49-F238E27FC236}">
                <a16:creationId xmlns:a16="http://schemas.microsoft.com/office/drawing/2014/main" id="{F48D969E-79CD-0570-7937-C59363698146}"/>
              </a:ext>
            </a:extLst>
          </p:cNvPr>
          <p:cNvSpPr txBox="1"/>
          <p:nvPr/>
        </p:nvSpPr>
        <p:spPr>
          <a:xfrm>
            <a:off x="7518400" y="1549400"/>
            <a:ext cx="3987800" cy="4648200"/>
          </a:xfrm>
          <a:prstGeom prst="rect">
            <a:avLst/>
          </a:prstGeom>
          <a:noFill/>
        </p:spPr>
        <p:txBody>
          <a:bodyPr vert="horz" wrap="square" lIns="0" tIns="0" rIns="0" bIns="0" rtlCol="0">
            <a:noAutofit/>
          </a:bodyPr>
          <a:lstStyle/>
          <a:p>
            <a:pPr marL="139700" indent="-139700">
              <a:spcAft>
                <a:spcPts val="1000"/>
              </a:spcAft>
              <a:buClr>
                <a:srgbClr val="8B9BFF"/>
              </a:buClr>
              <a:buSzPct val="90000"/>
              <a:buFont typeface="+mj-lt"/>
              <a:buChar char="▪"/>
            </a:pPr>
            <a:r>
              <a:rPr lang="en-US" sz="1000">
                <a:solidFill>
                  <a:srgbClr val="F1F4F9"/>
                </a:solidFill>
                <a:latin typeface="Segoe UI Semibold" panose="020B0702040204020203" pitchFamily="34" charset="0"/>
              </a:rPr>
              <a:t>Security.</a:t>
            </a:r>
            <a:r>
              <a:rPr lang="en-US" sz="1000">
                <a:solidFill>
                  <a:srgbClr val="B3BDCF"/>
                </a:solidFill>
                <a:latin typeface="Segoe UI" panose="020B0502040204020203" pitchFamily="34" charset="0"/>
              </a:rPr>
              <a:t>  Authorization enforced in the database (RLS) and re-checked by the application; strict tenant isolation.</a:t>
            </a:r>
          </a:p>
          <a:p>
            <a:pPr marL="139700" indent="-139700">
              <a:spcAft>
                <a:spcPts val="1000"/>
              </a:spcAft>
              <a:buClr>
                <a:srgbClr val="8B9BFF"/>
              </a:buClr>
              <a:buSzPct val="90000"/>
              <a:buFont typeface="+mj-lt"/>
              <a:buChar char="▪"/>
            </a:pPr>
            <a:r>
              <a:rPr lang="en-US" sz="1000">
                <a:solidFill>
                  <a:srgbClr val="F1F4F9"/>
                </a:solidFill>
                <a:latin typeface="Segoe UI Semibold" panose="020B0702040204020203" pitchFamily="34" charset="0"/>
              </a:rPr>
              <a:t>Integrity.</a:t>
            </a:r>
            <a:r>
              <a:rPr lang="en-US" sz="1000">
                <a:solidFill>
                  <a:srgbClr val="B3BDCF"/>
                </a:solidFill>
                <a:latin typeface="Segoe UI" panose="020B0502040204020203" pitchFamily="34" charset="0"/>
              </a:rPr>
              <a:t>  Generated structure is written only through a signed server path; completed analyses are immutable.</a:t>
            </a:r>
          </a:p>
          <a:p>
            <a:pPr marL="139700" indent="-139700">
              <a:spcAft>
                <a:spcPts val="1000"/>
              </a:spcAft>
              <a:buClr>
                <a:srgbClr val="8B9BFF"/>
              </a:buClr>
              <a:buSzPct val="90000"/>
              <a:buFont typeface="+mj-lt"/>
              <a:buChar char="▪"/>
            </a:pPr>
            <a:r>
              <a:rPr lang="en-US" sz="1000">
                <a:solidFill>
                  <a:srgbClr val="F1F4F9"/>
                </a:solidFill>
                <a:latin typeface="Segoe UI Semibold" panose="020B0702040204020203" pitchFamily="34" charset="0"/>
              </a:rPr>
              <a:t>Reliability.</a:t>
            </a:r>
            <a:r>
              <a:rPr lang="en-US" sz="1000">
                <a:solidFill>
                  <a:srgbClr val="B3BDCF"/>
                </a:solidFill>
                <a:latin typeface="Segoe UI" panose="020B0502040204020203" pitchFamily="34" charset="0"/>
              </a:rPr>
              <a:t>  Explicit lifecycle states; failures recorded with a retry path; no partial results stored.</a:t>
            </a:r>
          </a:p>
          <a:p>
            <a:pPr marL="139700" indent="-139700">
              <a:spcAft>
                <a:spcPts val="1000"/>
              </a:spcAft>
              <a:buClr>
                <a:srgbClr val="8B9BFF"/>
              </a:buClr>
              <a:buSzPct val="90000"/>
              <a:buFont typeface="+mj-lt"/>
              <a:buChar char="▪"/>
            </a:pPr>
            <a:r>
              <a:rPr lang="en-US" sz="1000">
                <a:solidFill>
                  <a:srgbClr val="F1F4F9"/>
                </a:solidFill>
                <a:latin typeface="Segoe UI Semibold" panose="020B0702040204020203" pitchFamily="34" charset="0"/>
              </a:rPr>
              <a:t>Maintainability.</a:t>
            </a:r>
            <a:r>
              <a:rPr lang="en-US" sz="1000">
                <a:solidFill>
                  <a:srgbClr val="B3BDCF"/>
                </a:solidFill>
                <a:latin typeface="Segoe UI" panose="020B0502040204020203" pitchFamily="34" charset="0"/>
              </a:rPr>
              <a:t>  Strict TypeScript, modular server code, Zod validation, versioned SQL migrations.</a:t>
            </a:r>
          </a:p>
          <a:p>
            <a:pPr marL="139700" indent="-139700">
              <a:spcAft>
                <a:spcPts val="1000"/>
              </a:spcAft>
              <a:buClr>
                <a:srgbClr val="8B9BFF"/>
              </a:buClr>
              <a:buSzPct val="90000"/>
              <a:buFont typeface="+mj-lt"/>
              <a:buChar char="▪"/>
            </a:pPr>
            <a:r>
              <a:rPr lang="en-US" sz="1000">
                <a:solidFill>
                  <a:srgbClr val="F1F4F9"/>
                </a:solidFill>
                <a:latin typeface="Segoe UI Semibold" panose="020B0702040204020203" pitchFamily="34" charset="0"/>
              </a:rPr>
              <a:t>Usability.</a:t>
            </a:r>
            <a:r>
              <a:rPr lang="en-US" sz="1000">
                <a:solidFill>
                  <a:srgbClr val="B3BDCF"/>
                </a:solidFill>
                <a:latin typeface="Segoe UI" panose="020B0502040204020203" pitchFamily="34" charset="0"/>
              </a:rPr>
              <a:t>  One design system; responsive layouts; visible keyboard focus.</a:t>
            </a:r>
          </a:p>
          <a:p>
            <a:pPr marL="139700" indent="-139700">
              <a:spcAft>
                <a:spcPts val="1000"/>
              </a:spcAft>
              <a:buClr>
                <a:srgbClr val="8B9BFF"/>
              </a:buClr>
              <a:buSzPct val="90000"/>
              <a:buFont typeface="+mj-lt"/>
              <a:buChar char="▪"/>
            </a:pPr>
            <a:r>
              <a:rPr lang="en-US" sz="1000">
                <a:solidFill>
                  <a:srgbClr val="F1F4F9"/>
                </a:solidFill>
                <a:latin typeface="Segoe UI Semibold" panose="020B0702040204020203" pitchFamily="34" charset="0"/>
              </a:rPr>
              <a:t>Bounded work.</a:t>
            </a:r>
            <a:r>
              <a:rPr lang="en-US" sz="1000">
                <a:solidFill>
                  <a:srgbClr val="B3BDCF"/>
                </a:solidFill>
                <a:latin typeface="Segoe UI" panose="020B0502040204020203" pitchFamily="34" charset="0"/>
              </a:rPr>
              <a:t>  1 MB per source file; 50,000 symbols per analysis. Performance not yet benchmarked.</a:t>
            </a:r>
          </a:p>
          <a:p>
            <a:pPr marL="139700" indent="-139700">
              <a:spcAft>
                <a:spcPts val="1000"/>
              </a:spcAft>
              <a:buClr>
                <a:srgbClr val="8B9BFF"/>
              </a:buClr>
              <a:buSzPct val="90000"/>
              <a:buFont typeface="+mj-lt"/>
              <a:buChar char="▪"/>
            </a:pPr>
            <a:r>
              <a:rPr lang="en-US" sz="1000">
                <a:solidFill>
                  <a:srgbClr val="F1F4F9"/>
                </a:solidFill>
                <a:latin typeface="Segoe UI Semibold" panose="020B0702040204020203" pitchFamily="34" charset="0"/>
              </a:rPr>
              <a:t>Privacy.</a:t>
            </a:r>
            <a:r>
              <a:rPr lang="en-US" sz="1000">
                <a:solidFill>
                  <a:srgbClr val="B3BDCF"/>
                </a:solidFill>
                <a:latin typeface="Segoe UI" panose="020B0502040204020203" pitchFamily="34" charset="0"/>
              </a:rPr>
              <a:t>  No repository credentials stored; secrets stay server-side.</a:t>
            </a:r>
            <a:endParaRPr lang="en-IN" sz="1000">
              <a:solidFill>
                <a:srgbClr val="B3BDCF"/>
              </a:solidFill>
              <a:latin typeface="Segoe UI" panose="020B0502040204020203" pitchFamily="34" charset="0"/>
            </a:endParaRPr>
          </a:p>
        </p:txBody>
      </p:sp>
    </p:spTree>
    <p:extLst>
      <p:ext uri="{BB962C8B-B14F-4D97-AF65-F5344CB8AC3E}">
        <p14:creationId xmlns:p14="http://schemas.microsoft.com/office/powerpoint/2010/main" val="2138018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2A0BD8-0FE2-352A-3B27-A791BC00F0FD}"/>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12  ·  SYSTEM DESIGN</a:t>
            </a:r>
          </a:p>
        </p:txBody>
      </p:sp>
      <p:sp>
        <p:nvSpPr>
          <p:cNvPr id="3" name="TextBox 2">
            <a:extLst>
              <a:ext uri="{FF2B5EF4-FFF2-40B4-BE49-F238E27FC236}">
                <a16:creationId xmlns:a16="http://schemas.microsoft.com/office/drawing/2014/main" id="{FDC501B7-7BA6-C494-A313-6CD306B034B6}"/>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System Architecture</a:t>
            </a:r>
          </a:p>
        </p:txBody>
      </p:sp>
      <p:sp>
        <p:nvSpPr>
          <p:cNvPr id="4" name="TextBox 3">
            <a:extLst>
              <a:ext uri="{FF2B5EF4-FFF2-40B4-BE49-F238E27FC236}">
                <a16:creationId xmlns:a16="http://schemas.microsoft.com/office/drawing/2014/main" id="{576304A6-3F22-4D26-FE96-D9A11EE5E2B7}"/>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Layered target architecture. Status shows what exists today.</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93E67D4A-DD52-F069-2A67-5DC630202A54}"/>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31B418B-4410-78FB-999C-AFB5F546C9F3}"/>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FDFC2D1A-09F3-16D7-6811-37265276241F}"/>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12 / 20</a:t>
            </a:r>
          </a:p>
        </p:txBody>
      </p:sp>
      <p:sp>
        <p:nvSpPr>
          <p:cNvPr id="8" name="Rectangle: Rounded Corners 7">
            <a:extLst>
              <a:ext uri="{FF2B5EF4-FFF2-40B4-BE49-F238E27FC236}">
                <a16:creationId xmlns:a16="http://schemas.microsoft.com/office/drawing/2014/main" id="{21014E93-E375-F539-A459-41E0B8DA56D4}"/>
              </a:ext>
            </a:extLst>
          </p:cNvPr>
          <p:cNvSpPr/>
          <p:nvPr/>
        </p:nvSpPr>
        <p:spPr>
          <a:xfrm>
            <a:off x="9118600" y="889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sp>
        <p:nvSpPr>
          <p:cNvPr id="9" name="Rectangle: Rounded Corners 8">
            <a:extLst>
              <a:ext uri="{FF2B5EF4-FFF2-40B4-BE49-F238E27FC236}">
                <a16:creationId xmlns:a16="http://schemas.microsoft.com/office/drawing/2014/main" id="{D95C78DE-79C9-A358-EC97-B297C4A5A519}"/>
              </a:ext>
            </a:extLst>
          </p:cNvPr>
          <p:cNvSpPr/>
          <p:nvPr/>
        </p:nvSpPr>
        <p:spPr>
          <a:xfrm>
            <a:off x="10020300" y="889000"/>
            <a:ext cx="419100" cy="165100"/>
          </a:xfrm>
          <a:prstGeom prst="roundRect">
            <a:avLst>
              <a:gd name="adj" fmla="val 50000"/>
            </a:avLst>
          </a:prstGeom>
          <a:solidFill>
            <a:srgbClr val="33270F"/>
          </a:solidFill>
          <a:ln w="9525">
            <a:solidFill>
              <a:srgbClr val="F1A73B"/>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F1A73B"/>
                </a:solidFill>
                <a:latin typeface="Segoe UI Semibold" panose="020B0702040204020203" pitchFamily="34" charset="0"/>
              </a:rPr>
              <a:t>NEXT</a:t>
            </a:r>
          </a:p>
        </p:txBody>
      </p:sp>
      <p:sp>
        <p:nvSpPr>
          <p:cNvPr id="10" name="Rectangle: Rounded Corners 9">
            <a:extLst>
              <a:ext uri="{FF2B5EF4-FFF2-40B4-BE49-F238E27FC236}">
                <a16:creationId xmlns:a16="http://schemas.microsoft.com/office/drawing/2014/main" id="{95813902-1DA3-C050-AF4D-6AADA3D093E1}"/>
              </a:ext>
            </a:extLst>
          </p:cNvPr>
          <p:cNvSpPr/>
          <p:nvPr/>
        </p:nvSpPr>
        <p:spPr>
          <a:xfrm>
            <a:off x="10515600" y="8890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11" name="Rectangle: Rounded Corners 10">
            <a:extLst>
              <a:ext uri="{FF2B5EF4-FFF2-40B4-BE49-F238E27FC236}">
                <a16:creationId xmlns:a16="http://schemas.microsoft.com/office/drawing/2014/main" id="{92E2D81A-0FEA-4552-535F-28F2C2C025B4}"/>
              </a:ext>
            </a:extLst>
          </p:cNvPr>
          <p:cNvSpPr/>
          <p:nvPr/>
        </p:nvSpPr>
        <p:spPr>
          <a:xfrm>
            <a:off x="508000" y="1193800"/>
            <a:ext cx="10668000" cy="635000"/>
          </a:xfrm>
          <a:prstGeom prst="roundRect">
            <a:avLst>
              <a:gd name="adj" fmla="val 12000"/>
            </a:avLst>
          </a:prstGeom>
          <a:solidFill>
            <a:srgbClr val="0E1628"/>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1686FCB-B56B-E4FD-1C97-96028812BEE0}"/>
              </a:ext>
            </a:extLst>
          </p:cNvPr>
          <p:cNvSpPr txBox="1"/>
          <p:nvPr/>
        </p:nvSpPr>
        <p:spPr>
          <a:xfrm>
            <a:off x="660400" y="1193800"/>
            <a:ext cx="1524000" cy="635000"/>
          </a:xfrm>
          <a:prstGeom prst="rect">
            <a:avLst/>
          </a:prstGeom>
          <a:noFill/>
        </p:spPr>
        <p:txBody>
          <a:bodyPr vert="horz" wrap="square" lIns="0" tIns="0" rIns="0" bIns="0" rtlCol="0" anchor="ctr">
            <a:noAutofit/>
          </a:bodyPr>
          <a:lstStyle/>
          <a:p>
            <a:r>
              <a:rPr lang="en-IN" sz="750" spc="100">
                <a:solidFill>
                  <a:srgbClr val="B3BDCF"/>
                </a:solidFill>
                <a:latin typeface="Segoe UI Semibold" panose="020B0702040204020203" pitchFamily="34" charset="0"/>
              </a:rPr>
              <a:t>ACCESS</a:t>
            </a:r>
          </a:p>
        </p:txBody>
      </p:sp>
      <p:sp>
        <p:nvSpPr>
          <p:cNvPr id="13" name="Rectangle: Rounded Corners 12">
            <a:extLst>
              <a:ext uri="{FF2B5EF4-FFF2-40B4-BE49-F238E27FC236}">
                <a16:creationId xmlns:a16="http://schemas.microsoft.com/office/drawing/2014/main" id="{D164AEF6-DAB8-1D4A-04E0-3B6D9B815F42}"/>
              </a:ext>
            </a:extLst>
          </p:cNvPr>
          <p:cNvSpPr/>
          <p:nvPr/>
        </p:nvSpPr>
        <p:spPr>
          <a:xfrm>
            <a:off x="2286000" y="1320800"/>
            <a:ext cx="889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User</a:t>
            </a:r>
          </a:p>
        </p:txBody>
      </p:sp>
      <p:cxnSp>
        <p:nvCxnSpPr>
          <p:cNvPr id="14" name="Straight Connector 13">
            <a:extLst>
              <a:ext uri="{FF2B5EF4-FFF2-40B4-BE49-F238E27FC236}">
                <a16:creationId xmlns:a16="http://schemas.microsoft.com/office/drawing/2014/main" id="{9B90C857-F018-40A1-544E-470010ABF593}"/>
              </a:ext>
            </a:extLst>
          </p:cNvPr>
          <p:cNvCxnSpPr/>
          <p:nvPr/>
        </p:nvCxnSpPr>
        <p:spPr>
          <a:xfrm>
            <a:off x="3200400" y="15113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9363DF33-D25B-77F7-2EC5-BF918AB60286}"/>
              </a:ext>
            </a:extLst>
          </p:cNvPr>
          <p:cNvSpPr/>
          <p:nvPr/>
        </p:nvSpPr>
        <p:spPr>
          <a:xfrm>
            <a:off x="3403600" y="1320800"/>
            <a:ext cx="1905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Supabase Auth · session</a:t>
            </a:r>
          </a:p>
        </p:txBody>
      </p:sp>
      <p:cxnSp>
        <p:nvCxnSpPr>
          <p:cNvPr id="16" name="Straight Connector 15">
            <a:extLst>
              <a:ext uri="{FF2B5EF4-FFF2-40B4-BE49-F238E27FC236}">
                <a16:creationId xmlns:a16="http://schemas.microsoft.com/office/drawing/2014/main" id="{0429F077-4FC4-EC7B-546A-A7FC9FBDA7DE}"/>
              </a:ext>
            </a:extLst>
          </p:cNvPr>
          <p:cNvCxnSpPr/>
          <p:nvPr/>
        </p:nvCxnSpPr>
        <p:spPr>
          <a:xfrm>
            <a:off x="5334000" y="15113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EE845617-0235-E09F-B760-EE6407A002E9}"/>
              </a:ext>
            </a:extLst>
          </p:cNvPr>
          <p:cNvSpPr/>
          <p:nvPr/>
        </p:nvSpPr>
        <p:spPr>
          <a:xfrm>
            <a:off x="5537200" y="1320800"/>
            <a:ext cx="2413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RBAC: OWNER / ADMIN / MEMBER</a:t>
            </a:r>
          </a:p>
        </p:txBody>
      </p:sp>
      <p:cxnSp>
        <p:nvCxnSpPr>
          <p:cNvPr id="18" name="Straight Connector 17">
            <a:extLst>
              <a:ext uri="{FF2B5EF4-FFF2-40B4-BE49-F238E27FC236}">
                <a16:creationId xmlns:a16="http://schemas.microsoft.com/office/drawing/2014/main" id="{A6CAFB04-322C-5C7F-3211-40742DE4875F}"/>
              </a:ext>
            </a:extLst>
          </p:cNvPr>
          <p:cNvCxnSpPr/>
          <p:nvPr/>
        </p:nvCxnSpPr>
        <p:spPr>
          <a:xfrm>
            <a:off x="7975600" y="15113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D2202BDA-F5E6-D5A2-E54B-521334F66D32}"/>
              </a:ext>
            </a:extLst>
          </p:cNvPr>
          <p:cNvSpPr/>
          <p:nvPr/>
        </p:nvSpPr>
        <p:spPr>
          <a:xfrm>
            <a:off x="8178800" y="1320800"/>
            <a:ext cx="2413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PostgreSQL Row-Level Security</a:t>
            </a:r>
          </a:p>
        </p:txBody>
      </p:sp>
      <p:cxnSp>
        <p:nvCxnSpPr>
          <p:cNvPr id="20" name="Straight Connector 19">
            <a:extLst>
              <a:ext uri="{FF2B5EF4-FFF2-40B4-BE49-F238E27FC236}">
                <a16:creationId xmlns:a16="http://schemas.microsoft.com/office/drawing/2014/main" id="{E3BA72B5-0799-04FF-F4C0-7A21F6D444A7}"/>
              </a:ext>
            </a:extLst>
          </p:cNvPr>
          <p:cNvCxnSpPr/>
          <p:nvPr/>
        </p:nvCxnSpPr>
        <p:spPr>
          <a:xfrm>
            <a:off x="2032000" y="1828800"/>
            <a:ext cx="0" cy="762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A50E973E-8058-1478-E73F-005A29A912D8}"/>
              </a:ext>
            </a:extLst>
          </p:cNvPr>
          <p:cNvSpPr/>
          <p:nvPr/>
        </p:nvSpPr>
        <p:spPr>
          <a:xfrm>
            <a:off x="508000" y="1905000"/>
            <a:ext cx="10668000" cy="635000"/>
          </a:xfrm>
          <a:prstGeom prst="roundRect">
            <a:avLst>
              <a:gd name="adj" fmla="val 12000"/>
            </a:avLst>
          </a:prstGeom>
          <a:solidFill>
            <a:srgbClr val="0E1628"/>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91F86FA9-3A9E-48AB-805D-614A5A2ADC18}"/>
              </a:ext>
            </a:extLst>
          </p:cNvPr>
          <p:cNvSpPr txBox="1"/>
          <p:nvPr/>
        </p:nvSpPr>
        <p:spPr>
          <a:xfrm>
            <a:off x="660400" y="1905000"/>
            <a:ext cx="1524000" cy="635000"/>
          </a:xfrm>
          <a:prstGeom prst="rect">
            <a:avLst/>
          </a:prstGeom>
          <a:noFill/>
        </p:spPr>
        <p:txBody>
          <a:bodyPr vert="horz" wrap="square" lIns="0" tIns="0" rIns="0" bIns="0" rtlCol="0" anchor="ctr">
            <a:noAutofit/>
          </a:bodyPr>
          <a:lstStyle/>
          <a:p>
            <a:r>
              <a:rPr lang="en-IN" sz="750" spc="100">
                <a:solidFill>
                  <a:srgbClr val="B3BDCF"/>
                </a:solidFill>
                <a:latin typeface="Segoe UI Semibold" panose="020B0702040204020203" pitchFamily="34" charset="0"/>
              </a:rPr>
              <a:t>HIERARCHY</a:t>
            </a:r>
          </a:p>
        </p:txBody>
      </p:sp>
      <p:sp>
        <p:nvSpPr>
          <p:cNvPr id="23" name="Rectangle: Rounded Corners 22">
            <a:extLst>
              <a:ext uri="{FF2B5EF4-FFF2-40B4-BE49-F238E27FC236}">
                <a16:creationId xmlns:a16="http://schemas.microsoft.com/office/drawing/2014/main" id="{63673C63-488E-2D6D-2B23-510E47BACB69}"/>
              </a:ext>
            </a:extLst>
          </p:cNvPr>
          <p:cNvSpPr/>
          <p:nvPr/>
        </p:nvSpPr>
        <p:spPr>
          <a:xfrm>
            <a:off x="2286000" y="2032000"/>
            <a:ext cx="1778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Organization</a:t>
            </a:r>
          </a:p>
        </p:txBody>
      </p:sp>
      <p:cxnSp>
        <p:nvCxnSpPr>
          <p:cNvPr id="24" name="Straight Connector 23">
            <a:extLst>
              <a:ext uri="{FF2B5EF4-FFF2-40B4-BE49-F238E27FC236}">
                <a16:creationId xmlns:a16="http://schemas.microsoft.com/office/drawing/2014/main" id="{870C9B5F-6812-2D1B-B8B8-5616D1724342}"/>
              </a:ext>
            </a:extLst>
          </p:cNvPr>
          <p:cNvCxnSpPr/>
          <p:nvPr/>
        </p:nvCxnSpPr>
        <p:spPr>
          <a:xfrm>
            <a:off x="4089400" y="22225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0E2679BD-08B4-B4D2-B0D9-25AE5BAF8245}"/>
              </a:ext>
            </a:extLst>
          </p:cNvPr>
          <p:cNvSpPr/>
          <p:nvPr/>
        </p:nvSpPr>
        <p:spPr>
          <a:xfrm>
            <a:off x="4292600" y="2032000"/>
            <a:ext cx="1778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Department</a:t>
            </a:r>
          </a:p>
        </p:txBody>
      </p:sp>
      <p:cxnSp>
        <p:nvCxnSpPr>
          <p:cNvPr id="26" name="Straight Connector 25">
            <a:extLst>
              <a:ext uri="{FF2B5EF4-FFF2-40B4-BE49-F238E27FC236}">
                <a16:creationId xmlns:a16="http://schemas.microsoft.com/office/drawing/2014/main" id="{D0E5AA0E-0D39-5F68-AC3D-CF9DCBFCB372}"/>
              </a:ext>
            </a:extLst>
          </p:cNvPr>
          <p:cNvCxnSpPr/>
          <p:nvPr/>
        </p:nvCxnSpPr>
        <p:spPr>
          <a:xfrm>
            <a:off x="6096000" y="22225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1159B85B-9A63-C87D-4F68-B1856DBB0FC4}"/>
              </a:ext>
            </a:extLst>
          </p:cNvPr>
          <p:cNvSpPr/>
          <p:nvPr/>
        </p:nvSpPr>
        <p:spPr>
          <a:xfrm>
            <a:off x="6299200" y="2032000"/>
            <a:ext cx="1778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Team</a:t>
            </a:r>
          </a:p>
        </p:txBody>
      </p:sp>
      <p:cxnSp>
        <p:nvCxnSpPr>
          <p:cNvPr id="28" name="Straight Connector 27">
            <a:extLst>
              <a:ext uri="{FF2B5EF4-FFF2-40B4-BE49-F238E27FC236}">
                <a16:creationId xmlns:a16="http://schemas.microsoft.com/office/drawing/2014/main" id="{9981E4F6-CEB1-090E-CCE8-2069203FDFC8}"/>
              </a:ext>
            </a:extLst>
          </p:cNvPr>
          <p:cNvCxnSpPr/>
          <p:nvPr/>
        </p:nvCxnSpPr>
        <p:spPr>
          <a:xfrm>
            <a:off x="8102600" y="22225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1FDA0C1A-5263-8844-0556-F0CC5330B9E3}"/>
              </a:ext>
            </a:extLst>
          </p:cNvPr>
          <p:cNvSpPr/>
          <p:nvPr/>
        </p:nvSpPr>
        <p:spPr>
          <a:xfrm>
            <a:off x="8305800" y="2032000"/>
            <a:ext cx="1778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Project</a:t>
            </a:r>
          </a:p>
        </p:txBody>
      </p:sp>
      <p:cxnSp>
        <p:nvCxnSpPr>
          <p:cNvPr id="30" name="Straight Connector 29">
            <a:extLst>
              <a:ext uri="{FF2B5EF4-FFF2-40B4-BE49-F238E27FC236}">
                <a16:creationId xmlns:a16="http://schemas.microsoft.com/office/drawing/2014/main" id="{A263D7ED-4B42-D12E-80B4-713CD5B6A87F}"/>
              </a:ext>
            </a:extLst>
          </p:cNvPr>
          <p:cNvCxnSpPr/>
          <p:nvPr/>
        </p:nvCxnSpPr>
        <p:spPr>
          <a:xfrm>
            <a:off x="2032000" y="2540000"/>
            <a:ext cx="0" cy="762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C1466988-EAC6-2807-7CF2-86DCB4FB8751}"/>
              </a:ext>
            </a:extLst>
          </p:cNvPr>
          <p:cNvSpPr/>
          <p:nvPr/>
        </p:nvSpPr>
        <p:spPr>
          <a:xfrm>
            <a:off x="508000" y="2616200"/>
            <a:ext cx="10668000" cy="635000"/>
          </a:xfrm>
          <a:prstGeom prst="roundRect">
            <a:avLst>
              <a:gd name="adj" fmla="val 12000"/>
            </a:avLst>
          </a:prstGeom>
          <a:solidFill>
            <a:srgbClr val="0E1628"/>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C33BE5F9-CA52-FD11-CB1F-B2ECD3179FD6}"/>
              </a:ext>
            </a:extLst>
          </p:cNvPr>
          <p:cNvSpPr txBox="1"/>
          <p:nvPr/>
        </p:nvSpPr>
        <p:spPr>
          <a:xfrm>
            <a:off x="660400" y="2616200"/>
            <a:ext cx="1524000" cy="635000"/>
          </a:xfrm>
          <a:prstGeom prst="rect">
            <a:avLst/>
          </a:prstGeom>
          <a:noFill/>
        </p:spPr>
        <p:txBody>
          <a:bodyPr vert="horz" wrap="square" lIns="0" tIns="0" rIns="0" bIns="0" rtlCol="0" anchor="ctr">
            <a:noAutofit/>
          </a:bodyPr>
          <a:lstStyle/>
          <a:p>
            <a:r>
              <a:rPr lang="en-IN" sz="750" spc="100">
                <a:solidFill>
                  <a:srgbClr val="B3BDCF"/>
                </a:solidFill>
                <a:latin typeface="Segoe UI Semibold" panose="020B0702040204020203" pitchFamily="34" charset="0"/>
              </a:rPr>
              <a:t>WORKSPACE</a:t>
            </a:r>
          </a:p>
        </p:txBody>
      </p:sp>
      <p:sp>
        <p:nvSpPr>
          <p:cNvPr id="33" name="Rectangle: Rounded Corners 32">
            <a:extLst>
              <a:ext uri="{FF2B5EF4-FFF2-40B4-BE49-F238E27FC236}">
                <a16:creationId xmlns:a16="http://schemas.microsoft.com/office/drawing/2014/main" id="{246541AA-2D47-5A88-253D-79524C033018}"/>
              </a:ext>
            </a:extLst>
          </p:cNvPr>
          <p:cNvSpPr/>
          <p:nvPr/>
        </p:nvSpPr>
        <p:spPr>
          <a:xfrm>
            <a:off x="2286000" y="2743200"/>
            <a:ext cx="1778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Requirements</a:t>
            </a:r>
          </a:p>
        </p:txBody>
      </p:sp>
      <p:cxnSp>
        <p:nvCxnSpPr>
          <p:cNvPr id="34" name="Straight Connector 33">
            <a:extLst>
              <a:ext uri="{FF2B5EF4-FFF2-40B4-BE49-F238E27FC236}">
                <a16:creationId xmlns:a16="http://schemas.microsoft.com/office/drawing/2014/main" id="{F285BE20-D67B-E577-9189-75BB623EB881}"/>
              </a:ext>
            </a:extLst>
          </p:cNvPr>
          <p:cNvCxnSpPr/>
          <p:nvPr/>
        </p:nvCxnSpPr>
        <p:spPr>
          <a:xfrm>
            <a:off x="4089400" y="29337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35" name="Rectangle: Rounded Corners 34">
            <a:extLst>
              <a:ext uri="{FF2B5EF4-FFF2-40B4-BE49-F238E27FC236}">
                <a16:creationId xmlns:a16="http://schemas.microsoft.com/office/drawing/2014/main" id="{F01C8E10-83B4-3EC5-F758-567C642F30C3}"/>
              </a:ext>
            </a:extLst>
          </p:cNvPr>
          <p:cNvSpPr/>
          <p:nvPr/>
        </p:nvSpPr>
        <p:spPr>
          <a:xfrm>
            <a:off x="4292600" y="2743200"/>
            <a:ext cx="1778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Tasks</a:t>
            </a:r>
          </a:p>
        </p:txBody>
      </p:sp>
      <p:cxnSp>
        <p:nvCxnSpPr>
          <p:cNvPr id="36" name="Straight Connector 35">
            <a:extLst>
              <a:ext uri="{FF2B5EF4-FFF2-40B4-BE49-F238E27FC236}">
                <a16:creationId xmlns:a16="http://schemas.microsoft.com/office/drawing/2014/main" id="{FEF16D07-7D6F-AF4F-4AF3-31C73CA486E8}"/>
              </a:ext>
            </a:extLst>
          </p:cNvPr>
          <p:cNvCxnSpPr/>
          <p:nvPr/>
        </p:nvCxnSpPr>
        <p:spPr>
          <a:xfrm>
            <a:off x="6096000" y="29337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37" name="Rectangle: Rounded Corners 36">
            <a:extLst>
              <a:ext uri="{FF2B5EF4-FFF2-40B4-BE49-F238E27FC236}">
                <a16:creationId xmlns:a16="http://schemas.microsoft.com/office/drawing/2014/main" id="{9799ABF7-9734-C129-A4B9-D4D9DBBC1D83}"/>
              </a:ext>
            </a:extLst>
          </p:cNvPr>
          <p:cNvSpPr/>
          <p:nvPr/>
        </p:nvSpPr>
        <p:spPr>
          <a:xfrm>
            <a:off x="6299200" y="2743200"/>
            <a:ext cx="1778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Repository record</a:t>
            </a:r>
          </a:p>
        </p:txBody>
      </p:sp>
      <p:cxnSp>
        <p:nvCxnSpPr>
          <p:cNvPr id="38" name="Straight Connector 37">
            <a:extLst>
              <a:ext uri="{FF2B5EF4-FFF2-40B4-BE49-F238E27FC236}">
                <a16:creationId xmlns:a16="http://schemas.microsoft.com/office/drawing/2014/main" id="{A52FA809-705C-D2D6-CBC4-A92CF5C2ABAE}"/>
              </a:ext>
            </a:extLst>
          </p:cNvPr>
          <p:cNvCxnSpPr/>
          <p:nvPr/>
        </p:nvCxnSpPr>
        <p:spPr>
          <a:xfrm>
            <a:off x="8102600" y="29337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39" name="Rectangle: Rounded Corners 38">
            <a:extLst>
              <a:ext uri="{FF2B5EF4-FFF2-40B4-BE49-F238E27FC236}">
                <a16:creationId xmlns:a16="http://schemas.microsoft.com/office/drawing/2014/main" id="{4C7CA55A-BF96-1865-B15D-056685BA896D}"/>
              </a:ext>
            </a:extLst>
          </p:cNvPr>
          <p:cNvSpPr/>
          <p:nvPr/>
        </p:nvSpPr>
        <p:spPr>
          <a:xfrm>
            <a:off x="8305800" y="2743200"/>
            <a:ext cx="2032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Snapshots · file manifest</a:t>
            </a:r>
          </a:p>
        </p:txBody>
      </p:sp>
      <p:cxnSp>
        <p:nvCxnSpPr>
          <p:cNvPr id="40" name="Straight Connector 39">
            <a:extLst>
              <a:ext uri="{FF2B5EF4-FFF2-40B4-BE49-F238E27FC236}">
                <a16:creationId xmlns:a16="http://schemas.microsoft.com/office/drawing/2014/main" id="{45DE54A6-F088-7AD3-151A-06AEC0EA3FAB}"/>
              </a:ext>
            </a:extLst>
          </p:cNvPr>
          <p:cNvCxnSpPr/>
          <p:nvPr/>
        </p:nvCxnSpPr>
        <p:spPr>
          <a:xfrm>
            <a:off x="2032000" y="3251200"/>
            <a:ext cx="0" cy="762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4FF2983F-DC65-2152-9850-62B37DFF871A}"/>
              </a:ext>
            </a:extLst>
          </p:cNvPr>
          <p:cNvSpPr/>
          <p:nvPr/>
        </p:nvSpPr>
        <p:spPr>
          <a:xfrm>
            <a:off x="508000" y="3327400"/>
            <a:ext cx="10668000" cy="635000"/>
          </a:xfrm>
          <a:prstGeom prst="roundRect">
            <a:avLst>
              <a:gd name="adj" fmla="val 12000"/>
            </a:avLst>
          </a:prstGeom>
          <a:solidFill>
            <a:srgbClr val="0E1628"/>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76627BEC-73C5-E3F3-CA75-6BFF94478758}"/>
              </a:ext>
            </a:extLst>
          </p:cNvPr>
          <p:cNvSpPr txBox="1"/>
          <p:nvPr/>
        </p:nvSpPr>
        <p:spPr>
          <a:xfrm>
            <a:off x="660400" y="3327400"/>
            <a:ext cx="1524000" cy="635000"/>
          </a:xfrm>
          <a:prstGeom prst="rect">
            <a:avLst/>
          </a:prstGeom>
          <a:noFill/>
        </p:spPr>
        <p:txBody>
          <a:bodyPr vert="horz" wrap="square" lIns="0" tIns="0" rIns="0" bIns="0" rtlCol="0" anchor="ctr">
            <a:noAutofit/>
          </a:bodyPr>
          <a:lstStyle/>
          <a:p>
            <a:r>
              <a:rPr lang="en-IN" sz="750" spc="100">
                <a:solidFill>
                  <a:srgbClr val="B3BDCF"/>
                </a:solidFill>
                <a:latin typeface="Segoe UI Semibold" panose="020B0702040204020203" pitchFamily="34" charset="0"/>
              </a:rPr>
              <a:t>REPOSITORY INTELLIGENCE</a:t>
            </a:r>
          </a:p>
        </p:txBody>
      </p:sp>
      <p:sp>
        <p:nvSpPr>
          <p:cNvPr id="43" name="Rectangle: Rounded Corners 42">
            <a:extLst>
              <a:ext uri="{FF2B5EF4-FFF2-40B4-BE49-F238E27FC236}">
                <a16:creationId xmlns:a16="http://schemas.microsoft.com/office/drawing/2014/main" id="{7EBAD3AB-FF86-9C02-DEB5-FDFF5C98AC10}"/>
              </a:ext>
            </a:extLst>
          </p:cNvPr>
          <p:cNvSpPr/>
          <p:nvPr/>
        </p:nvSpPr>
        <p:spPr>
          <a:xfrm>
            <a:off x="2286000" y="3454400"/>
            <a:ext cx="1905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Tree-sitter AST parsing</a:t>
            </a:r>
          </a:p>
        </p:txBody>
      </p:sp>
      <p:cxnSp>
        <p:nvCxnSpPr>
          <p:cNvPr id="44" name="Straight Connector 43">
            <a:extLst>
              <a:ext uri="{FF2B5EF4-FFF2-40B4-BE49-F238E27FC236}">
                <a16:creationId xmlns:a16="http://schemas.microsoft.com/office/drawing/2014/main" id="{EF8E82A5-31B4-99C6-3071-882439E2214C}"/>
              </a:ext>
            </a:extLst>
          </p:cNvPr>
          <p:cNvCxnSpPr/>
          <p:nvPr/>
        </p:nvCxnSpPr>
        <p:spPr>
          <a:xfrm>
            <a:off x="4216400" y="36449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45" name="Rectangle: Rounded Corners 44">
            <a:extLst>
              <a:ext uri="{FF2B5EF4-FFF2-40B4-BE49-F238E27FC236}">
                <a16:creationId xmlns:a16="http://schemas.microsoft.com/office/drawing/2014/main" id="{CB279756-2BEC-E079-637A-9DA82774DA30}"/>
              </a:ext>
            </a:extLst>
          </p:cNvPr>
          <p:cNvSpPr/>
          <p:nvPr/>
        </p:nvSpPr>
        <p:spPr>
          <a:xfrm>
            <a:off x="4419600" y="3454400"/>
            <a:ext cx="1397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Symbols</a:t>
            </a:r>
          </a:p>
        </p:txBody>
      </p:sp>
      <p:cxnSp>
        <p:nvCxnSpPr>
          <p:cNvPr id="46" name="Straight Connector 45">
            <a:extLst>
              <a:ext uri="{FF2B5EF4-FFF2-40B4-BE49-F238E27FC236}">
                <a16:creationId xmlns:a16="http://schemas.microsoft.com/office/drawing/2014/main" id="{D38AA854-39C4-992C-3408-5752E361CB39}"/>
              </a:ext>
            </a:extLst>
          </p:cNvPr>
          <p:cNvCxnSpPr/>
          <p:nvPr/>
        </p:nvCxnSpPr>
        <p:spPr>
          <a:xfrm>
            <a:off x="5842000" y="36449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DBE31ECF-B384-CF24-BDC0-9D37D5A1AD21}"/>
              </a:ext>
            </a:extLst>
          </p:cNvPr>
          <p:cNvSpPr/>
          <p:nvPr/>
        </p:nvSpPr>
        <p:spPr>
          <a:xfrm>
            <a:off x="6045200" y="3454400"/>
            <a:ext cx="1524000" cy="381000"/>
          </a:xfrm>
          <a:prstGeom prst="roundRect">
            <a:avLst>
              <a:gd name="adj" fmla="val 20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Relationships</a:t>
            </a:r>
          </a:p>
        </p:txBody>
      </p:sp>
      <p:cxnSp>
        <p:nvCxnSpPr>
          <p:cNvPr id="48" name="Straight Connector 47">
            <a:extLst>
              <a:ext uri="{FF2B5EF4-FFF2-40B4-BE49-F238E27FC236}">
                <a16:creationId xmlns:a16="http://schemas.microsoft.com/office/drawing/2014/main" id="{9392350E-CAF8-9D42-2296-6FB7A442A39E}"/>
              </a:ext>
            </a:extLst>
          </p:cNvPr>
          <p:cNvCxnSpPr/>
          <p:nvPr/>
        </p:nvCxnSpPr>
        <p:spPr>
          <a:xfrm>
            <a:off x="7594600" y="36449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3E0DA71C-F850-6A2F-CEA3-84911237A9E9}"/>
              </a:ext>
            </a:extLst>
          </p:cNvPr>
          <p:cNvSpPr/>
          <p:nvPr/>
        </p:nvSpPr>
        <p:spPr>
          <a:xfrm>
            <a:off x="7797800" y="3454400"/>
            <a:ext cx="2286000" cy="381000"/>
          </a:xfrm>
          <a:prstGeom prst="roundRect">
            <a:avLst>
              <a:gd name="adj" fmla="val 20000"/>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B3BDCF"/>
                </a:solidFill>
                <a:latin typeface="Segoe UI" panose="020B0502040204020203" pitchFamily="34" charset="0"/>
              </a:rPr>
              <a:t>Code graph · change history</a:t>
            </a:r>
          </a:p>
        </p:txBody>
      </p:sp>
      <p:cxnSp>
        <p:nvCxnSpPr>
          <p:cNvPr id="50" name="Straight Connector 49">
            <a:extLst>
              <a:ext uri="{FF2B5EF4-FFF2-40B4-BE49-F238E27FC236}">
                <a16:creationId xmlns:a16="http://schemas.microsoft.com/office/drawing/2014/main" id="{2AC6367E-634F-B0A7-7C6E-D1FA20FBAA3D}"/>
              </a:ext>
            </a:extLst>
          </p:cNvPr>
          <p:cNvCxnSpPr/>
          <p:nvPr/>
        </p:nvCxnSpPr>
        <p:spPr>
          <a:xfrm>
            <a:off x="2032000" y="3962400"/>
            <a:ext cx="0" cy="762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3C66D140-FA13-EB93-D787-403C8319B676}"/>
              </a:ext>
            </a:extLst>
          </p:cNvPr>
          <p:cNvSpPr/>
          <p:nvPr/>
        </p:nvSpPr>
        <p:spPr>
          <a:xfrm>
            <a:off x="508000" y="4038600"/>
            <a:ext cx="10668000" cy="635000"/>
          </a:xfrm>
          <a:prstGeom prst="roundRect">
            <a:avLst>
              <a:gd name="adj" fmla="val 12000"/>
            </a:avLst>
          </a:prstGeom>
          <a:solidFill>
            <a:srgbClr val="0E1628"/>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TextBox 51">
            <a:extLst>
              <a:ext uri="{FF2B5EF4-FFF2-40B4-BE49-F238E27FC236}">
                <a16:creationId xmlns:a16="http://schemas.microsoft.com/office/drawing/2014/main" id="{6EC91633-E227-856C-103B-2E65F222BB1F}"/>
              </a:ext>
            </a:extLst>
          </p:cNvPr>
          <p:cNvSpPr txBox="1"/>
          <p:nvPr/>
        </p:nvSpPr>
        <p:spPr>
          <a:xfrm>
            <a:off x="660400" y="4038600"/>
            <a:ext cx="1524000" cy="635000"/>
          </a:xfrm>
          <a:prstGeom prst="rect">
            <a:avLst/>
          </a:prstGeom>
          <a:noFill/>
        </p:spPr>
        <p:txBody>
          <a:bodyPr vert="horz" wrap="square" lIns="0" tIns="0" rIns="0" bIns="0" rtlCol="0" anchor="ctr">
            <a:noAutofit/>
          </a:bodyPr>
          <a:lstStyle/>
          <a:p>
            <a:r>
              <a:rPr lang="en-IN" sz="750" spc="100">
                <a:solidFill>
                  <a:srgbClr val="B3BDCF"/>
                </a:solidFill>
                <a:latin typeface="Segoe UI Semibold" panose="020B0702040204020203" pitchFamily="34" charset="0"/>
              </a:rPr>
              <a:t>ENGINEERING CONTEXT</a:t>
            </a:r>
          </a:p>
        </p:txBody>
      </p:sp>
      <p:sp>
        <p:nvSpPr>
          <p:cNvPr id="53" name="Rectangle: Rounded Corners 52">
            <a:extLst>
              <a:ext uri="{FF2B5EF4-FFF2-40B4-BE49-F238E27FC236}">
                <a16:creationId xmlns:a16="http://schemas.microsoft.com/office/drawing/2014/main" id="{2BE3BB09-DB8A-5072-6ABF-D71D17370BC7}"/>
              </a:ext>
            </a:extLst>
          </p:cNvPr>
          <p:cNvSpPr/>
          <p:nvPr/>
        </p:nvSpPr>
        <p:spPr>
          <a:xfrm>
            <a:off x="2286000" y="4165600"/>
            <a:ext cx="7874000" cy="381000"/>
          </a:xfrm>
          <a:prstGeom prst="roundRect">
            <a:avLst>
              <a:gd name="adj" fmla="val 20000"/>
            </a:avLst>
          </a:prstGeom>
          <a:solidFill>
            <a:srgbClr val="2B220F"/>
          </a:solidFill>
          <a:ln w="9525">
            <a:solidFill>
              <a:srgbClr val="B07A2A"/>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850">
                <a:solidFill>
                  <a:srgbClr val="F1F4F9"/>
                </a:solidFill>
                <a:latin typeface="Segoe UI" panose="020B0502040204020203" pitchFamily="34" charset="0"/>
              </a:rPr>
              <a:t>Shared Engineering Context — requirements, tasks and code entities linked per project (Phase 2I)</a:t>
            </a:r>
            <a:endParaRPr lang="en-IN" sz="850">
              <a:solidFill>
                <a:srgbClr val="F1F4F9"/>
              </a:solidFill>
              <a:latin typeface="Segoe UI" panose="020B0502040204020203" pitchFamily="34" charset="0"/>
            </a:endParaRPr>
          </a:p>
        </p:txBody>
      </p:sp>
      <p:cxnSp>
        <p:nvCxnSpPr>
          <p:cNvPr id="54" name="Straight Connector 53">
            <a:extLst>
              <a:ext uri="{FF2B5EF4-FFF2-40B4-BE49-F238E27FC236}">
                <a16:creationId xmlns:a16="http://schemas.microsoft.com/office/drawing/2014/main" id="{69E70D57-957E-B580-A2E3-545951AE0026}"/>
              </a:ext>
            </a:extLst>
          </p:cNvPr>
          <p:cNvCxnSpPr/>
          <p:nvPr/>
        </p:nvCxnSpPr>
        <p:spPr>
          <a:xfrm>
            <a:off x="2032000" y="4673600"/>
            <a:ext cx="0" cy="762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55" name="Rectangle: Rounded Corners 54">
            <a:extLst>
              <a:ext uri="{FF2B5EF4-FFF2-40B4-BE49-F238E27FC236}">
                <a16:creationId xmlns:a16="http://schemas.microsoft.com/office/drawing/2014/main" id="{F0331900-8268-239A-D555-D7C5BB4031D8}"/>
              </a:ext>
            </a:extLst>
          </p:cNvPr>
          <p:cNvSpPr/>
          <p:nvPr/>
        </p:nvSpPr>
        <p:spPr>
          <a:xfrm>
            <a:off x="508000" y="4749800"/>
            <a:ext cx="10668000" cy="635000"/>
          </a:xfrm>
          <a:prstGeom prst="roundRect">
            <a:avLst>
              <a:gd name="adj" fmla="val 12000"/>
            </a:avLst>
          </a:prstGeom>
          <a:solidFill>
            <a:srgbClr val="0E1628"/>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2F1119CC-79BC-6B40-6E88-A62C09AE9577}"/>
              </a:ext>
            </a:extLst>
          </p:cNvPr>
          <p:cNvSpPr txBox="1"/>
          <p:nvPr/>
        </p:nvSpPr>
        <p:spPr>
          <a:xfrm>
            <a:off x="660400" y="4749800"/>
            <a:ext cx="1524000" cy="635000"/>
          </a:xfrm>
          <a:prstGeom prst="rect">
            <a:avLst/>
          </a:prstGeom>
          <a:noFill/>
        </p:spPr>
        <p:txBody>
          <a:bodyPr vert="horz" wrap="square" lIns="0" tIns="0" rIns="0" bIns="0" rtlCol="0" anchor="ctr">
            <a:noAutofit/>
          </a:bodyPr>
          <a:lstStyle/>
          <a:p>
            <a:r>
              <a:rPr lang="en-IN" sz="750" spc="100">
                <a:solidFill>
                  <a:srgbClr val="B3BDCF"/>
                </a:solidFill>
                <a:latin typeface="Segoe UI Semibold" panose="020B0702040204020203" pitchFamily="34" charset="0"/>
              </a:rPr>
              <a:t>AI LAYER</a:t>
            </a:r>
          </a:p>
        </p:txBody>
      </p:sp>
      <p:sp>
        <p:nvSpPr>
          <p:cNvPr id="57" name="Rectangle: Rounded Corners 56">
            <a:extLst>
              <a:ext uri="{FF2B5EF4-FFF2-40B4-BE49-F238E27FC236}">
                <a16:creationId xmlns:a16="http://schemas.microsoft.com/office/drawing/2014/main" id="{2C473DAD-A08C-3A0C-779E-2EE20058A247}"/>
              </a:ext>
            </a:extLst>
          </p:cNvPr>
          <p:cNvSpPr/>
          <p:nvPr/>
        </p:nvSpPr>
        <p:spPr>
          <a:xfrm>
            <a:off x="2286000" y="4876800"/>
            <a:ext cx="4191000" cy="381000"/>
          </a:xfrm>
          <a:prstGeom prst="roundRect">
            <a:avLst>
              <a:gd name="adj" fmla="val 20000"/>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B3BDCF"/>
                </a:solidFill>
                <a:latin typeface="Segoe UI" panose="020B0502040204020203" pitchFamily="34" charset="0"/>
              </a:rPr>
              <a:t>AI Orchestrator: intent → authorize → assemble context → route model</a:t>
            </a:r>
          </a:p>
        </p:txBody>
      </p:sp>
      <p:cxnSp>
        <p:nvCxnSpPr>
          <p:cNvPr id="58" name="Straight Connector 57">
            <a:extLst>
              <a:ext uri="{FF2B5EF4-FFF2-40B4-BE49-F238E27FC236}">
                <a16:creationId xmlns:a16="http://schemas.microsoft.com/office/drawing/2014/main" id="{9BEE3987-7A27-30AC-C5DB-75B104B3A07E}"/>
              </a:ext>
            </a:extLst>
          </p:cNvPr>
          <p:cNvCxnSpPr/>
          <p:nvPr/>
        </p:nvCxnSpPr>
        <p:spPr>
          <a:xfrm>
            <a:off x="6502400" y="50673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59" name="Rectangle: Rounded Corners 58">
            <a:extLst>
              <a:ext uri="{FF2B5EF4-FFF2-40B4-BE49-F238E27FC236}">
                <a16:creationId xmlns:a16="http://schemas.microsoft.com/office/drawing/2014/main" id="{E8C41C81-F936-3848-BF0B-C59E5B9C53B9}"/>
              </a:ext>
            </a:extLst>
          </p:cNvPr>
          <p:cNvSpPr/>
          <p:nvPr/>
        </p:nvSpPr>
        <p:spPr>
          <a:xfrm>
            <a:off x="6705600" y="4876800"/>
            <a:ext cx="3175000" cy="381000"/>
          </a:xfrm>
          <a:prstGeom prst="roundRect">
            <a:avLst>
              <a:gd name="adj" fmla="val 20000"/>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850">
                <a:solidFill>
                  <a:srgbClr val="B3BDCF"/>
                </a:solidFill>
                <a:latin typeface="Segoe UI" panose="020B0502040204020203" pitchFamily="34" charset="0"/>
              </a:rPr>
              <a:t>AI services: Q&amp;A · review · tests · docs</a:t>
            </a:r>
            <a:endParaRPr lang="en-IN" sz="850">
              <a:solidFill>
                <a:srgbClr val="B3BDCF"/>
              </a:solidFill>
              <a:latin typeface="Segoe UI" panose="020B0502040204020203" pitchFamily="34" charset="0"/>
            </a:endParaRPr>
          </a:p>
        </p:txBody>
      </p:sp>
      <p:cxnSp>
        <p:nvCxnSpPr>
          <p:cNvPr id="60" name="Straight Connector 59">
            <a:extLst>
              <a:ext uri="{FF2B5EF4-FFF2-40B4-BE49-F238E27FC236}">
                <a16:creationId xmlns:a16="http://schemas.microsoft.com/office/drawing/2014/main" id="{B341B9F0-5B2C-FD16-22D5-CB18C5FFEA98}"/>
              </a:ext>
            </a:extLst>
          </p:cNvPr>
          <p:cNvCxnSpPr/>
          <p:nvPr/>
        </p:nvCxnSpPr>
        <p:spPr>
          <a:xfrm>
            <a:off x="2032000" y="5384800"/>
            <a:ext cx="0" cy="762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61" name="Rectangle: Rounded Corners 60">
            <a:extLst>
              <a:ext uri="{FF2B5EF4-FFF2-40B4-BE49-F238E27FC236}">
                <a16:creationId xmlns:a16="http://schemas.microsoft.com/office/drawing/2014/main" id="{A65833A1-9005-40FF-2433-C759FDFBF4E5}"/>
              </a:ext>
            </a:extLst>
          </p:cNvPr>
          <p:cNvSpPr/>
          <p:nvPr/>
        </p:nvSpPr>
        <p:spPr>
          <a:xfrm>
            <a:off x="508000" y="5461000"/>
            <a:ext cx="10668000" cy="635000"/>
          </a:xfrm>
          <a:prstGeom prst="roundRect">
            <a:avLst>
              <a:gd name="adj" fmla="val 12000"/>
            </a:avLst>
          </a:prstGeom>
          <a:solidFill>
            <a:srgbClr val="0E1628"/>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TextBox 61">
            <a:extLst>
              <a:ext uri="{FF2B5EF4-FFF2-40B4-BE49-F238E27FC236}">
                <a16:creationId xmlns:a16="http://schemas.microsoft.com/office/drawing/2014/main" id="{196075A1-9A24-0330-0EFC-3A47D44F1198}"/>
              </a:ext>
            </a:extLst>
          </p:cNvPr>
          <p:cNvSpPr txBox="1"/>
          <p:nvPr/>
        </p:nvSpPr>
        <p:spPr>
          <a:xfrm>
            <a:off x="660400" y="5461000"/>
            <a:ext cx="1524000" cy="635000"/>
          </a:xfrm>
          <a:prstGeom prst="rect">
            <a:avLst/>
          </a:prstGeom>
          <a:noFill/>
        </p:spPr>
        <p:txBody>
          <a:bodyPr vert="horz" wrap="square" lIns="0" tIns="0" rIns="0" bIns="0" rtlCol="0" anchor="ctr">
            <a:noAutofit/>
          </a:bodyPr>
          <a:lstStyle/>
          <a:p>
            <a:r>
              <a:rPr lang="en-IN" sz="750" spc="100">
                <a:solidFill>
                  <a:srgbClr val="B3BDCF"/>
                </a:solidFill>
                <a:latin typeface="Segoe UI Semibold" panose="020B0702040204020203" pitchFamily="34" charset="0"/>
              </a:rPr>
              <a:t>QUALITY &amp; DELIVERY</a:t>
            </a:r>
          </a:p>
        </p:txBody>
      </p:sp>
      <p:sp>
        <p:nvSpPr>
          <p:cNvPr id="63" name="Rectangle: Rounded Corners 62">
            <a:extLst>
              <a:ext uri="{FF2B5EF4-FFF2-40B4-BE49-F238E27FC236}">
                <a16:creationId xmlns:a16="http://schemas.microsoft.com/office/drawing/2014/main" id="{31F76CC8-C448-CF2F-F4BA-F2F4F6AD0B09}"/>
              </a:ext>
            </a:extLst>
          </p:cNvPr>
          <p:cNvSpPr/>
          <p:nvPr/>
        </p:nvSpPr>
        <p:spPr>
          <a:xfrm>
            <a:off x="2286000" y="5588000"/>
            <a:ext cx="1778000" cy="381000"/>
          </a:xfrm>
          <a:prstGeom prst="roundRect">
            <a:avLst>
              <a:gd name="adj" fmla="val 20000"/>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B3BDCF"/>
                </a:solidFill>
                <a:latin typeface="Segoe UI" panose="020B0502040204020203" pitchFamily="34" charset="0"/>
              </a:rPr>
              <a:t>Defect-risk prediction</a:t>
            </a:r>
          </a:p>
        </p:txBody>
      </p:sp>
      <p:cxnSp>
        <p:nvCxnSpPr>
          <p:cNvPr id="64" name="Straight Connector 63">
            <a:extLst>
              <a:ext uri="{FF2B5EF4-FFF2-40B4-BE49-F238E27FC236}">
                <a16:creationId xmlns:a16="http://schemas.microsoft.com/office/drawing/2014/main" id="{C22EF4B6-B329-5B9E-F9D1-1F6292AE1C6F}"/>
              </a:ext>
            </a:extLst>
          </p:cNvPr>
          <p:cNvCxnSpPr/>
          <p:nvPr/>
        </p:nvCxnSpPr>
        <p:spPr>
          <a:xfrm>
            <a:off x="4089400" y="57785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65" name="Rectangle: Rounded Corners 64">
            <a:extLst>
              <a:ext uri="{FF2B5EF4-FFF2-40B4-BE49-F238E27FC236}">
                <a16:creationId xmlns:a16="http://schemas.microsoft.com/office/drawing/2014/main" id="{4A0111B2-8126-2CAB-408F-18C3437DBBB2}"/>
              </a:ext>
            </a:extLst>
          </p:cNvPr>
          <p:cNvSpPr/>
          <p:nvPr/>
        </p:nvSpPr>
        <p:spPr>
          <a:xfrm>
            <a:off x="4292600" y="5588000"/>
            <a:ext cx="1397000" cy="381000"/>
          </a:xfrm>
          <a:prstGeom prst="roundRect">
            <a:avLst>
              <a:gd name="adj" fmla="val 20000"/>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B3BDCF"/>
                </a:solidFill>
                <a:latin typeface="Segoe UI" panose="020B0502040204020203" pitchFamily="34" charset="0"/>
              </a:rPr>
              <a:t>Explanation</a:t>
            </a:r>
          </a:p>
        </p:txBody>
      </p:sp>
      <p:cxnSp>
        <p:nvCxnSpPr>
          <p:cNvPr id="66" name="Straight Connector 65">
            <a:extLst>
              <a:ext uri="{FF2B5EF4-FFF2-40B4-BE49-F238E27FC236}">
                <a16:creationId xmlns:a16="http://schemas.microsoft.com/office/drawing/2014/main" id="{36754005-5B10-ACDB-313F-D18BF3E5E3C6}"/>
              </a:ext>
            </a:extLst>
          </p:cNvPr>
          <p:cNvCxnSpPr/>
          <p:nvPr/>
        </p:nvCxnSpPr>
        <p:spPr>
          <a:xfrm>
            <a:off x="5715000" y="57785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67" name="Rectangle: Rounded Corners 66">
            <a:extLst>
              <a:ext uri="{FF2B5EF4-FFF2-40B4-BE49-F238E27FC236}">
                <a16:creationId xmlns:a16="http://schemas.microsoft.com/office/drawing/2014/main" id="{741955A0-62CC-E32E-C736-8497E74BE9B4}"/>
              </a:ext>
            </a:extLst>
          </p:cNvPr>
          <p:cNvSpPr/>
          <p:nvPr/>
        </p:nvSpPr>
        <p:spPr>
          <a:xfrm>
            <a:off x="5918200" y="5588000"/>
            <a:ext cx="1651000" cy="381000"/>
          </a:xfrm>
          <a:prstGeom prst="roundRect">
            <a:avLst>
              <a:gd name="adj" fmla="val 20000"/>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B3BDCF"/>
                </a:solidFill>
                <a:latin typeface="Segoe UI" panose="020B0502040204020203" pitchFamily="34" charset="0"/>
              </a:rPr>
              <a:t>CI/CD integration</a:t>
            </a:r>
          </a:p>
        </p:txBody>
      </p:sp>
      <p:cxnSp>
        <p:nvCxnSpPr>
          <p:cNvPr id="68" name="Straight Connector 67">
            <a:extLst>
              <a:ext uri="{FF2B5EF4-FFF2-40B4-BE49-F238E27FC236}">
                <a16:creationId xmlns:a16="http://schemas.microsoft.com/office/drawing/2014/main" id="{BA539E43-7E72-AE19-CAE4-58EB949559F6}"/>
              </a:ext>
            </a:extLst>
          </p:cNvPr>
          <p:cNvCxnSpPr/>
          <p:nvPr/>
        </p:nvCxnSpPr>
        <p:spPr>
          <a:xfrm>
            <a:off x="7594600" y="57785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69" name="Rectangle: Rounded Corners 68">
            <a:extLst>
              <a:ext uri="{FF2B5EF4-FFF2-40B4-BE49-F238E27FC236}">
                <a16:creationId xmlns:a16="http://schemas.microsoft.com/office/drawing/2014/main" id="{3C83936C-CADD-BB1F-13C2-644B8073A0EA}"/>
              </a:ext>
            </a:extLst>
          </p:cNvPr>
          <p:cNvSpPr/>
          <p:nvPr/>
        </p:nvSpPr>
        <p:spPr>
          <a:xfrm>
            <a:off x="7797800" y="5588000"/>
            <a:ext cx="1778000" cy="381000"/>
          </a:xfrm>
          <a:prstGeom prst="roundRect">
            <a:avLst>
              <a:gd name="adj" fmla="val 20000"/>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B3BDCF"/>
                </a:solidFill>
                <a:latin typeface="Segoe UI" panose="020B0502040204020203" pitchFamily="34" charset="0"/>
              </a:rPr>
              <a:t>Deployment feedback</a:t>
            </a:r>
          </a:p>
        </p:txBody>
      </p:sp>
      <p:cxnSp>
        <p:nvCxnSpPr>
          <p:cNvPr id="70" name="Straight Connector 69">
            <a:extLst>
              <a:ext uri="{FF2B5EF4-FFF2-40B4-BE49-F238E27FC236}">
                <a16:creationId xmlns:a16="http://schemas.microsoft.com/office/drawing/2014/main" id="{9B1BACF8-AD52-BB1A-3C24-0072052BEB7E}"/>
              </a:ext>
            </a:extLst>
          </p:cNvPr>
          <p:cNvCxnSpPr/>
          <p:nvPr/>
        </p:nvCxnSpPr>
        <p:spPr>
          <a:xfrm>
            <a:off x="11176000" y="5778500"/>
            <a:ext cx="304800" cy="0"/>
          </a:xfrm>
          <a:prstGeom prst="line">
            <a:avLst/>
          </a:prstGeom>
          <a:ln>
            <a:solidFill>
              <a:srgbClr val="8F99AD"/>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2C7F146-E9E4-93E9-BB81-942CEACC714C}"/>
              </a:ext>
            </a:extLst>
          </p:cNvPr>
          <p:cNvCxnSpPr/>
          <p:nvPr/>
        </p:nvCxnSpPr>
        <p:spPr>
          <a:xfrm flipV="1">
            <a:off x="11480800" y="4356100"/>
            <a:ext cx="0" cy="1422400"/>
          </a:xfrm>
          <a:prstGeom prst="line">
            <a:avLst/>
          </a:prstGeom>
          <a:ln>
            <a:solidFill>
              <a:srgbClr val="8F99AD"/>
            </a:solidFill>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6F365F3-6B61-9843-BA2D-F02F266E38DE}"/>
              </a:ext>
            </a:extLst>
          </p:cNvPr>
          <p:cNvCxnSpPr/>
          <p:nvPr/>
        </p:nvCxnSpPr>
        <p:spPr>
          <a:xfrm flipH="1">
            <a:off x="11201400" y="4356100"/>
            <a:ext cx="279400" cy="0"/>
          </a:xfrm>
          <a:prstGeom prst="line">
            <a:avLst/>
          </a:prstGeom>
          <a:ln w="9525">
            <a:solidFill>
              <a:srgbClr val="8F99AD"/>
            </a:solidFill>
            <a:prstDash val="dash"/>
            <a:tailEnd type="triangle" w="sm" len="sm"/>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7DD30D44-1E43-328A-0681-5BF65678BE87}"/>
              </a:ext>
            </a:extLst>
          </p:cNvPr>
          <p:cNvSpPr txBox="1"/>
          <p:nvPr/>
        </p:nvSpPr>
        <p:spPr>
          <a:xfrm>
            <a:off x="11531600" y="5118100"/>
            <a:ext cx="609600" cy="304800"/>
          </a:xfrm>
          <a:prstGeom prst="rect">
            <a:avLst/>
          </a:prstGeom>
          <a:noFill/>
        </p:spPr>
        <p:txBody>
          <a:bodyPr vert="horz" wrap="square" lIns="0" tIns="0" rIns="0" bIns="0" rtlCol="0" anchor="t">
            <a:noAutofit/>
          </a:bodyPr>
          <a:lstStyle/>
          <a:p>
            <a:r>
              <a:rPr lang="en-IN" sz="650">
                <a:solidFill>
                  <a:srgbClr val="78849A"/>
                </a:solidFill>
                <a:latin typeface="Segoe UI" panose="020B0502040204020203" pitchFamily="34" charset="0"/>
              </a:rPr>
              <a:t>deploy</a:t>
            </a:r>
            <a:br>
              <a:rPr lang="en-IN" sz="650">
                <a:solidFill>
                  <a:srgbClr val="78849A"/>
                </a:solidFill>
                <a:latin typeface="Segoe UI" panose="020B0502040204020203" pitchFamily="34" charset="0"/>
              </a:rPr>
            </a:br>
            <a:r>
              <a:rPr lang="en-IN" sz="650">
                <a:solidFill>
                  <a:srgbClr val="78849A"/>
                </a:solidFill>
                <a:latin typeface="Segoe UI" panose="020B0502040204020203" pitchFamily="34" charset="0"/>
              </a:rPr>
              <a:t>feedback</a:t>
            </a:r>
          </a:p>
        </p:txBody>
      </p:sp>
    </p:spTree>
    <p:extLst>
      <p:ext uri="{BB962C8B-B14F-4D97-AF65-F5344CB8AC3E}">
        <p14:creationId xmlns:p14="http://schemas.microsoft.com/office/powerpoint/2010/main" val="174249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0985B-4B7B-48D8-CFC9-59BA9417D96D}"/>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13  ·  TECHNOLOGIES USED</a:t>
            </a:r>
          </a:p>
        </p:txBody>
      </p:sp>
      <p:sp>
        <p:nvSpPr>
          <p:cNvPr id="3" name="TextBox 2">
            <a:extLst>
              <a:ext uri="{FF2B5EF4-FFF2-40B4-BE49-F238E27FC236}">
                <a16:creationId xmlns:a16="http://schemas.microsoft.com/office/drawing/2014/main" id="{5C497EBB-84D5-D25D-B9C3-1F6958F9CFDF}"/>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Current Implementation Architecture</a:t>
            </a:r>
          </a:p>
        </p:txBody>
      </p:sp>
      <p:sp>
        <p:nvSpPr>
          <p:cNvPr id="4" name="TextBox 3">
            <a:extLst>
              <a:ext uri="{FF2B5EF4-FFF2-40B4-BE49-F238E27FC236}">
                <a16:creationId xmlns:a16="http://schemas.microsoft.com/office/drawing/2014/main" id="{1904AF45-B722-35DD-2D67-B7321885C4FD}"/>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Only technology that is in the codebase today.</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9EE6F928-9324-E3E2-D251-DD31E46E312C}"/>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46E5285-F7BB-E6A5-B069-BC82731EC4F2}"/>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50ABABA4-7BFA-D3CE-8219-3A06794929D5}"/>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13 / 20</a:t>
            </a:r>
          </a:p>
        </p:txBody>
      </p:sp>
      <p:sp>
        <p:nvSpPr>
          <p:cNvPr id="8" name="Rectangle: Rounded Corners 7">
            <a:extLst>
              <a:ext uri="{FF2B5EF4-FFF2-40B4-BE49-F238E27FC236}">
                <a16:creationId xmlns:a16="http://schemas.microsoft.com/office/drawing/2014/main" id="{10BB8C46-558E-B223-F607-245A4DC6F6AB}"/>
              </a:ext>
            </a:extLst>
          </p:cNvPr>
          <p:cNvSpPr/>
          <p:nvPr/>
        </p:nvSpPr>
        <p:spPr>
          <a:xfrm>
            <a:off x="508000" y="1168400"/>
            <a:ext cx="6604000" cy="5105400"/>
          </a:xfrm>
          <a:prstGeom prst="roundRect">
            <a:avLst>
              <a:gd name="adj" fmla="val 199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A4CED30-3905-214C-54A7-D0CAD5FF0249}"/>
              </a:ext>
            </a:extLst>
          </p:cNvPr>
          <p:cNvSpPr txBox="1"/>
          <p:nvPr/>
        </p:nvSpPr>
        <p:spPr>
          <a:xfrm>
            <a:off x="711200" y="1320800"/>
            <a:ext cx="2540000" cy="152400"/>
          </a:xfrm>
          <a:prstGeom prst="rect">
            <a:avLst/>
          </a:prstGeom>
          <a:noFill/>
        </p:spPr>
        <p:txBody>
          <a:bodyPr vert="horz" wrap="square" lIns="0" tIns="0" rIns="0" bIns="0" rtlCol="0" anchor="t">
            <a:noAutofit/>
          </a:bodyPr>
          <a:lstStyle/>
          <a:p>
            <a:r>
              <a:rPr lang="en-IN" sz="750" spc="110">
                <a:solidFill>
                  <a:srgbClr val="78849A"/>
                </a:solidFill>
                <a:latin typeface="Segoe UI Semibold" panose="020B0702040204020203" pitchFamily="34" charset="0"/>
              </a:rPr>
              <a:t>BROWSER</a:t>
            </a:r>
          </a:p>
        </p:txBody>
      </p:sp>
      <p:sp>
        <p:nvSpPr>
          <p:cNvPr id="10" name="Rectangle: Rounded Corners 9">
            <a:extLst>
              <a:ext uri="{FF2B5EF4-FFF2-40B4-BE49-F238E27FC236}">
                <a16:creationId xmlns:a16="http://schemas.microsoft.com/office/drawing/2014/main" id="{0E053B62-2DBD-2832-B131-B009AF125AEE}"/>
              </a:ext>
            </a:extLst>
          </p:cNvPr>
          <p:cNvSpPr/>
          <p:nvPr/>
        </p:nvSpPr>
        <p:spPr>
          <a:xfrm>
            <a:off x="711200" y="1498600"/>
            <a:ext cx="6197600" cy="431800"/>
          </a:xfrm>
          <a:prstGeom prst="roundRect">
            <a:avLst>
              <a:gd name="adj" fmla="val 17647"/>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900">
                <a:solidFill>
                  <a:srgbClr val="F1F4F9"/>
                </a:solidFill>
                <a:latin typeface="Segoe UI" panose="020B0502040204020203" pitchFamily="34" charset="0"/>
              </a:rPr>
              <a:t>React 19 UI  ·  Tailwind CSS 4 design system  ·  custom components and icon set  ·  command palette</a:t>
            </a:r>
            <a:endParaRPr lang="en-IN" sz="900">
              <a:solidFill>
                <a:srgbClr val="F1F4F9"/>
              </a:solidFill>
              <a:latin typeface="Segoe UI" panose="020B0502040204020203" pitchFamily="34" charset="0"/>
            </a:endParaRPr>
          </a:p>
        </p:txBody>
      </p:sp>
      <p:cxnSp>
        <p:nvCxnSpPr>
          <p:cNvPr id="11" name="Straight Connector 10">
            <a:extLst>
              <a:ext uri="{FF2B5EF4-FFF2-40B4-BE49-F238E27FC236}">
                <a16:creationId xmlns:a16="http://schemas.microsoft.com/office/drawing/2014/main" id="{A0144CEA-C604-C6EC-3A9F-512EDC72D688}"/>
              </a:ext>
            </a:extLst>
          </p:cNvPr>
          <p:cNvCxnSpPr/>
          <p:nvPr/>
        </p:nvCxnSpPr>
        <p:spPr>
          <a:xfrm>
            <a:off x="3810000" y="1955800"/>
            <a:ext cx="0" cy="2286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5B2E3CB-06E0-FC75-BC6C-087F34A8FEE0}"/>
              </a:ext>
            </a:extLst>
          </p:cNvPr>
          <p:cNvSpPr txBox="1"/>
          <p:nvPr/>
        </p:nvSpPr>
        <p:spPr>
          <a:xfrm>
            <a:off x="3886200" y="1981200"/>
            <a:ext cx="2921000" cy="152400"/>
          </a:xfrm>
          <a:prstGeom prst="rect">
            <a:avLst/>
          </a:prstGeom>
          <a:noFill/>
        </p:spPr>
        <p:txBody>
          <a:bodyPr vert="horz" wrap="square" lIns="0" tIns="0" rIns="0" bIns="0" rtlCol="0" anchor="t">
            <a:noAutofit/>
          </a:bodyPr>
          <a:lstStyle/>
          <a:p>
            <a:r>
              <a:rPr lang="en-IN" sz="750">
                <a:solidFill>
                  <a:srgbClr val="78849A"/>
                </a:solidFill>
                <a:latin typeface="Segoe UI" panose="020B0502040204020203" pitchFamily="34" charset="0"/>
              </a:rPr>
              <a:t>HTTPS · session cookie</a:t>
            </a:r>
          </a:p>
        </p:txBody>
      </p:sp>
      <p:sp>
        <p:nvSpPr>
          <p:cNvPr id="13" name="TextBox 12">
            <a:extLst>
              <a:ext uri="{FF2B5EF4-FFF2-40B4-BE49-F238E27FC236}">
                <a16:creationId xmlns:a16="http://schemas.microsoft.com/office/drawing/2014/main" id="{9D0F59BC-74F0-97A3-8CAE-CBEDF99AF3B2}"/>
              </a:ext>
            </a:extLst>
          </p:cNvPr>
          <p:cNvSpPr txBox="1"/>
          <p:nvPr/>
        </p:nvSpPr>
        <p:spPr>
          <a:xfrm>
            <a:off x="711200" y="2235200"/>
            <a:ext cx="3810000" cy="152400"/>
          </a:xfrm>
          <a:prstGeom prst="rect">
            <a:avLst/>
          </a:prstGeom>
          <a:noFill/>
        </p:spPr>
        <p:txBody>
          <a:bodyPr vert="horz" wrap="square" lIns="0" tIns="0" rIns="0" bIns="0" rtlCol="0" anchor="t">
            <a:noAutofit/>
          </a:bodyPr>
          <a:lstStyle/>
          <a:p>
            <a:r>
              <a:rPr lang="en-IN" sz="750" spc="110">
                <a:solidFill>
                  <a:srgbClr val="78849A"/>
                </a:solidFill>
                <a:latin typeface="Segoe UI Semibold" panose="020B0702040204020203" pitchFamily="34" charset="0"/>
              </a:rPr>
              <a:t>NEXT.JS 16 APP ROUTER (NODE.JS, TYPESCRIPT)</a:t>
            </a:r>
          </a:p>
        </p:txBody>
      </p:sp>
      <p:sp>
        <p:nvSpPr>
          <p:cNvPr id="14" name="Rectangle: Rounded Corners 13">
            <a:extLst>
              <a:ext uri="{FF2B5EF4-FFF2-40B4-BE49-F238E27FC236}">
                <a16:creationId xmlns:a16="http://schemas.microsoft.com/office/drawing/2014/main" id="{C8E078CF-3A6F-9129-8DE3-78DFF53D99DE}"/>
              </a:ext>
            </a:extLst>
          </p:cNvPr>
          <p:cNvSpPr/>
          <p:nvPr/>
        </p:nvSpPr>
        <p:spPr>
          <a:xfrm>
            <a:off x="711200" y="2413000"/>
            <a:ext cx="6197600" cy="1879600"/>
          </a:xfrm>
          <a:prstGeom prst="roundRect">
            <a:avLst>
              <a:gd name="adj" fmla="val 4054"/>
            </a:avLst>
          </a:prstGeom>
          <a:solidFill>
            <a:srgbClr val="0E1628"/>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9EC1EF22-CCEF-7910-F692-5D4D75D1396F}"/>
              </a:ext>
            </a:extLst>
          </p:cNvPr>
          <p:cNvSpPr/>
          <p:nvPr/>
        </p:nvSpPr>
        <p:spPr>
          <a:xfrm>
            <a:off x="838200" y="2540000"/>
            <a:ext cx="1905000" cy="508000"/>
          </a:xfrm>
          <a:prstGeom prst="roundRect">
            <a:avLst>
              <a:gd name="adj" fmla="val 15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00">
                <a:solidFill>
                  <a:srgbClr val="F1F4F9"/>
                </a:solidFill>
                <a:latin typeface="Segoe UI Semibold" panose="020B0702040204020203" pitchFamily="34" charset="0"/>
              </a:rPr>
              <a:t>Proxy</a:t>
            </a:r>
            <a:br>
              <a:rPr lang="en-IN" sz="800">
                <a:solidFill>
                  <a:srgbClr val="F1F4F9"/>
                </a:solidFill>
                <a:latin typeface="Segoe UI" panose="020B0502040204020203" pitchFamily="34" charset="0"/>
              </a:rPr>
            </a:br>
            <a:r>
              <a:rPr lang="en-IN" sz="850">
                <a:solidFill>
                  <a:srgbClr val="B3BDCF"/>
                </a:solidFill>
                <a:latin typeface="Segoe UI" panose="020B0502040204020203" pitchFamily="34" charset="0"/>
              </a:rPr>
              <a:t>session refresh, route guard</a:t>
            </a:r>
          </a:p>
        </p:txBody>
      </p:sp>
      <p:sp>
        <p:nvSpPr>
          <p:cNvPr id="16" name="Rectangle: Rounded Corners 15">
            <a:extLst>
              <a:ext uri="{FF2B5EF4-FFF2-40B4-BE49-F238E27FC236}">
                <a16:creationId xmlns:a16="http://schemas.microsoft.com/office/drawing/2014/main" id="{7B4A1275-3B72-A1EA-675A-1793329E6EDF}"/>
              </a:ext>
            </a:extLst>
          </p:cNvPr>
          <p:cNvSpPr/>
          <p:nvPr/>
        </p:nvSpPr>
        <p:spPr>
          <a:xfrm>
            <a:off x="2844800" y="2540000"/>
            <a:ext cx="1905000" cy="508000"/>
          </a:xfrm>
          <a:prstGeom prst="roundRect">
            <a:avLst>
              <a:gd name="adj" fmla="val 15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00">
                <a:solidFill>
                  <a:srgbClr val="F1F4F9"/>
                </a:solidFill>
                <a:latin typeface="Segoe UI Semibold" panose="020B0702040204020203" pitchFamily="34" charset="0"/>
              </a:rPr>
              <a:t>Server Components</a:t>
            </a:r>
            <a:br>
              <a:rPr lang="en-IN" sz="800">
                <a:solidFill>
                  <a:srgbClr val="F1F4F9"/>
                </a:solidFill>
                <a:latin typeface="Segoe UI" panose="020B0502040204020203" pitchFamily="34" charset="0"/>
              </a:rPr>
            </a:br>
            <a:r>
              <a:rPr lang="en-IN" sz="850">
                <a:solidFill>
                  <a:srgbClr val="B3BDCF"/>
                </a:solidFill>
                <a:latin typeface="Segoe UI" panose="020B0502040204020203" pitchFamily="34" charset="0"/>
              </a:rPr>
              <a:t>RLS-filtered reads</a:t>
            </a:r>
          </a:p>
        </p:txBody>
      </p:sp>
      <p:sp>
        <p:nvSpPr>
          <p:cNvPr id="17" name="Rectangle: Rounded Corners 16">
            <a:extLst>
              <a:ext uri="{FF2B5EF4-FFF2-40B4-BE49-F238E27FC236}">
                <a16:creationId xmlns:a16="http://schemas.microsoft.com/office/drawing/2014/main" id="{14FA4BA9-CBDB-E36C-1390-B75AF32AA9E0}"/>
              </a:ext>
            </a:extLst>
          </p:cNvPr>
          <p:cNvSpPr/>
          <p:nvPr/>
        </p:nvSpPr>
        <p:spPr>
          <a:xfrm>
            <a:off x="4851400" y="2540000"/>
            <a:ext cx="1930400" cy="508000"/>
          </a:xfrm>
          <a:prstGeom prst="roundRect">
            <a:avLst>
              <a:gd name="adj" fmla="val 15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fr-FR" sz="800">
                <a:solidFill>
                  <a:srgbClr val="F1F4F9"/>
                </a:solidFill>
                <a:latin typeface="Segoe UI Semibold" panose="020B0702040204020203" pitchFamily="34" charset="0"/>
              </a:rPr>
              <a:t>Server Actions</a:t>
            </a:r>
            <a:br>
              <a:rPr lang="fr-FR" sz="800">
                <a:solidFill>
                  <a:srgbClr val="F1F4F9"/>
                </a:solidFill>
                <a:latin typeface="Segoe UI" panose="020B0502040204020203" pitchFamily="34" charset="0"/>
              </a:rPr>
            </a:br>
            <a:r>
              <a:rPr lang="fr-FR" sz="850">
                <a:solidFill>
                  <a:srgbClr val="B3BDCF"/>
                </a:solidFill>
                <a:latin typeface="Segoe UI" panose="020B0502040204020203" pitchFamily="34" charset="0"/>
              </a:rPr>
              <a:t>mutations, Zod validation</a:t>
            </a:r>
            <a:endParaRPr lang="en-IN" sz="850">
              <a:solidFill>
                <a:srgbClr val="B3BDCF"/>
              </a:solidFill>
              <a:latin typeface="Segoe UI" panose="020B0502040204020203" pitchFamily="34" charset="0"/>
            </a:endParaRPr>
          </a:p>
        </p:txBody>
      </p:sp>
      <p:sp>
        <p:nvSpPr>
          <p:cNvPr id="18" name="Rectangle: Rounded Corners 17">
            <a:extLst>
              <a:ext uri="{FF2B5EF4-FFF2-40B4-BE49-F238E27FC236}">
                <a16:creationId xmlns:a16="http://schemas.microsoft.com/office/drawing/2014/main" id="{C91D9BE4-6279-3FEF-375C-5CC39C1F30AD}"/>
              </a:ext>
            </a:extLst>
          </p:cNvPr>
          <p:cNvSpPr/>
          <p:nvPr/>
        </p:nvSpPr>
        <p:spPr>
          <a:xfrm>
            <a:off x="838200" y="3149600"/>
            <a:ext cx="5943600" cy="1016000"/>
          </a:xfrm>
          <a:prstGeom prst="roundRect">
            <a:avLst>
              <a:gd name="adj" fmla="val 75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F1F4F9"/>
                </a:solidFill>
                <a:latin typeface="Segoe UI Semibold" panose="020B0702040204020203" pitchFamily="34" charset="0"/>
              </a:rPr>
              <a:t>Repository structure engine</a:t>
            </a:r>
            <a:br>
              <a:rPr lang="en-IN" sz="900">
                <a:solidFill>
                  <a:srgbClr val="F1F4F9"/>
                </a:solidFill>
                <a:latin typeface="Segoe UI" panose="020B0502040204020203" pitchFamily="34" charset="0"/>
              </a:rPr>
            </a:br>
            <a:r>
              <a:rPr lang="en-IN" sz="850">
                <a:solidFill>
                  <a:srgbClr val="B3BDCF"/>
                </a:solidFill>
                <a:latin typeface="Segoe UI" panose="020B0502040204020203" pitchFamily="34" charset="0"/>
              </a:rPr>
              <a:t>web-tree-sitter (WASM) adapters: TypeScript, TSX, JavaScript, Python, Java</a:t>
            </a:r>
            <a:br>
              <a:rPr lang="en-IN" sz="850">
                <a:solidFill>
                  <a:srgbClr val="B3BDCF"/>
                </a:solidFill>
                <a:latin typeface="Segoe UI" panose="020B0502040204020203" pitchFamily="34" charset="0"/>
              </a:rPr>
            </a:br>
            <a:r>
              <a:rPr lang="en-IN" sz="850">
                <a:solidFill>
                  <a:srgbClr val="B3BDCF"/>
                </a:solidFill>
                <a:latin typeface="Segoe UI" panose="020B0502040204020203" pitchFamily="34" charset="0"/>
              </a:rPr>
              <a:t>analyzer with size, hash and symbol limits</a:t>
            </a:r>
            <a:br>
              <a:rPr lang="en-IN" sz="850">
                <a:solidFill>
                  <a:srgbClr val="B3BDCF"/>
                </a:solidFill>
                <a:latin typeface="Segoe UI" panose="020B0502040204020203" pitchFamily="34" charset="0"/>
              </a:rPr>
            </a:br>
            <a:r>
              <a:rPr lang="en-IN" sz="850">
                <a:solidFill>
                  <a:srgbClr val="B3BDCF"/>
                </a:solidFill>
                <a:latin typeface="Segoe UI" panose="020B0502040204020203" pitchFamily="34" charset="0"/>
              </a:rPr>
              <a:t>canonical OFA-STRUCTURE-V1 message  ·  HMAC-SHA256 signer (server-only key)</a:t>
            </a:r>
          </a:p>
        </p:txBody>
      </p:sp>
      <p:cxnSp>
        <p:nvCxnSpPr>
          <p:cNvPr id="19" name="Straight Connector 18">
            <a:extLst>
              <a:ext uri="{FF2B5EF4-FFF2-40B4-BE49-F238E27FC236}">
                <a16:creationId xmlns:a16="http://schemas.microsoft.com/office/drawing/2014/main" id="{1A3FD937-8193-6F7B-341E-A0BD1D81EB2F}"/>
              </a:ext>
            </a:extLst>
          </p:cNvPr>
          <p:cNvCxnSpPr/>
          <p:nvPr/>
        </p:nvCxnSpPr>
        <p:spPr>
          <a:xfrm>
            <a:off x="3810000" y="4318000"/>
            <a:ext cx="0" cy="2286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006E19F-C717-FEEC-E8E7-F9E7257D7ACD}"/>
              </a:ext>
            </a:extLst>
          </p:cNvPr>
          <p:cNvSpPr txBox="1"/>
          <p:nvPr/>
        </p:nvSpPr>
        <p:spPr>
          <a:xfrm>
            <a:off x="3886200" y="4343400"/>
            <a:ext cx="2921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PostgREST / Auth API with the user's JWT</a:t>
            </a:r>
            <a:endParaRPr lang="en-IN" sz="750">
              <a:solidFill>
                <a:srgbClr val="78849A"/>
              </a:solidFill>
              <a:latin typeface="Segoe UI" panose="020B0502040204020203" pitchFamily="34" charset="0"/>
            </a:endParaRPr>
          </a:p>
        </p:txBody>
      </p:sp>
      <p:sp>
        <p:nvSpPr>
          <p:cNvPr id="21" name="TextBox 20">
            <a:extLst>
              <a:ext uri="{FF2B5EF4-FFF2-40B4-BE49-F238E27FC236}">
                <a16:creationId xmlns:a16="http://schemas.microsoft.com/office/drawing/2014/main" id="{1C9FAE6E-4CCD-8367-9C2D-5F0A99C5E911}"/>
              </a:ext>
            </a:extLst>
          </p:cNvPr>
          <p:cNvSpPr txBox="1"/>
          <p:nvPr/>
        </p:nvSpPr>
        <p:spPr>
          <a:xfrm>
            <a:off x="711200" y="4597400"/>
            <a:ext cx="3810000" cy="152400"/>
          </a:xfrm>
          <a:prstGeom prst="rect">
            <a:avLst/>
          </a:prstGeom>
          <a:noFill/>
        </p:spPr>
        <p:txBody>
          <a:bodyPr vert="horz" wrap="square" lIns="0" tIns="0" rIns="0" bIns="0" rtlCol="0" anchor="t">
            <a:noAutofit/>
          </a:bodyPr>
          <a:lstStyle/>
          <a:p>
            <a:r>
              <a:rPr lang="en-IN" sz="750" spc="110">
                <a:solidFill>
                  <a:srgbClr val="78849A"/>
                </a:solidFill>
                <a:latin typeface="Segoe UI Semibold" panose="020B0702040204020203" pitchFamily="34" charset="0"/>
              </a:rPr>
              <a:t>SUPABASE (LOCAL, DOCKER)</a:t>
            </a:r>
          </a:p>
        </p:txBody>
      </p:sp>
      <p:sp>
        <p:nvSpPr>
          <p:cNvPr id="22" name="Rectangle: Rounded Corners 21">
            <a:extLst>
              <a:ext uri="{FF2B5EF4-FFF2-40B4-BE49-F238E27FC236}">
                <a16:creationId xmlns:a16="http://schemas.microsoft.com/office/drawing/2014/main" id="{D445EDD3-4298-E90C-379C-23A9B0324E69}"/>
              </a:ext>
            </a:extLst>
          </p:cNvPr>
          <p:cNvSpPr/>
          <p:nvPr/>
        </p:nvSpPr>
        <p:spPr>
          <a:xfrm>
            <a:off x="711200" y="4775200"/>
            <a:ext cx="6197600" cy="1346200"/>
          </a:xfrm>
          <a:prstGeom prst="roundRect">
            <a:avLst>
              <a:gd name="adj" fmla="val 5660"/>
            </a:avLst>
          </a:prstGeom>
          <a:solidFill>
            <a:srgbClr val="0E1628"/>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42F5B143-7014-0E06-03D4-615E5CEED648}"/>
              </a:ext>
            </a:extLst>
          </p:cNvPr>
          <p:cNvSpPr/>
          <p:nvPr/>
        </p:nvSpPr>
        <p:spPr>
          <a:xfrm>
            <a:off x="838200" y="4902200"/>
            <a:ext cx="1397000" cy="457200"/>
          </a:xfrm>
          <a:prstGeom prst="roundRect">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Auth</a:t>
            </a:r>
          </a:p>
        </p:txBody>
      </p:sp>
      <p:sp>
        <p:nvSpPr>
          <p:cNvPr id="24" name="Rectangle: Rounded Corners 23">
            <a:extLst>
              <a:ext uri="{FF2B5EF4-FFF2-40B4-BE49-F238E27FC236}">
                <a16:creationId xmlns:a16="http://schemas.microsoft.com/office/drawing/2014/main" id="{AB290FDA-323C-8F11-EC1B-EBB21EB8A5A1}"/>
              </a:ext>
            </a:extLst>
          </p:cNvPr>
          <p:cNvSpPr/>
          <p:nvPr/>
        </p:nvSpPr>
        <p:spPr>
          <a:xfrm>
            <a:off x="2336800" y="4902200"/>
            <a:ext cx="1397000" cy="457200"/>
          </a:xfrm>
          <a:prstGeom prst="roundRect">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50">
                <a:solidFill>
                  <a:srgbClr val="F1F4F9"/>
                </a:solidFill>
                <a:latin typeface="Segoe UI" panose="020B0502040204020203" pitchFamily="34" charset="0"/>
              </a:rPr>
              <a:t>PostgREST</a:t>
            </a:r>
          </a:p>
        </p:txBody>
      </p:sp>
      <p:sp>
        <p:nvSpPr>
          <p:cNvPr id="25" name="Rectangle: Rounded Corners 24">
            <a:extLst>
              <a:ext uri="{FF2B5EF4-FFF2-40B4-BE49-F238E27FC236}">
                <a16:creationId xmlns:a16="http://schemas.microsoft.com/office/drawing/2014/main" id="{8988F2D3-3DD5-1D8D-E0EC-7D4DA19095F9}"/>
              </a:ext>
            </a:extLst>
          </p:cNvPr>
          <p:cNvSpPr/>
          <p:nvPr/>
        </p:nvSpPr>
        <p:spPr>
          <a:xfrm>
            <a:off x="3835400" y="4902200"/>
            <a:ext cx="2946400" cy="457200"/>
          </a:xfrm>
          <a:prstGeom prst="roundRect">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850">
                <a:solidFill>
                  <a:srgbClr val="F1F4F9"/>
                </a:solidFill>
                <a:latin typeface="Segoe UI" panose="020B0502040204020203" pitchFamily="34" charset="0"/>
              </a:rPr>
              <a:t>Vault (database copy of HMAC key)</a:t>
            </a:r>
            <a:endParaRPr lang="en-IN" sz="850">
              <a:solidFill>
                <a:srgbClr val="F1F4F9"/>
              </a:solidFill>
              <a:latin typeface="Segoe UI" panose="020B0502040204020203" pitchFamily="34" charset="0"/>
            </a:endParaRPr>
          </a:p>
        </p:txBody>
      </p:sp>
      <p:sp>
        <p:nvSpPr>
          <p:cNvPr id="26" name="Rectangle: Rounded Corners 25">
            <a:extLst>
              <a:ext uri="{FF2B5EF4-FFF2-40B4-BE49-F238E27FC236}">
                <a16:creationId xmlns:a16="http://schemas.microsoft.com/office/drawing/2014/main" id="{8E5EBE15-E285-CE10-BB8A-3E29B699AEC5}"/>
              </a:ext>
            </a:extLst>
          </p:cNvPr>
          <p:cNvSpPr/>
          <p:nvPr/>
        </p:nvSpPr>
        <p:spPr>
          <a:xfrm>
            <a:off x="838200" y="5461000"/>
            <a:ext cx="5943600" cy="533400"/>
          </a:xfrm>
          <a:prstGeom prst="roundRect">
            <a:avLst>
              <a:gd name="adj" fmla="val 14286"/>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850">
                <a:solidFill>
                  <a:srgbClr val="F1F4F9"/>
                </a:solidFill>
                <a:latin typeface="Segoe UI" panose="020B0502040204020203" pitchFamily="34" charset="0"/>
              </a:rPr>
              <a:t>PostgreSQL: RLS policies · SECURITY DEFINER functions (search_path = '') · lifecycle and immutability triggers · versioned migrations</a:t>
            </a:r>
            <a:endParaRPr lang="en-IN" sz="850">
              <a:solidFill>
                <a:srgbClr val="F1F4F9"/>
              </a:solidFill>
              <a:latin typeface="Segoe UI" panose="020B0502040204020203" pitchFamily="34" charset="0"/>
            </a:endParaRPr>
          </a:p>
        </p:txBody>
      </p:sp>
      <p:sp>
        <p:nvSpPr>
          <p:cNvPr id="27" name="Rectangle: Rounded Corners 26">
            <a:extLst>
              <a:ext uri="{FF2B5EF4-FFF2-40B4-BE49-F238E27FC236}">
                <a16:creationId xmlns:a16="http://schemas.microsoft.com/office/drawing/2014/main" id="{F22E6315-CD7A-D188-10B5-5EE67B4CB757}"/>
              </a:ext>
            </a:extLst>
          </p:cNvPr>
          <p:cNvSpPr/>
          <p:nvPr/>
        </p:nvSpPr>
        <p:spPr>
          <a:xfrm>
            <a:off x="7315200" y="1168400"/>
            <a:ext cx="4368800" cy="3810000"/>
          </a:xfrm>
          <a:prstGeom prst="roundRect">
            <a:avLst>
              <a:gd name="adj" fmla="val 2667"/>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4615AFEE-7C78-A05E-4430-891D729A54AF}"/>
              </a:ext>
            </a:extLst>
          </p:cNvPr>
          <p:cNvSpPr txBox="1"/>
          <p:nvPr/>
        </p:nvSpPr>
        <p:spPr>
          <a:xfrm>
            <a:off x="7518400" y="1320800"/>
            <a:ext cx="381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WHY THESE TECHNOLOGIES</a:t>
            </a:r>
          </a:p>
        </p:txBody>
      </p:sp>
      <p:sp>
        <p:nvSpPr>
          <p:cNvPr id="29" name="TextBox 28">
            <a:extLst>
              <a:ext uri="{FF2B5EF4-FFF2-40B4-BE49-F238E27FC236}">
                <a16:creationId xmlns:a16="http://schemas.microsoft.com/office/drawing/2014/main" id="{D417AB93-5632-C3AF-DF29-8EF8D2171D8B}"/>
              </a:ext>
            </a:extLst>
          </p:cNvPr>
          <p:cNvSpPr txBox="1"/>
          <p:nvPr/>
        </p:nvSpPr>
        <p:spPr>
          <a:xfrm>
            <a:off x="7518400" y="1549400"/>
            <a:ext cx="3987800" cy="3378200"/>
          </a:xfrm>
          <a:prstGeom prst="rect">
            <a:avLst/>
          </a:prstGeom>
          <a:noFill/>
        </p:spPr>
        <p:txBody>
          <a:bodyPr vert="horz" wrap="square" lIns="0" tIns="0" rIns="0" bIns="0" rtlCol="0">
            <a:noAutofit/>
          </a:bodyPr>
          <a:lstStyle/>
          <a:p>
            <a:pPr marL="139700" indent="-139700">
              <a:spcAft>
                <a:spcPts val="900"/>
              </a:spcAft>
              <a:buClr>
                <a:srgbClr val="8B9BFF"/>
              </a:buClr>
              <a:buSzPct val="90000"/>
              <a:buFont typeface="+mj-lt"/>
              <a:buChar char="▪"/>
            </a:pPr>
            <a:r>
              <a:rPr lang="en-US" sz="1000">
                <a:solidFill>
                  <a:srgbClr val="F1F4F9"/>
                </a:solidFill>
                <a:latin typeface="Segoe UI Semibold" panose="020B0702040204020203" pitchFamily="34" charset="0"/>
              </a:rPr>
              <a:t>Next.js + TypeScript.</a:t>
            </a:r>
            <a:r>
              <a:rPr lang="en-US" sz="1000">
                <a:solidFill>
                  <a:srgbClr val="B3BDCF"/>
                </a:solidFill>
                <a:latin typeface="Segoe UI" panose="020B0502040204020203" pitchFamily="34" charset="0"/>
              </a:rPr>
              <a:t>  One typed language for UI and server; Server Actions keep every mutation on the server.</a:t>
            </a:r>
          </a:p>
          <a:p>
            <a:pPr marL="139700" indent="-139700">
              <a:spcAft>
                <a:spcPts val="900"/>
              </a:spcAft>
              <a:buClr>
                <a:srgbClr val="8B9BFF"/>
              </a:buClr>
              <a:buSzPct val="90000"/>
              <a:buFont typeface="+mj-lt"/>
              <a:buChar char="▪"/>
            </a:pPr>
            <a:r>
              <a:rPr lang="en-US" sz="1000">
                <a:solidFill>
                  <a:srgbClr val="F1F4F9"/>
                </a:solidFill>
                <a:latin typeface="Segoe UI Semibold" panose="020B0702040204020203" pitchFamily="34" charset="0"/>
              </a:rPr>
              <a:t>Supabase / PostgreSQL.</a:t>
            </a:r>
            <a:r>
              <a:rPr lang="en-US" sz="1000">
                <a:solidFill>
                  <a:srgbClr val="B3BDCF"/>
                </a:solidFill>
                <a:latin typeface="Segoe UI" panose="020B0502040204020203" pitchFamily="34" charset="0"/>
              </a:rPr>
              <a:t>  Auth plus Row-Level Security enforce tenant isolation inside the database, not only in app code [14], [15].</a:t>
            </a:r>
          </a:p>
          <a:p>
            <a:pPr marL="139700" indent="-139700">
              <a:spcAft>
                <a:spcPts val="900"/>
              </a:spcAft>
              <a:buClr>
                <a:srgbClr val="8B9BFF"/>
              </a:buClr>
              <a:buSzPct val="90000"/>
              <a:buFont typeface="+mj-lt"/>
              <a:buChar char="▪"/>
            </a:pPr>
            <a:r>
              <a:rPr lang="en-US" sz="1000">
                <a:solidFill>
                  <a:srgbClr val="F1F4F9"/>
                </a:solidFill>
                <a:latin typeface="Segoe UI Semibold" panose="020B0702040204020203" pitchFamily="34" charset="0"/>
              </a:rPr>
              <a:t>Tree-sitter.</a:t>
            </a:r>
            <a:r>
              <a:rPr lang="en-US" sz="1000">
                <a:solidFill>
                  <a:srgbClr val="B3BDCF"/>
                </a:solidFill>
                <a:latin typeface="Segoe UI" panose="020B0502040204020203" pitchFamily="34" charset="0"/>
              </a:rPr>
              <a:t>  Robust parsers with official grammars for many languages; runs as WASM inside Node.js [13].</a:t>
            </a:r>
          </a:p>
          <a:p>
            <a:pPr marL="139700" indent="-139700">
              <a:spcAft>
                <a:spcPts val="900"/>
              </a:spcAft>
              <a:buClr>
                <a:srgbClr val="8B9BFF"/>
              </a:buClr>
              <a:buSzPct val="90000"/>
              <a:buFont typeface="+mj-lt"/>
              <a:buChar char="▪"/>
            </a:pPr>
            <a:r>
              <a:rPr lang="en-US" sz="1000">
                <a:solidFill>
                  <a:srgbClr val="F1F4F9"/>
                </a:solidFill>
                <a:latin typeface="Segoe UI Semibold" panose="020B0702040204020203" pitchFamily="34" charset="0"/>
              </a:rPr>
              <a:t>Zod.</a:t>
            </a:r>
            <a:r>
              <a:rPr lang="en-US" sz="1000">
                <a:solidFill>
                  <a:srgbClr val="B3BDCF"/>
                </a:solidFill>
                <a:latin typeface="Segoe UI" panose="020B0502040204020203" pitchFamily="34" charset="0"/>
              </a:rPr>
              <a:t>  Runtime validation of every input before it reaches the database.</a:t>
            </a:r>
          </a:p>
          <a:p>
            <a:pPr marL="139700" indent="-139700">
              <a:spcAft>
                <a:spcPts val="900"/>
              </a:spcAft>
              <a:buClr>
                <a:srgbClr val="8B9BFF"/>
              </a:buClr>
              <a:buSzPct val="90000"/>
              <a:buFont typeface="+mj-lt"/>
              <a:buChar char="▪"/>
            </a:pPr>
            <a:r>
              <a:rPr lang="en-US" sz="1000">
                <a:solidFill>
                  <a:srgbClr val="F1F4F9"/>
                </a:solidFill>
                <a:latin typeface="Segoe UI Semibold" panose="020B0702040204020203" pitchFamily="34" charset="0"/>
              </a:rPr>
              <a:t>Tailwind CSS 4.</a:t>
            </a:r>
            <a:r>
              <a:rPr lang="en-US" sz="1000">
                <a:solidFill>
                  <a:srgbClr val="B3BDCF"/>
                </a:solidFill>
                <a:latin typeface="Segoe UI" panose="020B0502040204020203" pitchFamily="34" charset="0"/>
              </a:rPr>
              <a:t>  Token-based design system shared by every screen.</a:t>
            </a:r>
            <a:endParaRPr lang="en-IN" sz="1000">
              <a:solidFill>
                <a:srgbClr val="B3BDCF"/>
              </a:solidFill>
              <a:latin typeface="Segoe UI" panose="020B0502040204020203" pitchFamily="34" charset="0"/>
            </a:endParaRPr>
          </a:p>
        </p:txBody>
      </p:sp>
      <p:sp>
        <p:nvSpPr>
          <p:cNvPr id="30" name="Rectangle: Rounded Corners 29">
            <a:extLst>
              <a:ext uri="{FF2B5EF4-FFF2-40B4-BE49-F238E27FC236}">
                <a16:creationId xmlns:a16="http://schemas.microsoft.com/office/drawing/2014/main" id="{BB0668A2-0751-2F93-ACFC-D66E96020423}"/>
              </a:ext>
            </a:extLst>
          </p:cNvPr>
          <p:cNvSpPr/>
          <p:nvPr/>
        </p:nvSpPr>
        <p:spPr>
          <a:xfrm>
            <a:off x="7315200" y="5105400"/>
            <a:ext cx="4368800" cy="1168400"/>
          </a:xfrm>
          <a:prstGeom prst="roundRect">
            <a:avLst>
              <a:gd name="adj" fmla="val 8696"/>
            </a:avLst>
          </a:prstGeom>
          <a:solidFill>
            <a:srgbClr val="141B2C"/>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01E3D1F5-C67F-0C05-E343-B43E4A3017ED}"/>
              </a:ext>
            </a:extLst>
          </p:cNvPr>
          <p:cNvSpPr txBox="1"/>
          <p:nvPr/>
        </p:nvSpPr>
        <p:spPr>
          <a:xfrm>
            <a:off x="7518400" y="5257800"/>
            <a:ext cx="3810000" cy="152400"/>
          </a:xfrm>
          <a:prstGeom prst="rect">
            <a:avLst/>
          </a:prstGeom>
          <a:noFill/>
        </p:spPr>
        <p:txBody>
          <a:bodyPr vert="horz" wrap="square" lIns="0" tIns="0" rIns="0" bIns="0" rtlCol="0" anchor="t">
            <a:noAutofit/>
          </a:bodyPr>
          <a:lstStyle/>
          <a:p>
            <a:r>
              <a:rPr lang="en-US" sz="750" spc="110">
                <a:solidFill>
                  <a:srgbClr val="8F99AD"/>
                </a:solidFill>
                <a:latin typeface="Segoe UI Semibold" panose="020B0702040204020203" pitchFamily="34" charset="0"/>
              </a:rPr>
              <a:t>NOT IN THE CURRENT BUILD</a:t>
            </a:r>
            <a:endParaRPr lang="en-IN" sz="750" spc="110">
              <a:solidFill>
                <a:srgbClr val="8F99AD"/>
              </a:solidFill>
              <a:latin typeface="Segoe UI Semibold" panose="020B0702040204020203" pitchFamily="34" charset="0"/>
            </a:endParaRPr>
          </a:p>
        </p:txBody>
      </p:sp>
      <p:sp>
        <p:nvSpPr>
          <p:cNvPr id="32" name="TextBox 31">
            <a:extLst>
              <a:ext uri="{FF2B5EF4-FFF2-40B4-BE49-F238E27FC236}">
                <a16:creationId xmlns:a16="http://schemas.microsoft.com/office/drawing/2014/main" id="{65911C62-F977-8473-6DC6-AF6F57F17872}"/>
              </a:ext>
            </a:extLst>
          </p:cNvPr>
          <p:cNvSpPr txBox="1"/>
          <p:nvPr/>
        </p:nvSpPr>
        <p:spPr>
          <a:xfrm>
            <a:off x="7518400" y="5461000"/>
            <a:ext cx="3987800" cy="736600"/>
          </a:xfrm>
          <a:prstGeom prst="rect">
            <a:avLst/>
          </a:prstGeom>
          <a:noFill/>
        </p:spPr>
        <p:txBody>
          <a:bodyPr vert="horz" wrap="square" lIns="0" tIns="0" rIns="0" bIns="0" rtlCol="0" anchor="t">
            <a:noAutofit/>
          </a:bodyPr>
          <a:lstStyle/>
          <a:p>
            <a:r>
              <a:rPr lang="en-US" sz="900">
                <a:solidFill>
                  <a:srgbClr val="B3BDCF"/>
                </a:solidFill>
                <a:latin typeface="Segoe UI" panose="020B0502040204020203" pitchFamily="34" charset="0"/>
              </a:rPr>
              <a:t>No LLM calls, embeddings, vector store, RAG pipeline or job queue yet. These belong to later phases and are not claimed here.</a:t>
            </a:r>
            <a:endParaRPr lang="en-IN" sz="900">
              <a:solidFill>
                <a:srgbClr val="B3BDCF"/>
              </a:solidFill>
              <a:latin typeface="Segoe UI" panose="020B0502040204020203" pitchFamily="34" charset="0"/>
            </a:endParaRPr>
          </a:p>
        </p:txBody>
      </p:sp>
    </p:spTree>
    <p:extLst>
      <p:ext uri="{BB962C8B-B14F-4D97-AF65-F5344CB8AC3E}">
        <p14:creationId xmlns:p14="http://schemas.microsoft.com/office/powerpoint/2010/main" val="1286965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E23A99-CB02-91C7-494A-115F2AC57A5B}"/>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14  ·  METHODOLOGY</a:t>
            </a:r>
          </a:p>
        </p:txBody>
      </p:sp>
      <p:sp>
        <p:nvSpPr>
          <p:cNvPr id="3" name="TextBox 2">
            <a:extLst>
              <a:ext uri="{FF2B5EF4-FFF2-40B4-BE49-F238E27FC236}">
                <a16:creationId xmlns:a16="http://schemas.microsoft.com/office/drawing/2014/main" id="{B67BFA15-A74E-510F-F855-CC4B625D2061}"/>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Repository Intelligence — Implementation</a:t>
            </a:r>
          </a:p>
        </p:txBody>
      </p:sp>
      <p:sp>
        <p:nvSpPr>
          <p:cNvPr id="4" name="TextBox 3">
            <a:extLst>
              <a:ext uri="{FF2B5EF4-FFF2-40B4-BE49-F238E27FC236}">
                <a16:creationId xmlns:a16="http://schemas.microsoft.com/office/drawing/2014/main" id="{02C5601E-DD43-442A-8F34-E2FEFFF0A718}"/>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From a recorded repository to signed, queryable code structure. No AI, embeddings or RAG in this phase.</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FC532682-1D2C-74B3-2721-F3660A05976F}"/>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107C11-FC98-632C-C252-0FBF6461045F}"/>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0D362672-8B46-74C8-9DF7-5F8C5F80E7B3}"/>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14 / 20</a:t>
            </a:r>
          </a:p>
        </p:txBody>
      </p:sp>
      <p:sp>
        <p:nvSpPr>
          <p:cNvPr id="8" name="Rectangle: Rounded Corners 7">
            <a:extLst>
              <a:ext uri="{FF2B5EF4-FFF2-40B4-BE49-F238E27FC236}">
                <a16:creationId xmlns:a16="http://schemas.microsoft.com/office/drawing/2014/main" id="{3766098F-0609-5227-BAFB-2C90546FA2BF}"/>
              </a:ext>
            </a:extLst>
          </p:cNvPr>
          <p:cNvSpPr/>
          <p:nvPr/>
        </p:nvSpPr>
        <p:spPr>
          <a:xfrm>
            <a:off x="508000" y="1320800"/>
            <a:ext cx="1727200" cy="635000"/>
          </a:xfrm>
          <a:prstGeom prst="roundRect">
            <a:avLst>
              <a:gd name="adj" fmla="val 12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1000">
                <a:solidFill>
                  <a:srgbClr val="F1F4F9"/>
                </a:solidFill>
                <a:latin typeface="Segoe UI Semibold" panose="020B0702040204020203" pitchFamily="34" charset="0"/>
              </a:rPr>
              <a:t>Repository</a:t>
            </a:r>
            <a:br>
              <a:rPr lang="en-IN" sz="750">
                <a:solidFill>
                  <a:srgbClr val="F1F4F9"/>
                </a:solidFill>
                <a:latin typeface="Segoe UI" panose="020B0502040204020203" pitchFamily="34" charset="0"/>
              </a:rPr>
            </a:br>
            <a:r>
              <a:rPr lang="en-IN" sz="750">
                <a:solidFill>
                  <a:srgbClr val="B3BDCF"/>
                </a:solidFill>
                <a:latin typeface="Segoe UI" panose="020B0502040204020203" pitchFamily="34" charset="0"/>
              </a:rPr>
              <a:t>record per project</a:t>
            </a:r>
          </a:p>
        </p:txBody>
      </p:sp>
      <p:sp>
        <p:nvSpPr>
          <p:cNvPr id="9" name="Rectangle: Rounded Corners 8">
            <a:extLst>
              <a:ext uri="{FF2B5EF4-FFF2-40B4-BE49-F238E27FC236}">
                <a16:creationId xmlns:a16="http://schemas.microsoft.com/office/drawing/2014/main" id="{82F309D9-FD04-4E83-B256-5516BE453865}"/>
              </a:ext>
            </a:extLst>
          </p:cNvPr>
          <p:cNvSpPr/>
          <p:nvPr/>
        </p:nvSpPr>
        <p:spPr>
          <a:xfrm>
            <a:off x="1625600" y="1231900"/>
            <a:ext cx="558800" cy="165100"/>
          </a:xfrm>
          <a:prstGeom prst="roundRect">
            <a:avLst>
              <a:gd name="adj" fmla="val 30769"/>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95000"/>
              </a:lnSpc>
            </a:pPr>
            <a:r>
              <a:rPr lang="en-IN" sz="650">
                <a:solidFill>
                  <a:srgbClr val="8B9BFF"/>
                </a:solidFill>
                <a:latin typeface="Segoe UI Semibold" panose="020B0702040204020203" pitchFamily="34" charset="0"/>
              </a:rPr>
              <a:t>Phase 2F</a:t>
            </a:r>
          </a:p>
        </p:txBody>
      </p:sp>
      <p:cxnSp>
        <p:nvCxnSpPr>
          <p:cNvPr id="10" name="Straight Connector 9">
            <a:extLst>
              <a:ext uri="{FF2B5EF4-FFF2-40B4-BE49-F238E27FC236}">
                <a16:creationId xmlns:a16="http://schemas.microsoft.com/office/drawing/2014/main" id="{2CABF252-5C64-B379-A691-7ECA13AB77A6}"/>
              </a:ext>
            </a:extLst>
          </p:cNvPr>
          <p:cNvCxnSpPr/>
          <p:nvPr/>
        </p:nvCxnSpPr>
        <p:spPr>
          <a:xfrm>
            <a:off x="2247900" y="1638300"/>
            <a:ext cx="165100" cy="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DF749B7C-EEB3-BEAD-D604-034C0B7F96C8}"/>
              </a:ext>
            </a:extLst>
          </p:cNvPr>
          <p:cNvSpPr/>
          <p:nvPr/>
        </p:nvSpPr>
        <p:spPr>
          <a:xfrm>
            <a:off x="2400300" y="1320800"/>
            <a:ext cx="1727200" cy="635000"/>
          </a:xfrm>
          <a:prstGeom prst="roundRect">
            <a:avLst>
              <a:gd name="adj" fmla="val 12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1000">
                <a:solidFill>
                  <a:srgbClr val="F1F4F9"/>
                </a:solidFill>
                <a:latin typeface="Segoe UI Semibold" panose="020B0702040204020203" pitchFamily="34" charset="0"/>
              </a:rPr>
              <a:t>Snapshot</a:t>
            </a:r>
            <a:br>
              <a:rPr lang="en-US" sz="750">
                <a:solidFill>
                  <a:srgbClr val="F1F4F9"/>
                </a:solidFill>
                <a:latin typeface="Segoe UI" panose="020B0502040204020203" pitchFamily="34" charset="0"/>
              </a:rPr>
            </a:br>
            <a:r>
              <a:rPr lang="en-US" sz="750">
                <a:solidFill>
                  <a:srgbClr val="B3BDCF"/>
                </a:solidFill>
                <a:latin typeface="Segoe UI" panose="020B0502040204020203" pitchFamily="34" charset="0"/>
              </a:rPr>
              <a:t>commit SHA, branch, status</a:t>
            </a:r>
            <a:endParaRPr lang="en-IN" sz="750">
              <a:solidFill>
                <a:srgbClr val="B3BDCF"/>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42592556-9D82-6E3B-8045-54A73F59E4DE}"/>
              </a:ext>
            </a:extLst>
          </p:cNvPr>
          <p:cNvSpPr/>
          <p:nvPr/>
        </p:nvSpPr>
        <p:spPr>
          <a:xfrm>
            <a:off x="3517900" y="1231900"/>
            <a:ext cx="558800" cy="165100"/>
          </a:xfrm>
          <a:prstGeom prst="roundRect">
            <a:avLst>
              <a:gd name="adj" fmla="val 30769"/>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95000"/>
              </a:lnSpc>
            </a:pPr>
            <a:r>
              <a:rPr lang="en-IN" sz="650">
                <a:solidFill>
                  <a:srgbClr val="8B9BFF"/>
                </a:solidFill>
                <a:latin typeface="Segoe UI Semibold" panose="020B0702040204020203" pitchFamily="34" charset="0"/>
              </a:rPr>
              <a:t>Phase 2G</a:t>
            </a:r>
          </a:p>
        </p:txBody>
      </p:sp>
      <p:cxnSp>
        <p:nvCxnSpPr>
          <p:cNvPr id="13" name="Straight Connector 12">
            <a:extLst>
              <a:ext uri="{FF2B5EF4-FFF2-40B4-BE49-F238E27FC236}">
                <a16:creationId xmlns:a16="http://schemas.microsoft.com/office/drawing/2014/main" id="{BF7A92D0-E72E-F016-8850-CB9064DC175E}"/>
              </a:ext>
            </a:extLst>
          </p:cNvPr>
          <p:cNvCxnSpPr/>
          <p:nvPr/>
        </p:nvCxnSpPr>
        <p:spPr>
          <a:xfrm>
            <a:off x="4140200" y="1638300"/>
            <a:ext cx="165100" cy="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74130706-2E09-67B6-46E7-AA2071DF9E52}"/>
              </a:ext>
            </a:extLst>
          </p:cNvPr>
          <p:cNvSpPr/>
          <p:nvPr/>
        </p:nvSpPr>
        <p:spPr>
          <a:xfrm>
            <a:off x="4292600" y="1320800"/>
            <a:ext cx="1727200" cy="635000"/>
          </a:xfrm>
          <a:prstGeom prst="roundRect">
            <a:avLst>
              <a:gd name="adj" fmla="val 12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1000">
                <a:solidFill>
                  <a:srgbClr val="F1F4F9"/>
                </a:solidFill>
                <a:latin typeface="Segoe UI Semibold" panose="020B0702040204020203" pitchFamily="34" charset="0"/>
              </a:rPr>
              <a:t>File manifest</a:t>
            </a:r>
            <a:br>
              <a:rPr lang="en-US" sz="750">
                <a:solidFill>
                  <a:srgbClr val="F1F4F9"/>
                </a:solidFill>
                <a:latin typeface="Segoe UI" panose="020B0502040204020203" pitchFamily="34" charset="0"/>
              </a:rPr>
            </a:br>
            <a:r>
              <a:rPr lang="en-US" sz="750">
                <a:solidFill>
                  <a:srgbClr val="B3BDCF"/>
                </a:solidFill>
                <a:latin typeface="Segoe UI" panose="020B0502040204020203" pitchFamily="34" charset="0"/>
              </a:rPr>
              <a:t>path, language, size, SHA-256</a:t>
            </a:r>
            <a:endParaRPr lang="en-IN" sz="750">
              <a:solidFill>
                <a:srgbClr val="B3BDCF"/>
              </a:solidFill>
              <a:latin typeface="Segoe UI" panose="020B0502040204020203" pitchFamily="34" charset="0"/>
            </a:endParaRPr>
          </a:p>
        </p:txBody>
      </p:sp>
      <p:sp>
        <p:nvSpPr>
          <p:cNvPr id="15" name="Rectangle: Rounded Corners 14">
            <a:extLst>
              <a:ext uri="{FF2B5EF4-FFF2-40B4-BE49-F238E27FC236}">
                <a16:creationId xmlns:a16="http://schemas.microsoft.com/office/drawing/2014/main" id="{FBED29EE-A519-2DB8-F971-4F42FF6386A6}"/>
              </a:ext>
            </a:extLst>
          </p:cNvPr>
          <p:cNvSpPr/>
          <p:nvPr/>
        </p:nvSpPr>
        <p:spPr>
          <a:xfrm>
            <a:off x="5410200" y="1231900"/>
            <a:ext cx="558800" cy="165100"/>
          </a:xfrm>
          <a:prstGeom prst="roundRect">
            <a:avLst>
              <a:gd name="adj" fmla="val 30769"/>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95000"/>
              </a:lnSpc>
            </a:pPr>
            <a:r>
              <a:rPr lang="en-IN" sz="650">
                <a:solidFill>
                  <a:srgbClr val="8B9BFF"/>
                </a:solidFill>
                <a:latin typeface="Segoe UI Semibold" panose="020B0702040204020203" pitchFamily="34" charset="0"/>
              </a:rPr>
              <a:t>Phase 2G</a:t>
            </a:r>
          </a:p>
        </p:txBody>
      </p:sp>
      <p:cxnSp>
        <p:nvCxnSpPr>
          <p:cNvPr id="16" name="Straight Connector 15">
            <a:extLst>
              <a:ext uri="{FF2B5EF4-FFF2-40B4-BE49-F238E27FC236}">
                <a16:creationId xmlns:a16="http://schemas.microsoft.com/office/drawing/2014/main" id="{CF809BC2-9190-2AB7-B484-059C8396F1B9}"/>
              </a:ext>
            </a:extLst>
          </p:cNvPr>
          <p:cNvCxnSpPr/>
          <p:nvPr/>
        </p:nvCxnSpPr>
        <p:spPr>
          <a:xfrm>
            <a:off x="6032500" y="1638300"/>
            <a:ext cx="165100" cy="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F938B7D7-FF92-9696-10CC-E576E6DFC0D8}"/>
              </a:ext>
            </a:extLst>
          </p:cNvPr>
          <p:cNvSpPr/>
          <p:nvPr/>
        </p:nvSpPr>
        <p:spPr>
          <a:xfrm>
            <a:off x="6184900" y="1320800"/>
            <a:ext cx="1727200" cy="635000"/>
          </a:xfrm>
          <a:prstGeom prst="roundRect">
            <a:avLst>
              <a:gd name="adj" fmla="val 12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1000">
                <a:solidFill>
                  <a:srgbClr val="F1F4F9"/>
                </a:solidFill>
                <a:latin typeface="Segoe UI Semibold" panose="020B0702040204020203" pitchFamily="34" charset="0"/>
              </a:rPr>
              <a:t>Structure analysis</a:t>
            </a:r>
            <a:br>
              <a:rPr lang="en-US" sz="750">
                <a:solidFill>
                  <a:srgbClr val="F1F4F9"/>
                </a:solidFill>
                <a:latin typeface="Segoe UI" panose="020B0502040204020203" pitchFamily="34" charset="0"/>
              </a:rPr>
            </a:br>
            <a:r>
              <a:rPr lang="en-US" sz="750">
                <a:solidFill>
                  <a:srgbClr val="B3BDCF"/>
                </a:solidFill>
                <a:latin typeface="Segoe UI" panose="020B0502040204020203" pitchFamily="34" charset="0"/>
              </a:rPr>
              <a:t>PENDING → PROCESSING → COMPLETED / FAILED</a:t>
            </a:r>
            <a:endParaRPr lang="en-IN" sz="750">
              <a:solidFill>
                <a:srgbClr val="B3BDCF"/>
              </a:solidFill>
              <a:latin typeface="Segoe UI" panose="020B0502040204020203" pitchFamily="34" charset="0"/>
            </a:endParaRPr>
          </a:p>
        </p:txBody>
      </p:sp>
      <p:sp>
        <p:nvSpPr>
          <p:cNvPr id="18" name="Rectangle: Rounded Corners 17">
            <a:extLst>
              <a:ext uri="{FF2B5EF4-FFF2-40B4-BE49-F238E27FC236}">
                <a16:creationId xmlns:a16="http://schemas.microsoft.com/office/drawing/2014/main" id="{1A3F1A02-3938-9D2D-8E4D-9A63456ECCC9}"/>
              </a:ext>
            </a:extLst>
          </p:cNvPr>
          <p:cNvSpPr/>
          <p:nvPr/>
        </p:nvSpPr>
        <p:spPr>
          <a:xfrm>
            <a:off x="7302500" y="1231900"/>
            <a:ext cx="558800" cy="165100"/>
          </a:xfrm>
          <a:prstGeom prst="roundRect">
            <a:avLst>
              <a:gd name="adj" fmla="val 30769"/>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95000"/>
              </a:lnSpc>
            </a:pPr>
            <a:r>
              <a:rPr lang="en-IN" sz="650">
                <a:solidFill>
                  <a:srgbClr val="8B9BFF"/>
                </a:solidFill>
                <a:latin typeface="Segoe UI Semibold" panose="020B0702040204020203" pitchFamily="34" charset="0"/>
              </a:rPr>
              <a:t>Phase 2H</a:t>
            </a:r>
          </a:p>
        </p:txBody>
      </p:sp>
      <p:cxnSp>
        <p:nvCxnSpPr>
          <p:cNvPr id="19" name="Straight Connector 18">
            <a:extLst>
              <a:ext uri="{FF2B5EF4-FFF2-40B4-BE49-F238E27FC236}">
                <a16:creationId xmlns:a16="http://schemas.microsoft.com/office/drawing/2014/main" id="{F73BDA8E-3A47-FC68-B8D6-677679C3B0A7}"/>
              </a:ext>
            </a:extLst>
          </p:cNvPr>
          <p:cNvCxnSpPr/>
          <p:nvPr/>
        </p:nvCxnSpPr>
        <p:spPr>
          <a:xfrm>
            <a:off x="7924800" y="1638300"/>
            <a:ext cx="165100" cy="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21A2DE65-A044-7FE3-5942-21F749871D5C}"/>
              </a:ext>
            </a:extLst>
          </p:cNvPr>
          <p:cNvSpPr/>
          <p:nvPr/>
        </p:nvSpPr>
        <p:spPr>
          <a:xfrm>
            <a:off x="8077200" y="1320800"/>
            <a:ext cx="1727200" cy="635000"/>
          </a:xfrm>
          <a:prstGeom prst="roundRect">
            <a:avLst>
              <a:gd name="adj" fmla="val 12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1000">
                <a:solidFill>
                  <a:srgbClr val="F1F4F9"/>
                </a:solidFill>
                <a:latin typeface="Segoe UI Semibold" panose="020B0702040204020203" pitchFamily="34" charset="0"/>
              </a:rPr>
              <a:t>Symbols</a:t>
            </a:r>
            <a:br>
              <a:rPr lang="en-US" sz="750">
                <a:solidFill>
                  <a:srgbClr val="F1F4F9"/>
                </a:solidFill>
                <a:latin typeface="Segoe UI" panose="020B0502040204020203" pitchFamily="34" charset="0"/>
              </a:rPr>
            </a:br>
            <a:r>
              <a:rPr lang="en-US" sz="750">
                <a:solidFill>
                  <a:srgbClr val="B3BDCF"/>
                </a:solidFill>
                <a:latin typeface="Segoe UI" panose="020B0502040204020203" pitchFamily="34" charset="0"/>
              </a:rPr>
              <a:t>10 kinds: class, method, function…</a:t>
            </a:r>
            <a:endParaRPr lang="en-IN" sz="750">
              <a:solidFill>
                <a:srgbClr val="B3BDCF"/>
              </a:solidFill>
              <a:latin typeface="Segoe UI" panose="020B0502040204020203" pitchFamily="34" charset="0"/>
            </a:endParaRPr>
          </a:p>
        </p:txBody>
      </p:sp>
      <p:sp>
        <p:nvSpPr>
          <p:cNvPr id="21" name="Rectangle: Rounded Corners 20">
            <a:extLst>
              <a:ext uri="{FF2B5EF4-FFF2-40B4-BE49-F238E27FC236}">
                <a16:creationId xmlns:a16="http://schemas.microsoft.com/office/drawing/2014/main" id="{9A46345B-0C0D-076E-CD96-9E0BA6661F86}"/>
              </a:ext>
            </a:extLst>
          </p:cNvPr>
          <p:cNvSpPr/>
          <p:nvPr/>
        </p:nvSpPr>
        <p:spPr>
          <a:xfrm>
            <a:off x="9194800" y="1231900"/>
            <a:ext cx="558800" cy="165100"/>
          </a:xfrm>
          <a:prstGeom prst="roundRect">
            <a:avLst>
              <a:gd name="adj" fmla="val 30769"/>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95000"/>
              </a:lnSpc>
            </a:pPr>
            <a:r>
              <a:rPr lang="en-IN" sz="650">
                <a:solidFill>
                  <a:srgbClr val="8B9BFF"/>
                </a:solidFill>
                <a:latin typeface="Segoe UI Semibold" panose="020B0702040204020203" pitchFamily="34" charset="0"/>
              </a:rPr>
              <a:t>Phase 2H</a:t>
            </a:r>
          </a:p>
        </p:txBody>
      </p:sp>
      <p:cxnSp>
        <p:nvCxnSpPr>
          <p:cNvPr id="22" name="Straight Connector 21">
            <a:extLst>
              <a:ext uri="{FF2B5EF4-FFF2-40B4-BE49-F238E27FC236}">
                <a16:creationId xmlns:a16="http://schemas.microsoft.com/office/drawing/2014/main" id="{6071F28F-EE13-A21F-BACA-E817D82DE64E}"/>
              </a:ext>
            </a:extLst>
          </p:cNvPr>
          <p:cNvCxnSpPr/>
          <p:nvPr/>
        </p:nvCxnSpPr>
        <p:spPr>
          <a:xfrm>
            <a:off x="9817100" y="1638300"/>
            <a:ext cx="165100" cy="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25E460EE-A61D-61DD-0FF9-A792CF81D17C}"/>
              </a:ext>
            </a:extLst>
          </p:cNvPr>
          <p:cNvSpPr/>
          <p:nvPr/>
        </p:nvSpPr>
        <p:spPr>
          <a:xfrm>
            <a:off x="9969500" y="1320800"/>
            <a:ext cx="1727200" cy="635000"/>
          </a:xfrm>
          <a:prstGeom prst="roundRect">
            <a:avLst>
              <a:gd name="adj" fmla="val 12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1000">
                <a:solidFill>
                  <a:srgbClr val="F1F4F9"/>
                </a:solidFill>
                <a:latin typeface="Segoe UI Semibold" panose="020B0702040204020203" pitchFamily="34" charset="0"/>
              </a:rPr>
              <a:t>Relationships</a:t>
            </a:r>
            <a:br>
              <a:rPr lang="en-IN" sz="750">
                <a:solidFill>
                  <a:srgbClr val="F1F4F9"/>
                </a:solidFill>
                <a:latin typeface="Segoe UI" panose="020B0502040204020203" pitchFamily="34" charset="0"/>
              </a:rPr>
            </a:br>
            <a:r>
              <a:rPr lang="en-IN" sz="750">
                <a:solidFill>
                  <a:srgbClr val="B3BDCF"/>
                </a:solidFill>
                <a:latin typeface="Segoe UI" panose="020B0502040204020203" pitchFamily="34" charset="0"/>
              </a:rPr>
              <a:t>contains, imports, extends, implements</a:t>
            </a:r>
          </a:p>
        </p:txBody>
      </p:sp>
      <p:sp>
        <p:nvSpPr>
          <p:cNvPr id="24" name="Rectangle: Rounded Corners 23">
            <a:extLst>
              <a:ext uri="{FF2B5EF4-FFF2-40B4-BE49-F238E27FC236}">
                <a16:creationId xmlns:a16="http://schemas.microsoft.com/office/drawing/2014/main" id="{3928950D-BF8E-83FD-C9BE-C6542F77C573}"/>
              </a:ext>
            </a:extLst>
          </p:cNvPr>
          <p:cNvSpPr/>
          <p:nvPr/>
        </p:nvSpPr>
        <p:spPr>
          <a:xfrm>
            <a:off x="11087100" y="1231900"/>
            <a:ext cx="558800" cy="165100"/>
          </a:xfrm>
          <a:prstGeom prst="roundRect">
            <a:avLst>
              <a:gd name="adj" fmla="val 30769"/>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95000"/>
              </a:lnSpc>
            </a:pPr>
            <a:r>
              <a:rPr lang="en-IN" sz="650">
                <a:solidFill>
                  <a:srgbClr val="8B9BFF"/>
                </a:solidFill>
                <a:latin typeface="Segoe UI Semibold" panose="020B0702040204020203" pitchFamily="34" charset="0"/>
              </a:rPr>
              <a:t>Phase 2H</a:t>
            </a:r>
          </a:p>
        </p:txBody>
      </p:sp>
      <p:sp>
        <p:nvSpPr>
          <p:cNvPr id="25" name="Rectangle: Rounded Corners 24">
            <a:extLst>
              <a:ext uri="{FF2B5EF4-FFF2-40B4-BE49-F238E27FC236}">
                <a16:creationId xmlns:a16="http://schemas.microsoft.com/office/drawing/2014/main" id="{FA43B148-717E-2184-B304-42DC5EEA068E}"/>
              </a:ext>
            </a:extLst>
          </p:cNvPr>
          <p:cNvSpPr/>
          <p:nvPr/>
        </p:nvSpPr>
        <p:spPr>
          <a:xfrm>
            <a:off x="508000" y="2133600"/>
            <a:ext cx="7493000" cy="4140200"/>
          </a:xfrm>
          <a:prstGeom prst="roundRect">
            <a:avLst>
              <a:gd name="adj" fmla="val 2454"/>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9C9C9718-C23A-AF9D-B0AA-C18DC2D2F538}"/>
              </a:ext>
            </a:extLst>
          </p:cNvPr>
          <p:cNvSpPr txBox="1"/>
          <p:nvPr/>
        </p:nvSpPr>
        <p:spPr>
          <a:xfrm>
            <a:off x="711200" y="2286000"/>
            <a:ext cx="508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PER-FILE DECISION LOGIC (ANALYZER)</a:t>
            </a:r>
          </a:p>
        </p:txBody>
      </p:sp>
      <p:sp>
        <p:nvSpPr>
          <p:cNvPr id="27" name="Rectangle: Rounded Corners 26">
            <a:extLst>
              <a:ext uri="{FF2B5EF4-FFF2-40B4-BE49-F238E27FC236}">
                <a16:creationId xmlns:a16="http://schemas.microsoft.com/office/drawing/2014/main" id="{D860742C-5114-3B28-C52F-F0B571609328}"/>
              </a:ext>
            </a:extLst>
          </p:cNvPr>
          <p:cNvSpPr/>
          <p:nvPr/>
        </p:nvSpPr>
        <p:spPr>
          <a:xfrm>
            <a:off x="660400" y="2819400"/>
            <a:ext cx="838200" cy="457200"/>
          </a:xfrm>
          <a:prstGeom prst="roundRect">
            <a:avLst/>
          </a:prstGeom>
          <a:solidFill>
            <a:srgbClr val="1C2945"/>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800">
                <a:solidFill>
                  <a:srgbClr val="F1F4F9"/>
                </a:solidFill>
                <a:latin typeface="Segoe UI" panose="020B0502040204020203" pitchFamily="34" charset="0"/>
              </a:rPr>
              <a:t>Next file in</a:t>
            </a:r>
            <a:br>
              <a:rPr lang="en-IN" sz="800">
                <a:solidFill>
                  <a:srgbClr val="F1F4F9"/>
                </a:solidFill>
                <a:latin typeface="Segoe UI" panose="020B0502040204020203" pitchFamily="34" charset="0"/>
              </a:rPr>
            </a:br>
            <a:r>
              <a:rPr lang="en-IN" sz="800">
                <a:solidFill>
                  <a:srgbClr val="F1F4F9"/>
                </a:solidFill>
                <a:latin typeface="Segoe UI" panose="020B0502040204020203" pitchFamily="34" charset="0"/>
              </a:rPr>
              <a:t>manifest</a:t>
            </a:r>
          </a:p>
        </p:txBody>
      </p:sp>
      <p:cxnSp>
        <p:nvCxnSpPr>
          <p:cNvPr id="28" name="Straight Connector 27">
            <a:extLst>
              <a:ext uri="{FF2B5EF4-FFF2-40B4-BE49-F238E27FC236}">
                <a16:creationId xmlns:a16="http://schemas.microsoft.com/office/drawing/2014/main" id="{058D233A-CE6B-3D2A-699E-3DB47187D9AB}"/>
              </a:ext>
            </a:extLst>
          </p:cNvPr>
          <p:cNvCxnSpPr/>
          <p:nvPr/>
        </p:nvCxnSpPr>
        <p:spPr>
          <a:xfrm>
            <a:off x="1498600" y="3048000"/>
            <a:ext cx="177800" cy="0"/>
          </a:xfrm>
          <a:prstGeom prst="line">
            <a:avLst/>
          </a:prstGeom>
          <a:ln w="15875">
            <a:solidFill>
              <a:srgbClr val="35445F"/>
            </a:solidFill>
            <a:tailEnd type="triangle" w="sm" len="sm"/>
          </a:ln>
        </p:spPr>
        <p:style>
          <a:lnRef idx="1">
            <a:schemeClr val="accent1"/>
          </a:lnRef>
          <a:fillRef idx="0">
            <a:schemeClr val="accent1"/>
          </a:fillRef>
          <a:effectRef idx="0">
            <a:schemeClr val="accent1"/>
          </a:effectRef>
          <a:fontRef idx="minor">
            <a:schemeClr val="tx1"/>
          </a:fontRef>
        </p:style>
      </p:cxnSp>
      <p:sp>
        <p:nvSpPr>
          <p:cNvPr id="29" name="Diamond 28">
            <a:extLst>
              <a:ext uri="{FF2B5EF4-FFF2-40B4-BE49-F238E27FC236}">
                <a16:creationId xmlns:a16="http://schemas.microsoft.com/office/drawing/2014/main" id="{82745CCA-FA13-68E5-7165-2E425082D500}"/>
              </a:ext>
            </a:extLst>
          </p:cNvPr>
          <p:cNvSpPr/>
          <p:nvPr/>
        </p:nvSpPr>
        <p:spPr>
          <a:xfrm>
            <a:off x="1676400" y="2717800"/>
            <a:ext cx="1092200" cy="660400"/>
          </a:xfrm>
          <a:prstGeom prst="diamond">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IN" sz="750">
                <a:solidFill>
                  <a:srgbClr val="F1F4F9"/>
                </a:solidFill>
                <a:latin typeface="Segoe UI" panose="020B0502040204020203" pitchFamily="34" charset="0"/>
              </a:rPr>
              <a:t>Parser for</a:t>
            </a:r>
            <a:br>
              <a:rPr lang="en-IN" sz="750">
                <a:solidFill>
                  <a:srgbClr val="F1F4F9"/>
                </a:solidFill>
                <a:latin typeface="Segoe UI" panose="020B0502040204020203" pitchFamily="34" charset="0"/>
              </a:rPr>
            </a:br>
            <a:r>
              <a:rPr lang="en-IN" sz="750">
                <a:solidFill>
                  <a:srgbClr val="F1F4F9"/>
                </a:solidFill>
                <a:latin typeface="Segoe UI" panose="020B0502040204020203" pitchFamily="34" charset="0"/>
              </a:rPr>
              <a:t>language?</a:t>
            </a:r>
          </a:p>
        </p:txBody>
      </p:sp>
      <p:cxnSp>
        <p:nvCxnSpPr>
          <p:cNvPr id="30" name="Straight Connector 29">
            <a:extLst>
              <a:ext uri="{FF2B5EF4-FFF2-40B4-BE49-F238E27FC236}">
                <a16:creationId xmlns:a16="http://schemas.microsoft.com/office/drawing/2014/main" id="{07A03C52-1884-8A49-D3EB-98F235BD5B8D}"/>
              </a:ext>
            </a:extLst>
          </p:cNvPr>
          <p:cNvCxnSpPr/>
          <p:nvPr/>
        </p:nvCxnSpPr>
        <p:spPr>
          <a:xfrm>
            <a:off x="2768600" y="3048000"/>
            <a:ext cx="177800" cy="0"/>
          </a:xfrm>
          <a:prstGeom prst="line">
            <a:avLst/>
          </a:prstGeom>
          <a:ln w="15875">
            <a:solidFill>
              <a:srgbClr val="3CCF8E"/>
            </a:solidFill>
            <a:tailEnd type="triangle" w="sm" len="sm"/>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3760C3F-D732-F86B-284A-986F7F3C6C1F}"/>
              </a:ext>
            </a:extLst>
          </p:cNvPr>
          <p:cNvSpPr txBox="1"/>
          <p:nvPr/>
        </p:nvSpPr>
        <p:spPr>
          <a:xfrm>
            <a:off x="2768600" y="2870200"/>
            <a:ext cx="177800" cy="127000"/>
          </a:xfrm>
          <a:prstGeom prst="rect">
            <a:avLst/>
          </a:prstGeom>
          <a:noFill/>
        </p:spPr>
        <p:txBody>
          <a:bodyPr vert="horz" wrap="square" lIns="0" tIns="0" rIns="0" bIns="0" rtlCol="0" anchor="t">
            <a:noAutofit/>
          </a:bodyPr>
          <a:lstStyle/>
          <a:p>
            <a:r>
              <a:rPr lang="en-IN" sz="650">
                <a:solidFill>
                  <a:srgbClr val="3CCF8E"/>
                </a:solidFill>
                <a:latin typeface="Segoe UI" panose="020B0502040204020203" pitchFamily="34" charset="0"/>
              </a:rPr>
              <a:t>yes</a:t>
            </a:r>
          </a:p>
        </p:txBody>
      </p:sp>
      <p:cxnSp>
        <p:nvCxnSpPr>
          <p:cNvPr id="32" name="Straight Connector 31">
            <a:extLst>
              <a:ext uri="{FF2B5EF4-FFF2-40B4-BE49-F238E27FC236}">
                <a16:creationId xmlns:a16="http://schemas.microsoft.com/office/drawing/2014/main" id="{AC7A3401-E79A-0F55-1CA3-B859D3A1DFC9}"/>
              </a:ext>
            </a:extLst>
          </p:cNvPr>
          <p:cNvCxnSpPr/>
          <p:nvPr/>
        </p:nvCxnSpPr>
        <p:spPr>
          <a:xfrm>
            <a:off x="2222500" y="3378200"/>
            <a:ext cx="0" cy="228600"/>
          </a:xfrm>
          <a:prstGeom prst="line">
            <a:avLst/>
          </a:prstGeom>
          <a:ln w="12700">
            <a:solidFill>
              <a:srgbClr val="F06A6F"/>
            </a:solidFill>
            <a:tailEnd type="triangle" w="sm" len="s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27F8B87-77CA-6579-BB95-5079643CF54A}"/>
              </a:ext>
            </a:extLst>
          </p:cNvPr>
          <p:cNvSpPr txBox="1"/>
          <p:nvPr/>
        </p:nvSpPr>
        <p:spPr>
          <a:xfrm>
            <a:off x="2260600" y="3403600"/>
            <a:ext cx="254000" cy="127000"/>
          </a:xfrm>
          <a:prstGeom prst="rect">
            <a:avLst/>
          </a:prstGeom>
          <a:noFill/>
        </p:spPr>
        <p:txBody>
          <a:bodyPr vert="horz" wrap="square" lIns="0" tIns="0" rIns="0" bIns="0" rtlCol="0" anchor="t">
            <a:noAutofit/>
          </a:bodyPr>
          <a:lstStyle/>
          <a:p>
            <a:r>
              <a:rPr lang="en-IN" sz="650">
                <a:solidFill>
                  <a:srgbClr val="F06A6F"/>
                </a:solidFill>
                <a:latin typeface="Segoe UI" panose="020B0502040204020203" pitchFamily="34" charset="0"/>
              </a:rPr>
              <a:t>no</a:t>
            </a:r>
          </a:p>
        </p:txBody>
      </p:sp>
      <p:sp>
        <p:nvSpPr>
          <p:cNvPr id="34" name="Rectangle: Rounded Corners 33">
            <a:extLst>
              <a:ext uri="{FF2B5EF4-FFF2-40B4-BE49-F238E27FC236}">
                <a16:creationId xmlns:a16="http://schemas.microsoft.com/office/drawing/2014/main" id="{B3623CB5-992E-FFC9-58D8-E144517F5687}"/>
              </a:ext>
            </a:extLst>
          </p:cNvPr>
          <p:cNvSpPr/>
          <p:nvPr/>
        </p:nvSpPr>
        <p:spPr>
          <a:xfrm>
            <a:off x="1714500" y="3632200"/>
            <a:ext cx="1016000" cy="254000"/>
          </a:xfrm>
          <a:prstGeom prst="roundRect">
            <a:avLst>
              <a:gd name="adj" fmla="val 30000"/>
            </a:avLst>
          </a:prstGeom>
          <a:solidFill>
            <a:srgbClr val="33161A"/>
          </a:solidFill>
          <a:ln w="9525">
            <a:solidFill>
              <a:srgbClr val="7A3438"/>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F06A6F"/>
                </a:solidFill>
                <a:latin typeface="Segoe UI" panose="020B0502040204020203" pitchFamily="34" charset="0"/>
              </a:rPr>
              <a:t>Unsupported</a:t>
            </a:r>
          </a:p>
        </p:txBody>
      </p:sp>
      <p:sp>
        <p:nvSpPr>
          <p:cNvPr id="35" name="Diamond 34">
            <a:extLst>
              <a:ext uri="{FF2B5EF4-FFF2-40B4-BE49-F238E27FC236}">
                <a16:creationId xmlns:a16="http://schemas.microsoft.com/office/drawing/2014/main" id="{C5F02BC7-B531-A103-3E7F-AFFAFB59D193}"/>
              </a:ext>
            </a:extLst>
          </p:cNvPr>
          <p:cNvSpPr/>
          <p:nvPr/>
        </p:nvSpPr>
        <p:spPr>
          <a:xfrm>
            <a:off x="2946400" y="2717800"/>
            <a:ext cx="1092200" cy="660400"/>
          </a:xfrm>
          <a:prstGeom prst="diamond">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IN" sz="750">
                <a:solidFill>
                  <a:srgbClr val="F1F4F9"/>
                </a:solidFill>
                <a:latin typeface="Segoe UI" panose="020B0502040204020203" pitchFamily="34" charset="0"/>
              </a:rPr>
              <a:t>Size</a:t>
            </a:r>
            <a:br>
              <a:rPr lang="en-IN" sz="750">
                <a:solidFill>
                  <a:srgbClr val="F1F4F9"/>
                </a:solidFill>
                <a:latin typeface="Segoe UI" panose="020B0502040204020203" pitchFamily="34" charset="0"/>
              </a:rPr>
            </a:br>
            <a:r>
              <a:rPr lang="en-IN" sz="750">
                <a:solidFill>
                  <a:srgbClr val="F1F4F9"/>
                </a:solidFill>
                <a:latin typeface="Segoe UI" panose="020B0502040204020203" pitchFamily="34" charset="0"/>
              </a:rPr>
              <a:t>≤ 1 MB?</a:t>
            </a:r>
          </a:p>
        </p:txBody>
      </p:sp>
      <p:cxnSp>
        <p:nvCxnSpPr>
          <p:cNvPr id="36" name="Straight Connector 35">
            <a:extLst>
              <a:ext uri="{FF2B5EF4-FFF2-40B4-BE49-F238E27FC236}">
                <a16:creationId xmlns:a16="http://schemas.microsoft.com/office/drawing/2014/main" id="{1BB6C86C-F573-9C68-E9F6-D3A916DF74D2}"/>
              </a:ext>
            </a:extLst>
          </p:cNvPr>
          <p:cNvCxnSpPr/>
          <p:nvPr/>
        </p:nvCxnSpPr>
        <p:spPr>
          <a:xfrm>
            <a:off x="4038600" y="3048000"/>
            <a:ext cx="177800" cy="0"/>
          </a:xfrm>
          <a:prstGeom prst="line">
            <a:avLst/>
          </a:prstGeom>
          <a:ln w="15875">
            <a:solidFill>
              <a:srgbClr val="3CCF8E"/>
            </a:solidFill>
            <a:tailEnd type="triangle" w="sm" len="sm"/>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317715EF-7BBC-CC8B-9637-F9C0C07BF782}"/>
              </a:ext>
            </a:extLst>
          </p:cNvPr>
          <p:cNvSpPr txBox="1"/>
          <p:nvPr/>
        </p:nvSpPr>
        <p:spPr>
          <a:xfrm>
            <a:off x="4038600" y="2870200"/>
            <a:ext cx="177800" cy="127000"/>
          </a:xfrm>
          <a:prstGeom prst="rect">
            <a:avLst/>
          </a:prstGeom>
          <a:noFill/>
        </p:spPr>
        <p:txBody>
          <a:bodyPr vert="horz" wrap="square" lIns="0" tIns="0" rIns="0" bIns="0" rtlCol="0" anchor="t">
            <a:noAutofit/>
          </a:bodyPr>
          <a:lstStyle/>
          <a:p>
            <a:r>
              <a:rPr lang="en-IN" sz="650">
                <a:solidFill>
                  <a:srgbClr val="3CCF8E"/>
                </a:solidFill>
                <a:latin typeface="Segoe UI" panose="020B0502040204020203" pitchFamily="34" charset="0"/>
              </a:rPr>
              <a:t>yes</a:t>
            </a:r>
          </a:p>
        </p:txBody>
      </p:sp>
      <p:cxnSp>
        <p:nvCxnSpPr>
          <p:cNvPr id="38" name="Straight Connector 37">
            <a:extLst>
              <a:ext uri="{FF2B5EF4-FFF2-40B4-BE49-F238E27FC236}">
                <a16:creationId xmlns:a16="http://schemas.microsoft.com/office/drawing/2014/main" id="{2862C504-C7C4-E781-F86A-A2BDD24786D2}"/>
              </a:ext>
            </a:extLst>
          </p:cNvPr>
          <p:cNvCxnSpPr/>
          <p:nvPr/>
        </p:nvCxnSpPr>
        <p:spPr>
          <a:xfrm>
            <a:off x="3492500" y="3378200"/>
            <a:ext cx="0" cy="228600"/>
          </a:xfrm>
          <a:prstGeom prst="line">
            <a:avLst/>
          </a:prstGeom>
          <a:ln w="12700">
            <a:solidFill>
              <a:srgbClr val="F06A6F"/>
            </a:solidFill>
            <a:tailEnd type="triangle" w="sm" len="s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9D0882D-0BFC-0705-1176-FD5D4860C2C3}"/>
              </a:ext>
            </a:extLst>
          </p:cNvPr>
          <p:cNvSpPr txBox="1"/>
          <p:nvPr/>
        </p:nvSpPr>
        <p:spPr>
          <a:xfrm>
            <a:off x="3530600" y="3403600"/>
            <a:ext cx="254000" cy="127000"/>
          </a:xfrm>
          <a:prstGeom prst="rect">
            <a:avLst/>
          </a:prstGeom>
          <a:noFill/>
        </p:spPr>
        <p:txBody>
          <a:bodyPr vert="horz" wrap="square" lIns="0" tIns="0" rIns="0" bIns="0" rtlCol="0" anchor="t">
            <a:noAutofit/>
          </a:bodyPr>
          <a:lstStyle/>
          <a:p>
            <a:r>
              <a:rPr lang="en-IN" sz="650">
                <a:solidFill>
                  <a:srgbClr val="F06A6F"/>
                </a:solidFill>
                <a:latin typeface="Segoe UI" panose="020B0502040204020203" pitchFamily="34" charset="0"/>
              </a:rPr>
              <a:t>no</a:t>
            </a:r>
          </a:p>
        </p:txBody>
      </p:sp>
      <p:sp>
        <p:nvSpPr>
          <p:cNvPr id="40" name="Rectangle: Rounded Corners 39">
            <a:extLst>
              <a:ext uri="{FF2B5EF4-FFF2-40B4-BE49-F238E27FC236}">
                <a16:creationId xmlns:a16="http://schemas.microsoft.com/office/drawing/2014/main" id="{E3E7DF65-B072-D349-B73E-A321E2A74CF2}"/>
              </a:ext>
            </a:extLst>
          </p:cNvPr>
          <p:cNvSpPr/>
          <p:nvPr/>
        </p:nvSpPr>
        <p:spPr>
          <a:xfrm>
            <a:off x="2984500" y="3632200"/>
            <a:ext cx="1016000" cy="254000"/>
          </a:xfrm>
          <a:prstGeom prst="roundRect">
            <a:avLst>
              <a:gd name="adj" fmla="val 30000"/>
            </a:avLst>
          </a:prstGeom>
          <a:solidFill>
            <a:srgbClr val="33161A"/>
          </a:solidFill>
          <a:ln w="9525">
            <a:solidFill>
              <a:srgbClr val="7A3438"/>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F06A6F"/>
                </a:solidFill>
                <a:latin typeface="Segoe UI" panose="020B0502040204020203" pitchFamily="34" charset="0"/>
              </a:rPr>
              <a:t>Failed</a:t>
            </a:r>
          </a:p>
        </p:txBody>
      </p:sp>
      <p:sp>
        <p:nvSpPr>
          <p:cNvPr id="41" name="Diamond 40">
            <a:extLst>
              <a:ext uri="{FF2B5EF4-FFF2-40B4-BE49-F238E27FC236}">
                <a16:creationId xmlns:a16="http://schemas.microsoft.com/office/drawing/2014/main" id="{7233685D-24C3-1CE0-9A13-A3783FFDCA62}"/>
              </a:ext>
            </a:extLst>
          </p:cNvPr>
          <p:cNvSpPr/>
          <p:nvPr/>
        </p:nvSpPr>
        <p:spPr>
          <a:xfrm>
            <a:off x="4216400" y="2717800"/>
            <a:ext cx="1092200" cy="660400"/>
          </a:xfrm>
          <a:prstGeom prst="diamond">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IN" sz="750">
                <a:solidFill>
                  <a:srgbClr val="F1F4F9"/>
                </a:solidFill>
                <a:latin typeface="Segoe UI" panose="020B0502040204020203" pitchFamily="34" charset="0"/>
              </a:rPr>
              <a:t>SHA-256 =</a:t>
            </a:r>
            <a:br>
              <a:rPr lang="en-IN" sz="750">
                <a:solidFill>
                  <a:srgbClr val="F1F4F9"/>
                </a:solidFill>
                <a:latin typeface="Segoe UI" panose="020B0502040204020203" pitchFamily="34" charset="0"/>
              </a:rPr>
            </a:br>
            <a:r>
              <a:rPr lang="en-IN" sz="750">
                <a:solidFill>
                  <a:srgbClr val="F1F4F9"/>
                </a:solidFill>
                <a:latin typeface="Segoe UI" panose="020B0502040204020203" pitchFamily="34" charset="0"/>
              </a:rPr>
              <a:t>manifest?</a:t>
            </a:r>
          </a:p>
        </p:txBody>
      </p:sp>
      <p:cxnSp>
        <p:nvCxnSpPr>
          <p:cNvPr id="42" name="Straight Connector 41">
            <a:extLst>
              <a:ext uri="{FF2B5EF4-FFF2-40B4-BE49-F238E27FC236}">
                <a16:creationId xmlns:a16="http://schemas.microsoft.com/office/drawing/2014/main" id="{A68F74E2-7FBE-BB2E-0DBB-55D1074C4CFC}"/>
              </a:ext>
            </a:extLst>
          </p:cNvPr>
          <p:cNvCxnSpPr/>
          <p:nvPr/>
        </p:nvCxnSpPr>
        <p:spPr>
          <a:xfrm>
            <a:off x="5308600" y="3048000"/>
            <a:ext cx="177800" cy="0"/>
          </a:xfrm>
          <a:prstGeom prst="line">
            <a:avLst/>
          </a:prstGeom>
          <a:ln w="15875">
            <a:solidFill>
              <a:srgbClr val="3CCF8E"/>
            </a:solidFill>
            <a:tailEnd type="triangle" w="sm" len="sm"/>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076C569-B96C-FEDE-8479-27F572011ADE}"/>
              </a:ext>
            </a:extLst>
          </p:cNvPr>
          <p:cNvSpPr txBox="1"/>
          <p:nvPr/>
        </p:nvSpPr>
        <p:spPr>
          <a:xfrm>
            <a:off x="5308600" y="2870200"/>
            <a:ext cx="177800" cy="127000"/>
          </a:xfrm>
          <a:prstGeom prst="rect">
            <a:avLst/>
          </a:prstGeom>
          <a:noFill/>
        </p:spPr>
        <p:txBody>
          <a:bodyPr vert="horz" wrap="square" lIns="0" tIns="0" rIns="0" bIns="0" rtlCol="0" anchor="t">
            <a:noAutofit/>
          </a:bodyPr>
          <a:lstStyle/>
          <a:p>
            <a:r>
              <a:rPr lang="en-IN" sz="650">
                <a:solidFill>
                  <a:srgbClr val="3CCF8E"/>
                </a:solidFill>
                <a:latin typeface="Segoe UI" panose="020B0502040204020203" pitchFamily="34" charset="0"/>
              </a:rPr>
              <a:t>yes</a:t>
            </a:r>
          </a:p>
        </p:txBody>
      </p:sp>
      <p:cxnSp>
        <p:nvCxnSpPr>
          <p:cNvPr id="44" name="Straight Connector 43">
            <a:extLst>
              <a:ext uri="{FF2B5EF4-FFF2-40B4-BE49-F238E27FC236}">
                <a16:creationId xmlns:a16="http://schemas.microsoft.com/office/drawing/2014/main" id="{3BC04C86-0EEF-2D7A-B274-28C660637B20}"/>
              </a:ext>
            </a:extLst>
          </p:cNvPr>
          <p:cNvCxnSpPr/>
          <p:nvPr/>
        </p:nvCxnSpPr>
        <p:spPr>
          <a:xfrm>
            <a:off x="4762500" y="3378200"/>
            <a:ext cx="0" cy="228600"/>
          </a:xfrm>
          <a:prstGeom prst="line">
            <a:avLst/>
          </a:prstGeom>
          <a:ln w="12700">
            <a:solidFill>
              <a:srgbClr val="F06A6F"/>
            </a:solidFill>
            <a:tailEnd type="triangle" w="sm" len="sm"/>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DD896E2-AB88-4599-7654-66244FABFC2C}"/>
              </a:ext>
            </a:extLst>
          </p:cNvPr>
          <p:cNvSpPr txBox="1"/>
          <p:nvPr/>
        </p:nvSpPr>
        <p:spPr>
          <a:xfrm>
            <a:off x="4800600" y="3403600"/>
            <a:ext cx="254000" cy="127000"/>
          </a:xfrm>
          <a:prstGeom prst="rect">
            <a:avLst/>
          </a:prstGeom>
          <a:noFill/>
        </p:spPr>
        <p:txBody>
          <a:bodyPr vert="horz" wrap="square" lIns="0" tIns="0" rIns="0" bIns="0" rtlCol="0" anchor="t">
            <a:noAutofit/>
          </a:bodyPr>
          <a:lstStyle/>
          <a:p>
            <a:r>
              <a:rPr lang="en-IN" sz="650">
                <a:solidFill>
                  <a:srgbClr val="F06A6F"/>
                </a:solidFill>
                <a:latin typeface="Segoe UI" panose="020B0502040204020203" pitchFamily="34" charset="0"/>
              </a:rPr>
              <a:t>no</a:t>
            </a:r>
          </a:p>
        </p:txBody>
      </p:sp>
      <p:sp>
        <p:nvSpPr>
          <p:cNvPr id="46" name="Rectangle: Rounded Corners 45">
            <a:extLst>
              <a:ext uri="{FF2B5EF4-FFF2-40B4-BE49-F238E27FC236}">
                <a16:creationId xmlns:a16="http://schemas.microsoft.com/office/drawing/2014/main" id="{7652592C-1C01-E4AC-0E38-5F54DF874EBC}"/>
              </a:ext>
            </a:extLst>
          </p:cNvPr>
          <p:cNvSpPr/>
          <p:nvPr/>
        </p:nvSpPr>
        <p:spPr>
          <a:xfrm>
            <a:off x="4254500" y="3632200"/>
            <a:ext cx="1016000" cy="254000"/>
          </a:xfrm>
          <a:prstGeom prst="roundRect">
            <a:avLst>
              <a:gd name="adj" fmla="val 30000"/>
            </a:avLst>
          </a:prstGeom>
          <a:solidFill>
            <a:srgbClr val="33161A"/>
          </a:solidFill>
          <a:ln w="9525">
            <a:solidFill>
              <a:srgbClr val="7A3438"/>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F06A6F"/>
                </a:solidFill>
                <a:latin typeface="Segoe UI" panose="020B0502040204020203" pitchFamily="34" charset="0"/>
              </a:rPr>
              <a:t>Failed (drift)</a:t>
            </a:r>
          </a:p>
        </p:txBody>
      </p:sp>
      <p:sp>
        <p:nvSpPr>
          <p:cNvPr id="47" name="Diamond 46">
            <a:extLst>
              <a:ext uri="{FF2B5EF4-FFF2-40B4-BE49-F238E27FC236}">
                <a16:creationId xmlns:a16="http://schemas.microsoft.com/office/drawing/2014/main" id="{551BDB1B-3279-0ABB-E96F-57633FB1EACD}"/>
              </a:ext>
            </a:extLst>
          </p:cNvPr>
          <p:cNvSpPr/>
          <p:nvPr/>
        </p:nvSpPr>
        <p:spPr>
          <a:xfrm>
            <a:off x="5486400" y="2717800"/>
            <a:ext cx="1092200" cy="660400"/>
          </a:xfrm>
          <a:prstGeom prst="diamond">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IN" sz="750">
                <a:solidFill>
                  <a:srgbClr val="F1F4F9"/>
                </a:solidFill>
                <a:latin typeface="Segoe UI" panose="020B0502040204020203" pitchFamily="34" charset="0"/>
              </a:rPr>
              <a:t>Parse</a:t>
            </a:r>
            <a:br>
              <a:rPr lang="en-IN" sz="750">
                <a:solidFill>
                  <a:srgbClr val="F1F4F9"/>
                </a:solidFill>
                <a:latin typeface="Segoe UI" panose="020B0502040204020203" pitchFamily="34" charset="0"/>
              </a:rPr>
            </a:br>
            <a:r>
              <a:rPr lang="en-IN" sz="750">
                <a:solidFill>
                  <a:srgbClr val="F1F4F9"/>
                </a:solidFill>
                <a:latin typeface="Segoe UI" panose="020B0502040204020203" pitchFamily="34" charset="0"/>
              </a:rPr>
              <a:t>succeeds?</a:t>
            </a:r>
          </a:p>
        </p:txBody>
      </p:sp>
      <p:cxnSp>
        <p:nvCxnSpPr>
          <p:cNvPr id="48" name="Straight Connector 47">
            <a:extLst>
              <a:ext uri="{FF2B5EF4-FFF2-40B4-BE49-F238E27FC236}">
                <a16:creationId xmlns:a16="http://schemas.microsoft.com/office/drawing/2014/main" id="{7800A9D8-DB48-3DB3-E02B-7CC84667D3B5}"/>
              </a:ext>
            </a:extLst>
          </p:cNvPr>
          <p:cNvCxnSpPr/>
          <p:nvPr/>
        </p:nvCxnSpPr>
        <p:spPr>
          <a:xfrm>
            <a:off x="6578600" y="3048000"/>
            <a:ext cx="177800" cy="0"/>
          </a:xfrm>
          <a:prstGeom prst="line">
            <a:avLst/>
          </a:prstGeom>
          <a:ln w="15875">
            <a:solidFill>
              <a:srgbClr val="3CCF8E"/>
            </a:solidFill>
            <a:tailEnd type="triangle" w="sm" len="sm"/>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FE84EB7-E021-DE1B-C363-B01D851E5C83}"/>
              </a:ext>
            </a:extLst>
          </p:cNvPr>
          <p:cNvSpPr txBox="1"/>
          <p:nvPr/>
        </p:nvSpPr>
        <p:spPr>
          <a:xfrm>
            <a:off x="6578600" y="2870200"/>
            <a:ext cx="177800" cy="127000"/>
          </a:xfrm>
          <a:prstGeom prst="rect">
            <a:avLst/>
          </a:prstGeom>
          <a:noFill/>
        </p:spPr>
        <p:txBody>
          <a:bodyPr vert="horz" wrap="square" lIns="0" tIns="0" rIns="0" bIns="0" rtlCol="0" anchor="t">
            <a:noAutofit/>
          </a:bodyPr>
          <a:lstStyle/>
          <a:p>
            <a:r>
              <a:rPr lang="en-IN" sz="650">
                <a:solidFill>
                  <a:srgbClr val="3CCF8E"/>
                </a:solidFill>
                <a:latin typeface="Segoe UI" panose="020B0502040204020203" pitchFamily="34" charset="0"/>
              </a:rPr>
              <a:t>yes</a:t>
            </a:r>
          </a:p>
        </p:txBody>
      </p:sp>
      <p:cxnSp>
        <p:nvCxnSpPr>
          <p:cNvPr id="50" name="Straight Connector 49">
            <a:extLst>
              <a:ext uri="{FF2B5EF4-FFF2-40B4-BE49-F238E27FC236}">
                <a16:creationId xmlns:a16="http://schemas.microsoft.com/office/drawing/2014/main" id="{CF2662B3-E280-3E4E-34F2-923A348C5A4D}"/>
              </a:ext>
            </a:extLst>
          </p:cNvPr>
          <p:cNvCxnSpPr/>
          <p:nvPr/>
        </p:nvCxnSpPr>
        <p:spPr>
          <a:xfrm>
            <a:off x="6032500" y="3378200"/>
            <a:ext cx="0" cy="228600"/>
          </a:xfrm>
          <a:prstGeom prst="line">
            <a:avLst/>
          </a:prstGeom>
          <a:ln w="12700">
            <a:solidFill>
              <a:srgbClr val="F06A6F"/>
            </a:solidFill>
            <a:tailEnd type="triangle" w="sm" len="sm"/>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D00B208-3384-6417-82DF-46FF092B2291}"/>
              </a:ext>
            </a:extLst>
          </p:cNvPr>
          <p:cNvSpPr txBox="1"/>
          <p:nvPr/>
        </p:nvSpPr>
        <p:spPr>
          <a:xfrm>
            <a:off x="6070600" y="3403600"/>
            <a:ext cx="254000" cy="127000"/>
          </a:xfrm>
          <a:prstGeom prst="rect">
            <a:avLst/>
          </a:prstGeom>
          <a:noFill/>
        </p:spPr>
        <p:txBody>
          <a:bodyPr vert="horz" wrap="square" lIns="0" tIns="0" rIns="0" bIns="0" rtlCol="0" anchor="t">
            <a:noAutofit/>
          </a:bodyPr>
          <a:lstStyle/>
          <a:p>
            <a:r>
              <a:rPr lang="en-IN" sz="650">
                <a:solidFill>
                  <a:srgbClr val="F06A6F"/>
                </a:solidFill>
                <a:latin typeface="Segoe UI" panose="020B0502040204020203" pitchFamily="34" charset="0"/>
              </a:rPr>
              <a:t>no</a:t>
            </a:r>
          </a:p>
        </p:txBody>
      </p:sp>
      <p:sp>
        <p:nvSpPr>
          <p:cNvPr id="52" name="Rectangle: Rounded Corners 51">
            <a:extLst>
              <a:ext uri="{FF2B5EF4-FFF2-40B4-BE49-F238E27FC236}">
                <a16:creationId xmlns:a16="http://schemas.microsoft.com/office/drawing/2014/main" id="{CDBE174B-BCFE-EFC8-907E-E6BC56CD7FDD}"/>
              </a:ext>
            </a:extLst>
          </p:cNvPr>
          <p:cNvSpPr/>
          <p:nvPr/>
        </p:nvSpPr>
        <p:spPr>
          <a:xfrm>
            <a:off x="5524500" y="3632200"/>
            <a:ext cx="1016000" cy="254000"/>
          </a:xfrm>
          <a:prstGeom prst="roundRect">
            <a:avLst>
              <a:gd name="adj" fmla="val 30000"/>
            </a:avLst>
          </a:prstGeom>
          <a:solidFill>
            <a:srgbClr val="33161A"/>
          </a:solidFill>
          <a:ln w="9525">
            <a:solidFill>
              <a:srgbClr val="7A3438"/>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F06A6F"/>
                </a:solidFill>
                <a:latin typeface="Segoe UI" panose="020B0502040204020203" pitchFamily="34" charset="0"/>
              </a:rPr>
              <a:t>Failed</a:t>
            </a:r>
          </a:p>
        </p:txBody>
      </p:sp>
      <p:sp>
        <p:nvSpPr>
          <p:cNvPr id="53" name="Rectangle: Rounded Corners 52">
            <a:extLst>
              <a:ext uri="{FF2B5EF4-FFF2-40B4-BE49-F238E27FC236}">
                <a16:creationId xmlns:a16="http://schemas.microsoft.com/office/drawing/2014/main" id="{5CB2A62D-59CE-5370-2AEC-25FC56A6E302}"/>
              </a:ext>
            </a:extLst>
          </p:cNvPr>
          <p:cNvSpPr/>
          <p:nvPr/>
        </p:nvSpPr>
        <p:spPr>
          <a:xfrm>
            <a:off x="6781800" y="2768600"/>
            <a:ext cx="1092200" cy="558800"/>
          </a:xfrm>
          <a:prstGeom prst="roundRect">
            <a:avLst>
              <a:gd name="adj" fmla="val 13636"/>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F1F4F9"/>
                </a:solidFill>
                <a:latin typeface="Segoe UI" panose="020B0502040204020203" pitchFamily="34" charset="0"/>
              </a:rPr>
              <a:t>Extract</a:t>
            </a:r>
            <a:br>
              <a:rPr lang="en-IN" sz="750">
                <a:solidFill>
                  <a:srgbClr val="F1F4F9"/>
                </a:solidFill>
                <a:latin typeface="Segoe UI" panose="020B0502040204020203" pitchFamily="34" charset="0"/>
              </a:rPr>
            </a:br>
            <a:r>
              <a:rPr lang="en-IN" sz="750">
                <a:solidFill>
                  <a:srgbClr val="F1F4F9"/>
                </a:solidFill>
                <a:latin typeface="Segoe UI" panose="020B0502040204020203" pitchFamily="34" charset="0"/>
              </a:rPr>
              <a:t>symbols +</a:t>
            </a:r>
            <a:br>
              <a:rPr lang="en-IN" sz="750">
                <a:solidFill>
                  <a:srgbClr val="F1F4F9"/>
                </a:solidFill>
                <a:latin typeface="Segoe UI" panose="020B0502040204020203" pitchFamily="34" charset="0"/>
              </a:rPr>
            </a:br>
            <a:r>
              <a:rPr lang="en-IN" sz="750">
                <a:solidFill>
                  <a:srgbClr val="F1F4F9"/>
                </a:solidFill>
                <a:latin typeface="Segoe UI" panose="020B0502040204020203" pitchFamily="34" charset="0"/>
              </a:rPr>
              <a:t>relationships</a:t>
            </a:r>
          </a:p>
        </p:txBody>
      </p:sp>
      <p:sp>
        <p:nvSpPr>
          <p:cNvPr id="54" name="TextBox 53">
            <a:extLst>
              <a:ext uri="{FF2B5EF4-FFF2-40B4-BE49-F238E27FC236}">
                <a16:creationId xmlns:a16="http://schemas.microsoft.com/office/drawing/2014/main" id="{77E87DF1-146F-C7DF-56C8-0A50B3F83376}"/>
              </a:ext>
            </a:extLst>
          </p:cNvPr>
          <p:cNvSpPr txBox="1"/>
          <p:nvPr/>
        </p:nvSpPr>
        <p:spPr>
          <a:xfrm>
            <a:off x="711200" y="4038600"/>
            <a:ext cx="5080000" cy="152400"/>
          </a:xfrm>
          <a:prstGeom prst="rect">
            <a:avLst/>
          </a:prstGeom>
          <a:noFill/>
        </p:spPr>
        <p:txBody>
          <a:bodyPr vert="horz" wrap="square" lIns="0" tIns="0" rIns="0" bIns="0" rtlCol="0" anchor="t">
            <a:noAutofit/>
          </a:bodyPr>
          <a:lstStyle/>
          <a:p>
            <a:r>
              <a:rPr lang="en-IN" sz="750" spc="110">
                <a:solidFill>
                  <a:srgbClr val="78849A"/>
                </a:solidFill>
                <a:latin typeface="Segoe UI Semibold" panose="020B0702040204020203" pitchFamily="34" charset="0"/>
              </a:rPr>
              <a:t>ANALYSIS LIFECYCLE (DATABASE-ENFORCED)</a:t>
            </a:r>
          </a:p>
        </p:txBody>
      </p:sp>
      <p:sp>
        <p:nvSpPr>
          <p:cNvPr id="55" name="Rectangle: Rounded Corners 54">
            <a:extLst>
              <a:ext uri="{FF2B5EF4-FFF2-40B4-BE49-F238E27FC236}">
                <a16:creationId xmlns:a16="http://schemas.microsoft.com/office/drawing/2014/main" id="{41D42FC7-3D8A-ABAA-0389-0891CBBD2327}"/>
              </a:ext>
            </a:extLst>
          </p:cNvPr>
          <p:cNvSpPr/>
          <p:nvPr/>
        </p:nvSpPr>
        <p:spPr>
          <a:xfrm>
            <a:off x="660400" y="4241800"/>
            <a:ext cx="1346200" cy="533400"/>
          </a:xfrm>
          <a:prstGeom prst="roundRect">
            <a:avLst>
              <a:gd name="adj" fmla="val 14286"/>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900">
                <a:solidFill>
                  <a:srgbClr val="F1F4F9"/>
                </a:solidFill>
                <a:latin typeface="Segoe UI Semibold" panose="020B0702040204020203" pitchFamily="34" charset="0"/>
              </a:rPr>
              <a:t>begin</a:t>
            </a:r>
            <a:br>
              <a:rPr lang="en-US" sz="700">
                <a:solidFill>
                  <a:srgbClr val="B3BDCF"/>
                </a:solidFill>
                <a:latin typeface="Segoe UI" panose="020B0502040204020203" pitchFamily="34" charset="0"/>
              </a:rPr>
            </a:br>
            <a:r>
              <a:rPr lang="en-US" sz="700">
                <a:solidFill>
                  <a:srgbClr val="B3BDCF"/>
                </a:solidFill>
                <a:latin typeface="Segoe UI" panose="020B0502040204020203" pitchFamily="34" charset="0"/>
              </a:rPr>
              <a:t>run token issued; PROCESSING</a:t>
            </a:r>
            <a:endParaRPr lang="en-IN" sz="700">
              <a:solidFill>
                <a:srgbClr val="B3BDCF"/>
              </a:solidFill>
              <a:latin typeface="Segoe UI" panose="020B0502040204020203" pitchFamily="34" charset="0"/>
            </a:endParaRPr>
          </a:p>
        </p:txBody>
      </p:sp>
      <p:cxnSp>
        <p:nvCxnSpPr>
          <p:cNvPr id="56" name="Straight Connector 55">
            <a:extLst>
              <a:ext uri="{FF2B5EF4-FFF2-40B4-BE49-F238E27FC236}">
                <a16:creationId xmlns:a16="http://schemas.microsoft.com/office/drawing/2014/main" id="{EAF890FC-985D-6C5E-34AE-07F30928BD34}"/>
              </a:ext>
            </a:extLst>
          </p:cNvPr>
          <p:cNvCxnSpPr/>
          <p:nvPr/>
        </p:nvCxnSpPr>
        <p:spPr>
          <a:xfrm>
            <a:off x="2019300" y="4508500"/>
            <a:ext cx="101600" cy="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57" name="Rectangle: Rounded Corners 56">
            <a:extLst>
              <a:ext uri="{FF2B5EF4-FFF2-40B4-BE49-F238E27FC236}">
                <a16:creationId xmlns:a16="http://schemas.microsoft.com/office/drawing/2014/main" id="{38B5AF62-7D68-B1BF-BFD9-A11D21ECE7CE}"/>
              </a:ext>
            </a:extLst>
          </p:cNvPr>
          <p:cNvSpPr/>
          <p:nvPr/>
        </p:nvSpPr>
        <p:spPr>
          <a:xfrm>
            <a:off x="2120900" y="4241800"/>
            <a:ext cx="1346200" cy="533400"/>
          </a:xfrm>
          <a:prstGeom prst="roundRect">
            <a:avLst>
              <a:gd name="adj" fmla="val 14286"/>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F1F4F9"/>
                </a:solidFill>
                <a:latin typeface="Segoe UI Semibold" panose="020B0702040204020203" pitchFamily="34" charset="0"/>
              </a:rPr>
              <a:t>analyse files</a:t>
            </a:r>
            <a:br>
              <a:rPr lang="en-IN" sz="700">
                <a:solidFill>
                  <a:srgbClr val="B3BDCF"/>
                </a:solidFill>
                <a:latin typeface="Segoe UI" panose="020B0502040204020203" pitchFamily="34" charset="0"/>
              </a:rPr>
            </a:br>
            <a:r>
              <a:rPr lang="en-IN" sz="700">
                <a:solidFill>
                  <a:srgbClr val="B3BDCF"/>
                </a:solidFill>
                <a:latin typeface="Segoe UI" panose="020B0502040204020203" pitchFamily="34" charset="0"/>
              </a:rPr>
              <a:t>decision logic above</a:t>
            </a:r>
          </a:p>
        </p:txBody>
      </p:sp>
      <p:cxnSp>
        <p:nvCxnSpPr>
          <p:cNvPr id="58" name="Straight Connector 57">
            <a:extLst>
              <a:ext uri="{FF2B5EF4-FFF2-40B4-BE49-F238E27FC236}">
                <a16:creationId xmlns:a16="http://schemas.microsoft.com/office/drawing/2014/main" id="{7FFB6105-D991-1693-F72D-CE3228331F6A}"/>
              </a:ext>
            </a:extLst>
          </p:cNvPr>
          <p:cNvCxnSpPr/>
          <p:nvPr/>
        </p:nvCxnSpPr>
        <p:spPr>
          <a:xfrm>
            <a:off x="3479800" y="4508500"/>
            <a:ext cx="101600" cy="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59" name="Rectangle: Rounded Corners 58">
            <a:extLst>
              <a:ext uri="{FF2B5EF4-FFF2-40B4-BE49-F238E27FC236}">
                <a16:creationId xmlns:a16="http://schemas.microsoft.com/office/drawing/2014/main" id="{A7F8BF66-485F-2149-5F3E-FF04A5C1254E}"/>
              </a:ext>
            </a:extLst>
          </p:cNvPr>
          <p:cNvSpPr/>
          <p:nvPr/>
        </p:nvSpPr>
        <p:spPr>
          <a:xfrm>
            <a:off x="3581400" y="4241800"/>
            <a:ext cx="1346200" cy="533400"/>
          </a:xfrm>
          <a:prstGeom prst="roundRect">
            <a:avLst>
              <a:gd name="adj" fmla="val 14286"/>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F1F4F9"/>
                </a:solidFill>
                <a:latin typeface="Segoe UI Semibold" panose="020B0702040204020203" pitchFamily="34" charset="0"/>
              </a:rPr>
              <a:t>canonicalise</a:t>
            </a:r>
            <a:br>
              <a:rPr lang="en-IN" sz="700">
                <a:solidFill>
                  <a:srgbClr val="B3BDCF"/>
                </a:solidFill>
                <a:latin typeface="Segoe UI" panose="020B0502040204020203" pitchFamily="34" charset="0"/>
              </a:rPr>
            </a:br>
            <a:r>
              <a:rPr lang="en-IN" sz="700">
                <a:solidFill>
                  <a:srgbClr val="B3BDCF"/>
                </a:solidFill>
                <a:latin typeface="Segoe UI" panose="020B0502040204020203" pitchFamily="34" charset="0"/>
              </a:rPr>
              <a:t>OFA-STRUCTURE-V1</a:t>
            </a:r>
          </a:p>
        </p:txBody>
      </p:sp>
      <p:cxnSp>
        <p:nvCxnSpPr>
          <p:cNvPr id="60" name="Straight Connector 59">
            <a:extLst>
              <a:ext uri="{FF2B5EF4-FFF2-40B4-BE49-F238E27FC236}">
                <a16:creationId xmlns:a16="http://schemas.microsoft.com/office/drawing/2014/main" id="{84800538-6B5A-3E43-01DD-BCA62DCFAB93}"/>
              </a:ext>
            </a:extLst>
          </p:cNvPr>
          <p:cNvCxnSpPr/>
          <p:nvPr/>
        </p:nvCxnSpPr>
        <p:spPr>
          <a:xfrm>
            <a:off x="4940300" y="4508500"/>
            <a:ext cx="101600" cy="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61" name="Rectangle: Rounded Corners 60">
            <a:extLst>
              <a:ext uri="{FF2B5EF4-FFF2-40B4-BE49-F238E27FC236}">
                <a16:creationId xmlns:a16="http://schemas.microsoft.com/office/drawing/2014/main" id="{8050C4EA-D5CA-D1C7-E678-3C0BFD6FBBDD}"/>
              </a:ext>
            </a:extLst>
          </p:cNvPr>
          <p:cNvSpPr/>
          <p:nvPr/>
        </p:nvSpPr>
        <p:spPr>
          <a:xfrm>
            <a:off x="5041900" y="4241800"/>
            <a:ext cx="1346200" cy="533400"/>
          </a:xfrm>
          <a:prstGeom prst="roundRect">
            <a:avLst>
              <a:gd name="adj" fmla="val 14286"/>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F1F4F9"/>
                </a:solidFill>
                <a:latin typeface="Segoe UI Semibold" panose="020B0702040204020203" pitchFamily="34" charset="0"/>
              </a:rPr>
              <a:t>sign</a:t>
            </a:r>
            <a:br>
              <a:rPr lang="en-IN" sz="700">
                <a:solidFill>
                  <a:srgbClr val="B3BDCF"/>
                </a:solidFill>
                <a:latin typeface="Segoe UI" panose="020B0502040204020203" pitchFamily="34" charset="0"/>
              </a:rPr>
            </a:br>
            <a:r>
              <a:rPr lang="en-IN" sz="700">
                <a:solidFill>
                  <a:srgbClr val="B3BDCF"/>
                </a:solidFill>
                <a:latin typeface="Segoe UI" panose="020B0502040204020203" pitchFamily="34" charset="0"/>
              </a:rPr>
              <a:t>HMAC-SHA256, server key</a:t>
            </a:r>
          </a:p>
        </p:txBody>
      </p:sp>
      <p:cxnSp>
        <p:nvCxnSpPr>
          <p:cNvPr id="62" name="Straight Connector 61">
            <a:extLst>
              <a:ext uri="{FF2B5EF4-FFF2-40B4-BE49-F238E27FC236}">
                <a16:creationId xmlns:a16="http://schemas.microsoft.com/office/drawing/2014/main" id="{FDCC4E8C-3ADB-5600-73AD-CBA48FA69045}"/>
              </a:ext>
            </a:extLst>
          </p:cNvPr>
          <p:cNvCxnSpPr/>
          <p:nvPr/>
        </p:nvCxnSpPr>
        <p:spPr>
          <a:xfrm>
            <a:off x="6400800" y="4508500"/>
            <a:ext cx="101600" cy="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6A3A6C42-4612-1E4C-4716-65F70AB5E50C}"/>
              </a:ext>
            </a:extLst>
          </p:cNvPr>
          <p:cNvSpPr/>
          <p:nvPr/>
        </p:nvSpPr>
        <p:spPr>
          <a:xfrm>
            <a:off x="6502400" y="4241800"/>
            <a:ext cx="1346200" cy="533400"/>
          </a:xfrm>
          <a:prstGeom prst="roundRect">
            <a:avLst>
              <a:gd name="adj" fmla="val 14286"/>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00">
                <a:solidFill>
                  <a:srgbClr val="F1F4F9"/>
                </a:solidFill>
                <a:latin typeface="Segoe UI Semibold" panose="020B0702040204020203" pitchFamily="34" charset="0"/>
              </a:rPr>
              <a:t>persist</a:t>
            </a:r>
            <a:br>
              <a:rPr lang="en-IN" sz="700">
                <a:solidFill>
                  <a:srgbClr val="B3BDCF"/>
                </a:solidFill>
                <a:latin typeface="Segoe UI" panose="020B0502040204020203" pitchFamily="34" charset="0"/>
              </a:rPr>
            </a:br>
            <a:r>
              <a:rPr lang="en-IN" sz="700">
                <a:solidFill>
                  <a:srgbClr val="B3BDCF"/>
                </a:solidFill>
                <a:latin typeface="Segoe UI" panose="020B0502040204020203" pitchFamily="34" charset="0"/>
              </a:rPr>
              <a:t>DB verifies signature + token</a:t>
            </a:r>
          </a:p>
        </p:txBody>
      </p:sp>
      <p:sp>
        <p:nvSpPr>
          <p:cNvPr id="64" name="Rectangle: Rounded Corners 63">
            <a:extLst>
              <a:ext uri="{FF2B5EF4-FFF2-40B4-BE49-F238E27FC236}">
                <a16:creationId xmlns:a16="http://schemas.microsoft.com/office/drawing/2014/main" id="{47DAC246-080F-A3F9-EA8F-017B96047C3C}"/>
              </a:ext>
            </a:extLst>
          </p:cNvPr>
          <p:cNvSpPr/>
          <p:nvPr/>
        </p:nvSpPr>
        <p:spPr>
          <a:xfrm>
            <a:off x="660400" y="4902200"/>
            <a:ext cx="3530600" cy="330200"/>
          </a:xfrm>
          <a:prstGeom prst="roundRect">
            <a:avLst>
              <a:gd name="adj" fmla="val 23077"/>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800">
                <a:solidFill>
                  <a:srgbClr val="F1F4F9"/>
                </a:solidFill>
                <a:latin typeface="Segoe UI Semibold" panose="020B0702040204020203" pitchFamily="34" charset="0"/>
              </a:rPr>
              <a:t>COMPLETED — sealed by trigger, read-only</a:t>
            </a:r>
            <a:endParaRPr lang="en-IN" sz="800">
              <a:solidFill>
                <a:srgbClr val="F1F4F9"/>
              </a:solidFill>
              <a:latin typeface="Segoe UI Semibold" panose="020B0702040204020203" pitchFamily="34" charset="0"/>
            </a:endParaRPr>
          </a:p>
        </p:txBody>
      </p:sp>
      <p:sp>
        <p:nvSpPr>
          <p:cNvPr id="65" name="Rectangle: Rounded Corners 64">
            <a:extLst>
              <a:ext uri="{FF2B5EF4-FFF2-40B4-BE49-F238E27FC236}">
                <a16:creationId xmlns:a16="http://schemas.microsoft.com/office/drawing/2014/main" id="{C92C389C-0D97-DF18-9A54-5280515DD48F}"/>
              </a:ext>
            </a:extLst>
          </p:cNvPr>
          <p:cNvSpPr/>
          <p:nvPr/>
        </p:nvSpPr>
        <p:spPr>
          <a:xfrm>
            <a:off x="4292600" y="4902200"/>
            <a:ext cx="3556000" cy="330200"/>
          </a:xfrm>
          <a:prstGeom prst="roundRect">
            <a:avLst>
              <a:gd name="adj" fmla="val 23077"/>
            </a:avLst>
          </a:prstGeom>
          <a:solidFill>
            <a:srgbClr val="33161A"/>
          </a:solidFill>
          <a:ln w="9525">
            <a:solidFill>
              <a:srgbClr val="7A3438"/>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800">
                <a:solidFill>
                  <a:srgbClr val="F06A6F"/>
                </a:solidFill>
                <a:latin typeface="Segoe UI Semibold" panose="020B0702040204020203" pitchFamily="34" charset="0"/>
              </a:rPr>
              <a:t>any error → FAILED, retry via reset</a:t>
            </a:r>
            <a:endParaRPr lang="en-IN" sz="800">
              <a:solidFill>
                <a:srgbClr val="F06A6F"/>
              </a:solidFill>
              <a:latin typeface="Segoe UI Semibold" panose="020B0702040204020203" pitchFamily="34" charset="0"/>
            </a:endParaRPr>
          </a:p>
        </p:txBody>
      </p:sp>
      <p:sp>
        <p:nvSpPr>
          <p:cNvPr id="66" name="TextBox 65">
            <a:extLst>
              <a:ext uri="{FF2B5EF4-FFF2-40B4-BE49-F238E27FC236}">
                <a16:creationId xmlns:a16="http://schemas.microsoft.com/office/drawing/2014/main" id="{47F00E98-1315-EE42-9BEE-6C679D51589C}"/>
              </a:ext>
            </a:extLst>
          </p:cNvPr>
          <p:cNvSpPr txBox="1"/>
          <p:nvPr/>
        </p:nvSpPr>
        <p:spPr>
          <a:xfrm>
            <a:off x="711200" y="5359400"/>
            <a:ext cx="7112000" cy="838200"/>
          </a:xfrm>
          <a:prstGeom prst="rect">
            <a:avLst/>
          </a:prstGeom>
          <a:noFill/>
        </p:spPr>
        <p:txBody>
          <a:bodyPr vert="horz" wrap="square" lIns="0" tIns="0" rIns="0" bIns="0" rtlCol="0" anchor="t">
            <a:noAutofit/>
          </a:bodyPr>
          <a:lstStyle/>
          <a:p>
            <a:r>
              <a:rPr lang="en-US" sz="850">
                <a:solidFill>
                  <a:srgbClr val="B3BDCF"/>
                </a:solidFill>
                <a:latin typeface="Segoe UI" panose="020B0502040204020203" pitchFamily="34" charset="0"/>
              </a:rPr>
              <a:t>Limits: 1 MB per file, 50,000 symbols per analysis. Unsupported languages are counted, not guessed. Source content is checked against the manifest hash before parsing, so a changed file cannot be analysed as the recorded one.</a:t>
            </a:r>
            <a:endParaRPr lang="en-IN" sz="850">
              <a:solidFill>
                <a:srgbClr val="B3BDCF"/>
              </a:solidFill>
              <a:latin typeface="Segoe UI" panose="020B0502040204020203" pitchFamily="34" charset="0"/>
            </a:endParaRPr>
          </a:p>
        </p:txBody>
      </p:sp>
      <p:sp>
        <p:nvSpPr>
          <p:cNvPr id="67" name="Rectangle: Rounded Corners 66">
            <a:extLst>
              <a:ext uri="{FF2B5EF4-FFF2-40B4-BE49-F238E27FC236}">
                <a16:creationId xmlns:a16="http://schemas.microsoft.com/office/drawing/2014/main" id="{9C2E74B3-CB95-283B-766B-CC1E32E71D64}"/>
              </a:ext>
            </a:extLst>
          </p:cNvPr>
          <p:cNvSpPr/>
          <p:nvPr/>
        </p:nvSpPr>
        <p:spPr>
          <a:xfrm>
            <a:off x="8204200" y="2133600"/>
            <a:ext cx="3479800" cy="4140200"/>
          </a:xfrm>
          <a:prstGeom prst="roundRect">
            <a:avLst>
              <a:gd name="adj" fmla="val 2920"/>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TextBox 67">
            <a:extLst>
              <a:ext uri="{FF2B5EF4-FFF2-40B4-BE49-F238E27FC236}">
                <a16:creationId xmlns:a16="http://schemas.microsoft.com/office/drawing/2014/main" id="{C9576319-EEB0-9802-E39D-C933BFC4BA23}"/>
              </a:ext>
            </a:extLst>
          </p:cNvPr>
          <p:cNvSpPr txBox="1"/>
          <p:nvPr/>
        </p:nvSpPr>
        <p:spPr>
          <a:xfrm>
            <a:off x="8407400" y="2286000"/>
            <a:ext cx="3048000" cy="152400"/>
          </a:xfrm>
          <a:prstGeom prst="rect">
            <a:avLst/>
          </a:prstGeom>
          <a:noFill/>
        </p:spPr>
        <p:txBody>
          <a:bodyPr vert="horz" wrap="square" lIns="0" tIns="0" rIns="0" bIns="0" rtlCol="0" anchor="t">
            <a:noAutofit/>
          </a:bodyPr>
          <a:lstStyle/>
          <a:p>
            <a:r>
              <a:rPr lang="en-IN" sz="750" spc="110">
                <a:solidFill>
                  <a:srgbClr val="3CCF8E"/>
                </a:solidFill>
                <a:latin typeface="Segoe UI Semibold" panose="020B0702040204020203" pitchFamily="34" charset="0"/>
              </a:rPr>
              <a:t>DEMO RUN (REAL OUTPUT)</a:t>
            </a:r>
          </a:p>
        </p:txBody>
      </p:sp>
      <p:sp>
        <p:nvSpPr>
          <p:cNvPr id="69" name="TextBox 68">
            <a:extLst>
              <a:ext uri="{FF2B5EF4-FFF2-40B4-BE49-F238E27FC236}">
                <a16:creationId xmlns:a16="http://schemas.microsoft.com/office/drawing/2014/main" id="{1AD359EE-5C11-4166-8D8E-D4E0896383B7}"/>
              </a:ext>
            </a:extLst>
          </p:cNvPr>
          <p:cNvSpPr txBox="1"/>
          <p:nvPr/>
        </p:nvSpPr>
        <p:spPr>
          <a:xfrm>
            <a:off x="8407400" y="2489200"/>
            <a:ext cx="3048000" cy="177800"/>
          </a:xfrm>
          <a:prstGeom prst="rect">
            <a:avLst/>
          </a:prstGeom>
          <a:noFill/>
        </p:spPr>
        <p:txBody>
          <a:bodyPr vert="horz" wrap="square" lIns="0" tIns="0" rIns="0" bIns="0" rtlCol="0" anchor="t">
            <a:noAutofit/>
          </a:bodyPr>
          <a:lstStyle/>
          <a:p>
            <a:r>
              <a:rPr lang="en-IN" sz="900">
                <a:solidFill>
                  <a:srgbClr val="B3BDCF"/>
                </a:solidFill>
                <a:latin typeface="Segoe UI" panose="020B0502040204020203" pitchFamily="34" charset="0"/>
              </a:rPr>
              <a:t>10-file snapshot  ·  4 languages</a:t>
            </a:r>
          </a:p>
        </p:txBody>
      </p:sp>
      <p:sp>
        <p:nvSpPr>
          <p:cNvPr id="70" name="TextBox 69">
            <a:extLst>
              <a:ext uri="{FF2B5EF4-FFF2-40B4-BE49-F238E27FC236}">
                <a16:creationId xmlns:a16="http://schemas.microsoft.com/office/drawing/2014/main" id="{31635BA2-0086-4AE1-1D9A-9BE576CD2CCE}"/>
              </a:ext>
            </a:extLst>
          </p:cNvPr>
          <p:cNvSpPr txBox="1"/>
          <p:nvPr/>
        </p:nvSpPr>
        <p:spPr>
          <a:xfrm>
            <a:off x="8407400" y="2743200"/>
            <a:ext cx="1041400" cy="330200"/>
          </a:xfrm>
          <a:prstGeom prst="rect">
            <a:avLst/>
          </a:prstGeom>
          <a:noFill/>
        </p:spPr>
        <p:txBody>
          <a:bodyPr vert="horz" wrap="square" lIns="0" tIns="0" rIns="0" bIns="0" rtlCol="0" anchor="t">
            <a:noAutofit/>
          </a:bodyPr>
          <a:lstStyle/>
          <a:p>
            <a:r>
              <a:rPr lang="en-IN" sz="2000">
                <a:solidFill>
                  <a:srgbClr val="F1F4F9"/>
                </a:solidFill>
                <a:latin typeface="Segoe UI Semibold" panose="020B0702040204020203" pitchFamily="34" charset="0"/>
              </a:rPr>
              <a:t>42</a:t>
            </a:r>
          </a:p>
        </p:txBody>
      </p:sp>
      <p:sp>
        <p:nvSpPr>
          <p:cNvPr id="71" name="TextBox 70">
            <a:extLst>
              <a:ext uri="{FF2B5EF4-FFF2-40B4-BE49-F238E27FC236}">
                <a16:creationId xmlns:a16="http://schemas.microsoft.com/office/drawing/2014/main" id="{7641316C-574C-B22E-C6AA-66381198FC36}"/>
              </a:ext>
            </a:extLst>
          </p:cNvPr>
          <p:cNvSpPr txBox="1"/>
          <p:nvPr/>
        </p:nvSpPr>
        <p:spPr>
          <a:xfrm>
            <a:off x="8407400" y="3098800"/>
            <a:ext cx="1041400" cy="152400"/>
          </a:xfrm>
          <a:prstGeom prst="rect">
            <a:avLst/>
          </a:prstGeom>
          <a:noFill/>
        </p:spPr>
        <p:txBody>
          <a:bodyPr vert="horz" wrap="square" lIns="0" tIns="0" rIns="0" bIns="0" rtlCol="0" anchor="t">
            <a:noAutofit/>
          </a:bodyPr>
          <a:lstStyle/>
          <a:p>
            <a:r>
              <a:rPr lang="en-IN" sz="750">
                <a:solidFill>
                  <a:srgbClr val="78849A"/>
                </a:solidFill>
                <a:latin typeface="Segoe UI" panose="020B0502040204020203" pitchFamily="34" charset="0"/>
              </a:rPr>
              <a:t>symbols</a:t>
            </a:r>
          </a:p>
        </p:txBody>
      </p:sp>
      <p:sp>
        <p:nvSpPr>
          <p:cNvPr id="72" name="TextBox 71">
            <a:extLst>
              <a:ext uri="{FF2B5EF4-FFF2-40B4-BE49-F238E27FC236}">
                <a16:creationId xmlns:a16="http://schemas.microsoft.com/office/drawing/2014/main" id="{1A44EA2B-669C-8F3C-577E-89B394598662}"/>
              </a:ext>
            </a:extLst>
          </p:cNvPr>
          <p:cNvSpPr txBox="1"/>
          <p:nvPr/>
        </p:nvSpPr>
        <p:spPr>
          <a:xfrm>
            <a:off x="9474200" y="2743200"/>
            <a:ext cx="1041400" cy="330200"/>
          </a:xfrm>
          <a:prstGeom prst="rect">
            <a:avLst/>
          </a:prstGeom>
          <a:noFill/>
        </p:spPr>
        <p:txBody>
          <a:bodyPr vert="horz" wrap="square" lIns="0" tIns="0" rIns="0" bIns="0" rtlCol="0" anchor="t">
            <a:noAutofit/>
          </a:bodyPr>
          <a:lstStyle/>
          <a:p>
            <a:r>
              <a:rPr lang="en-IN" sz="2000">
                <a:solidFill>
                  <a:srgbClr val="F1F4F9"/>
                </a:solidFill>
                <a:latin typeface="Segoe UI Semibold" panose="020B0702040204020203" pitchFamily="34" charset="0"/>
              </a:rPr>
              <a:t>42</a:t>
            </a:r>
          </a:p>
        </p:txBody>
      </p:sp>
      <p:sp>
        <p:nvSpPr>
          <p:cNvPr id="73" name="TextBox 72">
            <a:extLst>
              <a:ext uri="{FF2B5EF4-FFF2-40B4-BE49-F238E27FC236}">
                <a16:creationId xmlns:a16="http://schemas.microsoft.com/office/drawing/2014/main" id="{395EBDC2-C9E3-A8CD-B1E8-47100933F1D4}"/>
              </a:ext>
            </a:extLst>
          </p:cNvPr>
          <p:cNvSpPr txBox="1"/>
          <p:nvPr/>
        </p:nvSpPr>
        <p:spPr>
          <a:xfrm>
            <a:off x="9474200" y="3098800"/>
            <a:ext cx="1041400" cy="152400"/>
          </a:xfrm>
          <a:prstGeom prst="rect">
            <a:avLst/>
          </a:prstGeom>
          <a:noFill/>
        </p:spPr>
        <p:txBody>
          <a:bodyPr vert="horz" wrap="square" lIns="0" tIns="0" rIns="0" bIns="0" rtlCol="0" anchor="t">
            <a:noAutofit/>
          </a:bodyPr>
          <a:lstStyle/>
          <a:p>
            <a:r>
              <a:rPr lang="en-IN" sz="750">
                <a:solidFill>
                  <a:srgbClr val="78849A"/>
                </a:solidFill>
                <a:latin typeface="Segoe UI" panose="020B0502040204020203" pitchFamily="34" charset="0"/>
              </a:rPr>
              <a:t>relationships</a:t>
            </a:r>
          </a:p>
        </p:txBody>
      </p:sp>
      <p:sp>
        <p:nvSpPr>
          <p:cNvPr id="74" name="TextBox 73">
            <a:extLst>
              <a:ext uri="{FF2B5EF4-FFF2-40B4-BE49-F238E27FC236}">
                <a16:creationId xmlns:a16="http://schemas.microsoft.com/office/drawing/2014/main" id="{49979BE7-1EF5-E053-961A-8EF2D6AB705E}"/>
              </a:ext>
            </a:extLst>
          </p:cNvPr>
          <p:cNvSpPr txBox="1"/>
          <p:nvPr/>
        </p:nvSpPr>
        <p:spPr>
          <a:xfrm>
            <a:off x="10541000" y="2743200"/>
            <a:ext cx="1041400" cy="330200"/>
          </a:xfrm>
          <a:prstGeom prst="rect">
            <a:avLst/>
          </a:prstGeom>
          <a:noFill/>
        </p:spPr>
        <p:txBody>
          <a:bodyPr vert="horz" wrap="square" lIns="0" tIns="0" rIns="0" bIns="0" rtlCol="0" anchor="t">
            <a:noAutofit/>
          </a:bodyPr>
          <a:lstStyle/>
          <a:p>
            <a:r>
              <a:rPr lang="en-IN" sz="2000">
                <a:solidFill>
                  <a:srgbClr val="F1F4F9"/>
                </a:solidFill>
                <a:latin typeface="Segoe UI Semibold" panose="020B0702040204020203" pitchFamily="34" charset="0"/>
              </a:rPr>
              <a:t>4 / 10</a:t>
            </a:r>
          </a:p>
        </p:txBody>
      </p:sp>
      <p:sp>
        <p:nvSpPr>
          <p:cNvPr id="75" name="TextBox 74">
            <a:extLst>
              <a:ext uri="{FF2B5EF4-FFF2-40B4-BE49-F238E27FC236}">
                <a16:creationId xmlns:a16="http://schemas.microsoft.com/office/drawing/2014/main" id="{D58FD1EA-D02B-347B-6517-61D7130E6673}"/>
              </a:ext>
            </a:extLst>
          </p:cNvPr>
          <p:cNvSpPr txBox="1"/>
          <p:nvPr/>
        </p:nvSpPr>
        <p:spPr>
          <a:xfrm>
            <a:off x="10541000" y="3098800"/>
            <a:ext cx="1041400" cy="152400"/>
          </a:xfrm>
          <a:prstGeom prst="rect">
            <a:avLst/>
          </a:prstGeom>
          <a:noFill/>
        </p:spPr>
        <p:txBody>
          <a:bodyPr vert="horz" wrap="square" lIns="0" tIns="0" rIns="0" bIns="0" rtlCol="0" anchor="t">
            <a:noAutofit/>
          </a:bodyPr>
          <a:lstStyle/>
          <a:p>
            <a:r>
              <a:rPr lang="en-IN" sz="750">
                <a:solidFill>
                  <a:srgbClr val="78849A"/>
                </a:solidFill>
                <a:latin typeface="Segoe UI" panose="020B0502040204020203" pitchFamily="34" charset="0"/>
              </a:rPr>
              <a:t>files analysed</a:t>
            </a:r>
          </a:p>
        </p:txBody>
      </p:sp>
      <p:cxnSp>
        <p:nvCxnSpPr>
          <p:cNvPr id="76" name="Straight Connector 75">
            <a:extLst>
              <a:ext uri="{FF2B5EF4-FFF2-40B4-BE49-F238E27FC236}">
                <a16:creationId xmlns:a16="http://schemas.microsoft.com/office/drawing/2014/main" id="{3A58D7D6-E8CD-ECE3-F8FE-168506D5E3E3}"/>
              </a:ext>
            </a:extLst>
          </p:cNvPr>
          <p:cNvCxnSpPr/>
          <p:nvPr/>
        </p:nvCxnSpPr>
        <p:spPr>
          <a:xfrm>
            <a:off x="8407400" y="3352800"/>
            <a:ext cx="30734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A09354EF-15B6-5B6D-E527-BC03B214E7D9}"/>
              </a:ext>
            </a:extLst>
          </p:cNvPr>
          <p:cNvSpPr txBox="1"/>
          <p:nvPr/>
        </p:nvSpPr>
        <p:spPr>
          <a:xfrm>
            <a:off x="8407400" y="3454400"/>
            <a:ext cx="3098800" cy="1524000"/>
          </a:xfrm>
          <a:prstGeom prst="rect">
            <a:avLst/>
          </a:prstGeom>
          <a:noFill/>
        </p:spPr>
        <p:txBody>
          <a:bodyPr vert="horz" wrap="square" lIns="0" tIns="0" rIns="0" bIns="0" rtlCol="0">
            <a:noAutofit/>
          </a:bodyPr>
          <a:lstStyle/>
          <a:p>
            <a:pPr marL="139700" indent="-139700">
              <a:spcAft>
                <a:spcPts val="600"/>
              </a:spcAft>
              <a:buClr>
                <a:srgbClr val="8B9BFF"/>
              </a:buClr>
              <a:buSzPct val="90000"/>
              <a:buFont typeface="+mj-lt"/>
              <a:buChar char="▪"/>
            </a:pPr>
            <a:r>
              <a:rPr lang="en-IN" sz="900">
                <a:solidFill>
                  <a:srgbClr val="F1F4F9"/>
                </a:solidFill>
                <a:latin typeface="Segoe UI Semibold" panose="020B0702040204020203" pitchFamily="34" charset="0"/>
              </a:rPr>
              <a:t>Unsupported 3:</a:t>
            </a:r>
            <a:r>
              <a:rPr lang="en-IN" sz="900">
                <a:solidFill>
                  <a:srgbClr val="B3BDCF"/>
                </a:solidFill>
                <a:latin typeface="Segoe UI" panose="020B0502040204020203" pitchFamily="34" charset="0"/>
              </a:rPr>
              <a:t>  Markdown, CSV, no-language file</a:t>
            </a:r>
          </a:p>
          <a:p>
            <a:pPr marL="139700" indent="-139700">
              <a:spcAft>
                <a:spcPts val="600"/>
              </a:spcAft>
              <a:buClr>
                <a:srgbClr val="8B9BFF"/>
              </a:buClr>
              <a:buSzPct val="90000"/>
              <a:buFont typeface="+mj-lt"/>
              <a:buChar char="▪"/>
            </a:pPr>
            <a:r>
              <a:rPr lang="en-IN" sz="900">
                <a:solidFill>
                  <a:srgbClr val="F1F4F9"/>
                </a:solidFill>
                <a:latin typeface="Segoe UI Semibold" panose="020B0702040204020203" pitchFamily="34" charset="0"/>
              </a:rPr>
              <a:t>Failed 3:</a:t>
            </a:r>
            <a:r>
              <a:rPr lang="en-IN" sz="900">
                <a:solidFill>
                  <a:srgbClr val="B3BDCF"/>
                </a:solidFill>
                <a:latin typeface="Segoe UI" panose="020B0502040204020203" pitchFamily="34" charset="0"/>
              </a:rPr>
              <a:t>  hash drift, over 1 MB, syntax error</a:t>
            </a:r>
          </a:p>
          <a:p>
            <a:pPr marL="139700" indent="-139700">
              <a:spcAft>
                <a:spcPts val="600"/>
              </a:spcAft>
              <a:buClr>
                <a:srgbClr val="8B9BFF"/>
              </a:buClr>
              <a:buSzPct val="90000"/>
              <a:buFont typeface="+mj-lt"/>
              <a:buChar char="▪"/>
            </a:pPr>
            <a:r>
              <a:rPr lang="en-IN" sz="900">
                <a:solidFill>
                  <a:srgbClr val="F1F4F9"/>
                </a:solidFill>
                <a:latin typeface="Segoe UI Semibold" panose="020B0702040204020203" pitchFamily="34" charset="0"/>
              </a:rPr>
              <a:t>Relationships:</a:t>
            </a:r>
            <a:r>
              <a:rPr lang="en-IN" sz="900">
                <a:solidFill>
                  <a:srgbClr val="B3BDCF"/>
                </a:solidFill>
                <a:latin typeface="Segoe UI" panose="020B0502040204020203" pitchFamily="34" charset="0"/>
              </a:rPr>
              <a:t>  33 contains, 5 imports, 3 extends, 1 implements</a:t>
            </a:r>
          </a:p>
          <a:p>
            <a:pPr marL="139700" indent="-139700">
              <a:spcAft>
                <a:spcPts val="600"/>
              </a:spcAft>
              <a:buClr>
                <a:srgbClr val="8B9BFF"/>
              </a:buClr>
              <a:buSzPct val="90000"/>
              <a:buFont typeface="+mj-lt"/>
              <a:buChar char="▪"/>
            </a:pPr>
            <a:r>
              <a:rPr lang="en-IN" sz="900">
                <a:solidFill>
                  <a:srgbClr val="F1F4F9"/>
                </a:solidFill>
                <a:latin typeface="Segoe UI Semibold" panose="020B0702040204020203" pitchFamily="34" charset="0"/>
              </a:rPr>
              <a:t>Symbol kinds:</a:t>
            </a:r>
            <a:r>
              <a:rPr lang="en-IN" sz="900">
                <a:solidFill>
                  <a:srgbClr val="B3BDCF"/>
                </a:solidFill>
                <a:latin typeface="Segoe UI" panose="020B0502040204020203" pitchFamily="34" charset="0"/>
              </a:rPr>
              <a:t>  9 methods, 9 modules, 7 classes, 4 functions, 4 variables, 3 constants, 2 interfaces, 2 constructors, 1 enum, 1 type</a:t>
            </a:r>
          </a:p>
        </p:txBody>
      </p:sp>
      <p:sp>
        <p:nvSpPr>
          <p:cNvPr id="78" name="Rectangle: Rounded Corners 77">
            <a:extLst>
              <a:ext uri="{FF2B5EF4-FFF2-40B4-BE49-F238E27FC236}">
                <a16:creationId xmlns:a16="http://schemas.microsoft.com/office/drawing/2014/main" id="{127F0FB7-18FD-454D-45C4-27DA7605E234}"/>
              </a:ext>
            </a:extLst>
          </p:cNvPr>
          <p:cNvSpPr/>
          <p:nvPr/>
        </p:nvSpPr>
        <p:spPr>
          <a:xfrm>
            <a:off x="8407400" y="4978400"/>
            <a:ext cx="3098800" cy="1168400"/>
          </a:xfrm>
          <a:prstGeom prst="roundRect">
            <a:avLst>
              <a:gd name="adj" fmla="val 6522"/>
            </a:avLst>
          </a:prstGeom>
          <a:solidFill>
            <a:srgbClr val="33270F"/>
          </a:solidFill>
          <a:ln w="9525">
            <a:solidFill>
              <a:srgbClr val="B07A2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TextBox 78">
            <a:extLst>
              <a:ext uri="{FF2B5EF4-FFF2-40B4-BE49-F238E27FC236}">
                <a16:creationId xmlns:a16="http://schemas.microsoft.com/office/drawing/2014/main" id="{09763123-09D2-9E90-32BB-AB26A8B99A13}"/>
              </a:ext>
            </a:extLst>
          </p:cNvPr>
          <p:cNvSpPr txBox="1"/>
          <p:nvPr/>
        </p:nvSpPr>
        <p:spPr>
          <a:xfrm>
            <a:off x="8534400" y="5054600"/>
            <a:ext cx="2870200" cy="1041400"/>
          </a:xfrm>
          <a:prstGeom prst="rect">
            <a:avLst/>
          </a:prstGeom>
          <a:noFill/>
        </p:spPr>
        <p:txBody>
          <a:bodyPr vert="horz" wrap="square" lIns="0" tIns="0" rIns="0" bIns="0" rtlCol="0" anchor="ctr">
            <a:noAutofit/>
          </a:bodyPr>
          <a:lstStyle/>
          <a:p>
            <a:r>
              <a:rPr lang="en-US" sz="800">
                <a:solidFill>
                  <a:srgbClr val="B3BDCF"/>
                </a:solidFill>
                <a:latin typeface="Segoe UI" panose="020B0502040204020203" pitchFamily="34" charset="0"/>
              </a:rPr>
              <a:t>Source content for this run came from an in-memory test provider. Production source ingestion is not built yet; the app shows a readiness message instead of fake analysis.</a:t>
            </a:r>
            <a:endParaRPr lang="en-IN" sz="800">
              <a:solidFill>
                <a:srgbClr val="B3BDCF"/>
              </a:solidFill>
              <a:latin typeface="Segoe UI" panose="020B0502040204020203" pitchFamily="34" charset="0"/>
            </a:endParaRPr>
          </a:p>
        </p:txBody>
      </p:sp>
    </p:spTree>
    <p:extLst>
      <p:ext uri="{BB962C8B-B14F-4D97-AF65-F5344CB8AC3E}">
        <p14:creationId xmlns:p14="http://schemas.microsoft.com/office/powerpoint/2010/main" val="876221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3183BB-86E4-090B-F185-C7AF09DAD232}"/>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15  ·  SECURITY AND AUTHORIZATION</a:t>
            </a:r>
          </a:p>
        </p:txBody>
      </p:sp>
      <p:sp>
        <p:nvSpPr>
          <p:cNvPr id="3" name="TextBox 2">
            <a:extLst>
              <a:ext uri="{FF2B5EF4-FFF2-40B4-BE49-F238E27FC236}">
                <a16:creationId xmlns:a16="http://schemas.microsoft.com/office/drawing/2014/main" id="{E548DDE2-19B9-DD97-8AC3-84628EE39F1C}"/>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Security and Authorization</a:t>
            </a:r>
          </a:p>
        </p:txBody>
      </p:sp>
      <p:sp>
        <p:nvSpPr>
          <p:cNvPr id="4" name="TextBox 3">
            <a:extLst>
              <a:ext uri="{FF2B5EF4-FFF2-40B4-BE49-F238E27FC236}">
                <a16:creationId xmlns:a16="http://schemas.microsoft.com/office/drawing/2014/main" id="{DD1BADF3-300D-AB99-39DE-7DE2895C93F4}"/>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Authorization lives in the database; the application re-checks it but is never the only guard.</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6562F640-616C-08B3-5373-BE3319BA63F1}"/>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19602EB-9237-5B75-4F19-B1FB4640F7BA}"/>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9D8C4179-B377-9DA1-2F43-C3D8316000BE}"/>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15 / 20</a:t>
            </a:r>
          </a:p>
        </p:txBody>
      </p:sp>
      <p:sp>
        <p:nvSpPr>
          <p:cNvPr id="8" name="Rectangle: Rounded Corners 7">
            <a:extLst>
              <a:ext uri="{FF2B5EF4-FFF2-40B4-BE49-F238E27FC236}">
                <a16:creationId xmlns:a16="http://schemas.microsoft.com/office/drawing/2014/main" id="{9CA903D8-4616-1803-A376-D4DA78E511F2}"/>
              </a:ext>
            </a:extLst>
          </p:cNvPr>
          <p:cNvSpPr/>
          <p:nvPr/>
        </p:nvSpPr>
        <p:spPr>
          <a:xfrm>
            <a:off x="508000" y="1168400"/>
            <a:ext cx="4191000" cy="5105400"/>
          </a:xfrm>
          <a:prstGeom prst="roundRect">
            <a:avLst>
              <a:gd name="adj" fmla="val 2424"/>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D5FCC02-4D47-2AC3-2E62-DE9E6EF1EA9E}"/>
              </a:ext>
            </a:extLst>
          </p:cNvPr>
          <p:cNvSpPr txBox="1"/>
          <p:nvPr/>
        </p:nvSpPr>
        <p:spPr>
          <a:xfrm>
            <a:off x="711200" y="1320800"/>
            <a:ext cx="381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REQUEST PATH</a:t>
            </a:r>
          </a:p>
        </p:txBody>
      </p:sp>
      <p:sp>
        <p:nvSpPr>
          <p:cNvPr id="10" name="Rectangle: Rounded Corners 9">
            <a:extLst>
              <a:ext uri="{FF2B5EF4-FFF2-40B4-BE49-F238E27FC236}">
                <a16:creationId xmlns:a16="http://schemas.microsoft.com/office/drawing/2014/main" id="{A97AED3C-5113-BFE7-F673-5AD2D1ABC4E7}"/>
              </a:ext>
            </a:extLst>
          </p:cNvPr>
          <p:cNvSpPr/>
          <p:nvPr/>
        </p:nvSpPr>
        <p:spPr>
          <a:xfrm>
            <a:off x="711200" y="1549400"/>
            <a:ext cx="3784600" cy="508000"/>
          </a:xfrm>
          <a:prstGeom prst="roundRect">
            <a:avLst>
              <a:gd name="adj" fmla="val 15000"/>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950">
                <a:solidFill>
                  <a:srgbClr val="F1F4F9"/>
                </a:solidFill>
                <a:latin typeface="Segoe UI Semibold" panose="020B0702040204020203" pitchFamily="34" charset="0"/>
              </a:rPr>
              <a:t>Browser</a:t>
            </a:r>
            <a:br>
              <a:rPr lang="en-US" sz="750">
                <a:solidFill>
                  <a:srgbClr val="B3BDCF"/>
                </a:solidFill>
                <a:latin typeface="Segoe UI" panose="020B0502040204020203" pitchFamily="34" charset="0"/>
              </a:rPr>
            </a:br>
            <a:r>
              <a:rPr lang="en-US" sz="750">
                <a:solidFill>
                  <a:srgbClr val="B3BDCF"/>
                </a:solidFill>
                <a:latin typeface="Segoe UI" panose="020B0502040204020203" pitchFamily="34" charset="0"/>
              </a:rPr>
              <a:t>session cookie only; no keys</a:t>
            </a:r>
            <a:endParaRPr lang="en-IN" sz="750">
              <a:solidFill>
                <a:srgbClr val="B3BDCF"/>
              </a:solidFill>
              <a:latin typeface="Segoe UI" panose="020B0502040204020203" pitchFamily="34" charset="0"/>
            </a:endParaRPr>
          </a:p>
        </p:txBody>
      </p:sp>
      <p:cxnSp>
        <p:nvCxnSpPr>
          <p:cNvPr id="11" name="Straight Connector 10">
            <a:extLst>
              <a:ext uri="{FF2B5EF4-FFF2-40B4-BE49-F238E27FC236}">
                <a16:creationId xmlns:a16="http://schemas.microsoft.com/office/drawing/2014/main" id="{5EE9BFB3-561D-FA0E-C4CF-4A1A6C5AC413}"/>
              </a:ext>
            </a:extLst>
          </p:cNvPr>
          <p:cNvCxnSpPr/>
          <p:nvPr/>
        </p:nvCxnSpPr>
        <p:spPr>
          <a:xfrm>
            <a:off x="2603500" y="2057400"/>
            <a:ext cx="0" cy="889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C5E1BA8B-7777-0E73-4366-2F5CA0509D52}"/>
              </a:ext>
            </a:extLst>
          </p:cNvPr>
          <p:cNvSpPr/>
          <p:nvPr/>
        </p:nvSpPr>
        <p:spPr>
          <a:xfrm>
            <a:off x="711200" y="2146300"/>
            <a:ext cx="3784600" cy="508000"/>
          </a:xfrm>
          <a:prstGeom prst="roundRect">
            <a:avLst>
              <a:gd name="adj" fmla="val 15000"/>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950">
                <a:solidFill>
                  <a:srgbClr val="F1F4F9"/>
                </a:solidFill>
                <a:latin typeface="Segoe UI Semibold" panose="020B0702040204020203" pitchFamily="34" charset="0"/>
              </a:rPr>
              <a:t>Proxy</a:t>
            </a:r>
            <a:br>
              <a:rPr lang="en-US" sz="750">
                <a:solidFill>
                  <a:srgbClr val="B3BDCF"/>
                </a:solidFill>
                <a:latin typeface="Segoe UI" panose="020B0502040204020203" pitchFamily="34" charset="0"/>
              </a:rPr>
            </a:br>
            <a:r>
              <a:rPr lang="en-US" sz="750">
                <a:solidFill>
                  <a:srgbClr val="B3BDCF"/>
                </a:solidFill>
                <a:latin typeface="Segoe UI" panose="020B0502040204020203" pitchFamily="34" charset="0"/>
              </a:rPr>
              <a:t>refreshes session, guards routes</a:t>
            </a:r>
            <a:endParaRPr lang="en-IN" sz="750">
              <a:solidFill>
                <a:srgbClr val="B3BDCF"/>
              </a:solidFill>
              <a:latin typeface="Segoe UI" panose="020B0502040204020203" pitchFamily="34" charset="0"/>
            </a:endParaRPr>
          </a:p>
        </p:txBody>
      </p:sp>
      <p:cxnSp>
        <p:nvCxnSpPr>
          <p:cNvPr id="13" name="Straight Connector 12">
            <a:extLst>
              <a:ext uri="{FF2B5EF4-FFF2-40B4-BE49-F238E27FC236}">
                <a16:creationId xmlns:a16="http://schemas.microsoft.com/office/drawing/2014/main" id="{281E2FA5-9684-CC48-EC0E-0F9CE3AC9E06}"/>
              </a:ext>
            </a:extLst>
          </p:cNvPr>
          <p:cNvCxnSpPr/>
          <p:nvPr/>
        </p:nvCxnSpPr>
        <p:spPr>
          <a:xfrm>
            <a:off x="2603500" y="2654300"/>
            <a:ext cx="0" cy="889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5E8B1A99-8C30-F37F-724F-7F1DE06AFB6B}"/>
              </a:ext>
            </a:extLst>
          </p:cNvPr>
          <p:cNvSpPr/>
          <p:nvPr/>
        </p:nvSpPr>
        <p:spPr>
          <a:xfrm>
            <a:off x="711200" y="2743200"/>
            <a:ext cx="3784600" cy="508000"/>
          </a:xfrm>
          <a:prstGeom prst="roundRect">
            <a:avLst>
              <a:gd name="adj" fmla="val 15000"/>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950">
                <a:solidFill>
                  <a:srgbClr val="F1F4F9"/>
                </a:solidFill>
                <a:latin typeface="Segoe UI Semibold" panose="020B0702040204020203" pitchFamily="34" charset="0"/>
              </a:rPr>
              <a:t>Server Component / Action</a:t>
            </a:r>
            <a:br>
              <a:rPr lang="en-IN" sz="750">
                <a:solidFill>
                  <a:srgbClr val="B3BDCF"/>
                </a:solidFill>
                <a:latin typeface="Segoe UI" panose="020B0502040204020203" pitchFamily="34" charset="0"/>
              </a:rPr>
            </a:br>
            <a:r>
              <a:rPr lang="en-IN" sz="750">
                <a:solidFill>
                  <a:srgbClr val="B3BDCF"/>
                </a:solidFill>
                <a:latin typeface="Segoe UI" panose="020B0502040204020203" pitchFamily="34" charset="0"/>
              </a:rPr>
              <a:t>Zod validation, role check (UI hint)</a:t>
            </a:r>
          </a:p>
        </p:txBody>
      </p:sp>
      <p:cxnSp>
        <p:nvCxnSpPr>
          <p:cNvPr id="15" name="Straight Connector 14">
            <a:extLst>
              <a:ext uri="{FF2B5EF4-FFF2-40B4-BE49-F238E27FC236}">
                <a16:creationId xmlns:a16="http://schemas.microsoft.com/office/drawing/2014/main" id="{765DA95E-AA20-3344-D3E5-FE503337559E}"/>
              </a:ext>
            </a:extLst>
          </p:cNvPr>
          <p:cNvCxnSpPr/>
          <p:nvPr/>
        </p:nvCxnSpPr>
        <p:spPr>
          <a:xfrm>
            <a:off x="2603500" y="3251200"/>
            <a:ext cx="0" cy="889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A8AAECF7-05D6-17AC-66A5-D44CED2A5C90}"/>
              </a:ext>
            </a:extLst>
          </p:cNvPr>
          <p:cNvSpPr/>
          <p:nvPr/>
        </p:nvSpPr>
        <p:spPr>
          <a:xfrm>
            <a:off x="711200" y="3340100"/>
            <a:ext cx="3784600" cy="508000"/>
          </a:xfrm>
          <a:prstGeom prst="roundRect">
            <a:avLst>
              <a:gd name="adj" fmla="val 15000"/>
            </a:avLst>
          </a:prstGeom>
          <a:solidFill>
            <a:srgbClr val="16213A"/>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950">
                <a:solidFill>
                  <a:srgbClr val="F1F4F9"/>
                </a:solidFill>
                <a:latin typeface="Segoe UI Semibold" panose="020B0702040204020203" pitchFamily="34" charset="0"/>
              </a:rPr>
              <a:t>PostgREST with user JWT</a:t>
            </a:r>
            <a:br>
              <a:rPr lang="en-US" sz="750">
                <a:solidFill>
                  <a:srgbClr val="B3BDCF"/>
                </a:solidFill>
                <a:latin typeface="Segoe UI" panose="020B0502040204020203" pitchFamily="34" charset="0"/>
              </a:rPr>
            </a:br>
            <a:r>
              <a:rPr lang="en-US" sz="750">
                <a:solidFill>
                  <a:srgbClr val="B3BDCF"/>
                </a:solidFill>
                <a:latin typeface="Segoe UI" panose="020B0502040204020203" pitchFamily="34" charset="0"/>
              </a:rPr>
              <a:t>every query runs as the user</a:t>
            </a:r>
            <a:endParaRPr lang="en-IN" sz="750">
              <a:solidFill>
                <a:srgbClr val="B3BDCF"/>
              </a:solidFill>
              <a:latin typeface="Segoe UI" panose="020B0502040204020203" pitchFamily="34" charset="0"/>
            </a:endParaRPr>
          </a:p>
        </p:txBody>
      </p:sp>
      <p:cxnSp>
        <p:nvCxnSpPr>
          <p:cNvPr id="17" name="Straight Connector 16">
            <a:extLst>
              <a:ext uri="{FF2B5EF4-FFF2-40B4-BE49-F238E27FC236}">
                <a16:creationId xmlns:a16="http://schemas.microsoft.com/office/drawing/2014/main" id="{BE82B5D7-BCB7-5D0A-A8FB-003CB0AC0C69}"/>
              </a:ext>
            </a:extLst>
          </p:cNvPr>
          <p:cNvCxnSpPr/>
          <p:nvPr/>
        </p:nvCxnSpPr>
        <p:spPr>
          <a:xfrm>
            <a:off x="2603500" y="3848100"/>
            <a:ext cx="0" cy="889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0378572F-935B-D583-E8A1-D48620B794AD}"/>
              </a:ext>
            </a:extLst>
          </p:cNvPr>
          <p:cNvSpPr/>
          <p:nvPr/>
        </p:nvSpPr>
        <p:spPr>
          <a:xfrm>
            <a:off x="711200" y="3937000"/>
            <a:ext cx="3784600" cy="508000"/>
          </a:xfrm>
          <a:prstGeom prst="roundRect">
            <a:avLst>
              <a:gd name="adj" fmla="val 15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950">
                <a:solidFill>
                  <a:srgbClr val="F1F4F9"/>
                </a:solidFill>
                <a:latin typeface="Segoe UI Semibold" panose="020B0702040204020203" pitchFamily="34" charset="0"/>
              </a:rPr>
              <a:t>Row-Level Security</a:t>
            </a:r>
            <a:br>
              <a:rPr lang="en-US" sz="750">
                <a:solidFill>
                  <a:srgbClr val="B3BDCF"/>
                </a:solidFill>
                <a:latin typeface="Segoe UI" panose="020B0502040204020203" pitchFamily="34" charset="0"/>
              </a:rPr>
            </a:br>
            <a:r>
              <a:rPr lang="en-US" sz="750">
                <a:solidFill>
                  <a:srgbClr val="B3BDCF"/>
                </a:solidFill>
                <a:latin typeface="Segoe UI" panose="020B0502040204020203" pitchFamily="34" charset="0"/>
              </a:rPr>
              <a:t>policies call has_org_role / is_org_member</a:t>
            </a:r>
            <a:endParaRPr lang="en-IN" sz="750">
              <a:solidFill>
                <a:srgbClr val="B3BDCF"/>
              </a:solidFill>
              <a:latin typeface="Segoe UI" panose="020B0502040204020203" pitchFamily="34" charset="0"/>
            </a:endParaRPr>
          </a:p>
        </p:txBody>
      </p:sp>
      <p:cxnSp>
        <p:nvCxnSpPr>
          <p:cNvPr id="19" name="Straight Connector 18">
            <a:extLst>
              <a:ext uri="{FF2B5EF4-FFF2-40B4-BE49-F238E27FC236}">
                <a16:creationId xmlns:a16="http://schemas.microsoft.com/office/drawing/2014/main" id="{3CE3BC66-917B-3B60-CC26-0359E1F8D106}"/>
              </a:ext>
            </a:extLst>
          </p:cNvPr>
          <p:cNvCxnSpPr/>
          <p:nvPr/>
        </p:nvCxnSpPr>
        <p:spPr>
          <a:xfrm>
            <a:off x="2603500" y="4445000"/>
            <a:ext cx="0" cy="889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01A915BF-7E61-FBAA-592B-1D1AEB6FD24E}"/>
              </a:ext>
            </a:extLst>
          </p:cNvPr>
          <p:cNvSpPr/>
          <p:nvPr/>
        </p:nvSpPr>
        <p:spPr>
          <a:xfrm>
            <a:off x="711200" y="4533900"/>
            <a:ext cx="3784600" cy="508000"/>
          </a:xfrm>
          <a:prstGeom prst="roundRect">
            <a:avLst>
              <a:gd name="adj" fmla="val 15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950">
                <a:solidFill>
                  <a:srgbClr val="F1F4F9"/>
                </a:solidFill>
                <a:latin typeface="Segoe UI Semibold" panose="020B0702040204020203" pitchFamily="34" charset="0"/>
              </a:rPr>
              <a:t>SECURITY DEFINER functions</a:t>
            </a:r>
            <a:br>
              <a:rPr lang="en-US" sz="750">
                <a:solidFill>
                  <a:srgbClr val="B3BDCF"/>
                </a:solidFill>
                <a:latin typeface="Segoe UI" panose="020B0502040204020203" pitchFamily="34" charset="0"/>
              </a:rPr>
            </a:br>
            <a:r>
              <a:rPr lang="en-US" sz="750">
                <a:solidFill>
                  <a:srgbClr val="B3BDCF"/>
                </a:solidFill>
                <a:latin typeface="Segoe UI" panose="020B0502040204020203" pitchFamily="34" charset="0"/>
              </a:rPr>
              <a:t>lifecycle and persist; search_path = ''</a:t>
            </a:r>
            <a:endParaRPr lang="en-IN" sz="750">
              <a:solidFill>
                <a:srgbClr val="B3BDCF"/>
              </a:solidFill>
              <a:latin typeface="Segoe UI" panose="020B0502040204020203" pitchFamily="34" charset="0"/>
            </a:endParaRPr>
          </a:p>
        </p:txBody>
      </p:sp>
      <p:cxnSp>
        <p:nvCxnSpPr>
          <p:cNvPr id="21" name="Straight Connector 20">
            <a:extLst>
              <a:ext uri="{FF2B5EF4-FFF2-40B4-BE49-F238E27FC236}">
                <a16:creationId xmlns:a16="http://schemas.microsoft.com/office/drawing/2014/main" id="{1BE8A27E-18A8-0F1D-BBDD-7C19E32F4E7D}"/>
              </a:ext>
            </a:extLst>
          </p:cNvPr>
          <p:cNvCxnSpPr/>
          <p:nvPr/>
        </p:nvCxnSpPr>
        <p:spPr>
          <a:xfrm>
            <a:off x="2603500" y="5041900"/>
            <a:ext cx="0" cy="88900"/>
          </a:xfrm>
          <a:prstGeom prst="line">
            <a:avLst/>
          </a:prstGeom>
          <a:ln w="15875">
            <a:solidFill>
              <a:srgbClr val="8B9BFF"/>
            </a:solidFill>
            <a:tailEnd type="triangle" w="sm" len="sm"/>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0D5C9A84-6C97-98CC-851C-13F56619B016}"/>
              </a:ext>
            </a:extLst>
          </p:cNvPr>
          <p:cNvSpPr/>
          <p:nvPr/>
        </p:nvSpPr>
        <p:spPr>
          <a:xfrm>
            <a:off x="711200" y="5130800"/>
            <a:ext cx="3784600" cy="508000"/>
          </a:xfrm>
          <a:prstGeom prst="roundRect">
            <a:avLst>
              <a:gd name="adj" fmla="val 15000"/>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950">
                <a:solidFill>
                  <a:srgbClr val="F1F4F9"/>
                </a:solidFill>
                <a:latin typeface="Segoe UI Semibold" panose="020B0702040204020203" pitchFamily="34" charset="0"/>
              </a:rPr>
              <a:t>Triggers</a:t>
            </a:r>
            <a:br>
              <a:rPr lang="en-US" sz="750">
                <a:solidFill>
                  <a:srgbClr val="B3BDCF"/>
                </a:solidFill>
                <a:latin typeface="Segoe UI" panose="020B0502040204020203" pitchFamily="34" charset="0"/>
              </a:rPr>
            </a:br>
            <a:r>
              <a:rPr lang="en-US" sz="750">
                <a:solidFill>
                  <a:srgbClr val="B3BDCF"/>
                </a:solidFill>
                <a:latin typeface="Segoe UI" panose="020B0502040204020203" pitchFamily="34" charset="0"/>
              </a:rPr>
              <a:t>status transitions, sealed COMPLETED</a:t>
            </a:r>
            <a:endParaRPr lang="en-IN" sz="750">
              <a:solidFill>
                <a:srgbClr val="B3BDCF"/>
              </a:solidFill>
              <a:latin typeface="Segoe UI" panose="020B0502040204020203" pitchFamily="34" charset="0"/>
            </a:endParaRPr>
          </a:p>
        </p:txBody>
      </p:sp>
      <p:sp>
        <p:nvSpPr>
          <p:cNvPr id="23" name="TextBox 22">
            <a:extLst>
              <a:ext uri="{FF2B5EF4-FFF2-40B4-BE49-F238E27FC236}">
                <a16:creationId xmlns:a16="http://schemas.microsoft.com/office/drawing/2014/main" id="{6618F2D2-6342-B2B8-79B9-5A1AC3925085}"/>
              </a:ext>
            </a:extLst>
          </p:cNvPr>
          <p:cNvSpPr txBox="1"/>
          <p:nvPr/>
        </p:nvSpPr>
        <p:spPr>
          <a:xfrm>
            <a:off x="711200" y="5765800"/>
            <a:ext cx="3810000" cy="381000"/>
          </a:xfrm>
          <a:prstGeom prst="rect">
            <a:avLst/>
          </a:prstGeom>
          <a:noFill/>
        </p:spPr>
        <p:txBody>
          <a:bodyPr vert="horz" wrap="square" lIns="0" tIns="0" rIns="0" bIns="0" rtlCol="0" anchor="t">
            <a:noAutofit/>
          </a:bodyPr>
          <a:lstStyle/>
          <a:p>
            <a:r>
              <a:rPr lang="en-US" sz="800">
                <a:solidFill>
                  <a:srgbClr val="3CCF8E"/>
                </a:solidFill>
                <a:latin typeface="Segoe UI" panose="020B0502040204020203" pitchFamily="34" charset="0"/>
              </a:rPr>
              <a:t>Green: enforced inside PostgreSQL — holds even if application code is wrong.</a:t>
            </a:r>
            <a:endParaRPr lang="en-IN" sz="800">
              <a:solidFill>
                <a:srgbClr val="3CCF8E"/>
              </a:solidFill>
              <a:latin typeface="Segoe UI" panose="020B0502040204020203" pitchFamily="34" charset="0"/>
            </a:endParaRPr>
          </a:p>
        </p:txBody>
      </p:sp>
      <p:sp>
        <p:nvSpPr>
          <p:cNvPr id="24" name="Rectangle 23">
            <a:extLst>
              <a:ext uri="{FF2B5EF4-FFF2-40B4-BE49-F238E27FC236}">
                <a16:creationId xmlns:a16="http://schemas.microsoft.com/office/drawing/2014/main" id="{504FBA36-EF05-E50F-203A-FB3C6CCCEFFD}"/>
              </a:ext>
            </a:extLst>
          </p:cNvPr>
          <p:cNvSpPr/>
          <p:nvPr/>
        </p:nvSpPr>
        <p:spPr>
          <a:xfrm>
            <a:off x="4902200" y="1168400"/>
            <a:ext cx="6781800" cy="279400"/>
          </a:xfrm>
          <a:prstGeom prst="rect">
            <a:avLst/>
          </a:prstGeom>
          <a:solidFill>
            <a:srgbClr val="1C29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9A500D41-D8C6-8B43-AC16-03EF3E6C02C1}"/>
              </a:ext>
            </a:extLst>
          </p:cNvPr>
          <p:cNvSpPr/>
          <p:nvPr/>
        </p:nvSpPr>
        <p:spPr>
          <a:xfrm>
            <a:off x="4902200" y="1447800"/>
            <a:ext cx="6781800" cy="3810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C2848B5B-5959-ADDA-D101-BA66DC4528B2}"/>
              </a:ext>
            </a:extLst>
          </p:cNvPr>
          <p:cNvSpPr/>
          <p:nvPr/>
        </p:nvSpPr>
        <p:spPr>
          <a:xfrm>
            <a:off x="4902200" y="1828800"/>
            <a:ext cx="6781800" cy="381000"/>
          </a:xfrm>
          <a:prstGeom prst="rect">
            <a:avLst/>
          </a:prstGeom>
          <a:solidFill>
            <a:srgbClr val="0E16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7A7409A2-FA44-8383-B392-77FAA4FA2A6A}"/>
              </a:ext>
            </a:extLst>
          </p:cNvPr>
          <p:cNvSpPr/>
          <p:nvPr/>
        </p:nvSpPr>
        <p:spPr>
          <a:xfrm>
            <a:off x="4902200" y="2209800"/>
            <a:ext cx="6781800" cy="3810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4CABC35D-0DE2-C893-6702-42352BD68E09}"/>
              </a:ext>
            </a:extLst>
          </p:cNvPr>
          <p:cNvSpPr/>
          <p:nvPr/>
        </p:nvSpPr>
        <p:spPr>
          <a:xfrm>
            <a:off x="4902200" y="2590800"/>
            <a:ext cx="6781800" cy="381000"/>
          </a:xfrm>
          <a:prstGeom prst="rect">
            <a:avLst/>
          </a:prstGeom>
          <a:solidFill>
            <a:srgbClr val="0E16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8745D714-73D6-5303-B604-DF81D0E2EDE4}"/>
              </a:ext>
            </a:extLst>
          </p:cNvPr>
          <p:cNvSpPr/>
          <p:nvPr/>
        </p:nvSpPr>
        <p:spPr>
          <a:xfrm>
            <a:off x="4902200" y="2971800"/>
            <a:ext cx="6781800" cy="3810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D00EE5C5-358D-0B42-3151-26AB50817CFD}"/>
              </a:ext>
            </a:extLst>
          </p:cNvPr>
          <p:cNvSpPr/>
          <p:nvPr/>
        </p:nvSpPr>
        <p:spPr>
          <a:xfrm>
            <a:off x="4902200" y="1168400"/>
            <a:ext cx="6781800" cy="2184400"/>
          </a:xfrm>
          <a:prstGeom prst="roundRect">
            <a:avLst>
              <a:gd name="adj" fmla="val 2326"/>
            </a:avLst>
          </a:prstGeom>
          <a:noFill/>
          <a:ln w="9525" cap="flat" cmpd="sng" algn="ctr">
            <a:solidFill>
              <a:srgbClr val="25314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E46CE5DF-91CE-5BA4-39AB-236082A55137}"/>
              </a:ext>
            </a:extLst>
          </p:cNvPr>
          <p:cNvSpPr txBox="1"/>
          <p:nvPr/>
        </p:nvSpPr>
        <p:spPr>
          <a:xfrm>
            <a:off x="5003800" y="1257300"/>
            <a:ext cx="36322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CAPABILITY</a:t>
            </a:r>
          </a:p>
        </p:txBody>
      </p:sp>
      <p:sp>
        <p:nvSpPr>
          <p:cNvPr id="32" name="TextBox 31">
            <a:extLst>
              <a:ext uri="{FF2B5EF4-FFF2-40B4-BE49-F238E27FC236}">
                <a16:creationId xmlns:a16="http://schemas.microsoft.com/office/drawing/2014/main" id="{6642FCE3-B394-6EE4-CB00-F484E7046B66}"/>
              </a:ext>
            </a:extLst>
          </p:cNvPr>
          <p:cNvSpPr txBox="1"/>
          <p:nvPr/>
        </p:nvSpPr>
        <p:spPr>
          <a:xfrm>
            <a:off x="8788400" y="1257300"/>
            <a:ext cx="5842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OWNER</a:t>
            </a:r>
          </a:p>
        </p:txBody>
      </p:sp>
      <p:sp>
        <p:nvSpPr>
          <p:cNvPr id="33" name="TextBox 32">
            <a:extLst>
              <a:ext uri="{FF2B5EF4-FFF2-40B4-BE49-F238E27FC236}">
                <a16:creationId xmlns:a16="http://schemas.microsoft.com/office/drawing/2014/main" id="{E2163BCE-1F20-F8CC-4D1E-87C874483D0F}"/>
              </a:ext>
            </a:extLst>
          </p:cNvPr>
          <p:cNvSpPr txBox="1"/>
          <p:nvPr/>
        </p:nvSpPr>
        <p:spPr>
          <a:xfrm>
            <a:off x="9525000" y="1257300"/>
            <a:ext cx="5842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ADMIN</a:t>
            </a:r>
          </a:p>
        </p:txBody>
      </p:sp>
      <p:sp>
        <p:nvSpPr>
          <p:cNvPr id="34" name="TextBox 33">
            <a:extLst>
              <a:ext uri="{FF2B5EF4-FFF2-40B4-BE49-F238E27FC236}">
                <a16:creationId xmlns:a16="http://schemas.microsoft.com/office/drawing/2014/main" id="{9ADA4E7A-C646-07DE-C082-7B1E8F66484D}"/>
              </a:ext>
            </a:extLst>
          </p:cNvPr>
          <p:cNvSpPr txBox="1"/>
          <p:nvPr/>
        </p:nvSpPr>
        <p:spPr>
          <a:xfrm>
            <a:off x="10261600" y="1257300"/>
            <a:ext cx="13716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MEMBER</a:t>
            </a:r>
          </a:p>
        </p:txBody>
      </p:sp>
      <p:sp>
        <p:nvSpPr>
          <p:cNvPr id="35" name="TextBox 34">
            <a:extLst>
              <a:ext uri="{FF2B5EF4-FFF2-40B4-BE49-F238E27FC236}">
                <a16:creationId xmlns:a16="http://schemas.microsoft.com/office/drawing/2014/main" id="{25174CF6-92D9-339D-0475-E3A5E912061E}"/>
              </a:ext>
            </a:extLst>
          </p:cNvPr>
          <p:cNvSpPr txBox="1"/>
          <p:nvPr/>
        </p:nvSpPr>
        <p:spPr>
          <a:xfrm>
            <a:off x="5003800" y="1485900"/>
            <a:ext cx="3606800" cy="304800"/>
          </a:xfrm>
          <a:prstGeom prst="rect">
            <a:avLst/>
          </a:prstGeom>
          <a:noFill/>
        </p:spPr>
        <p:txBody>
          <a:bodyPr vert="horz" wrap="square" lIns="0" tIns="0" rIns="0" bIns="0" rtlCol="0" anchor="ctr">
            <a:noAutofit/>
          </a:bodyPr>
          <a:lstStyle/>
          <a:p>
            <a:r>
              <a:rPr lang="en-IN" sz="850">
                <a:solidFill>
                  <a:srgbClr val="F1F4F9"/>
                </a:solidFill>
                <a:latin typeface="Segoe UI Semibold" panose="020B0702040204020203" pitchFamily="34" charset="0"/>
              </a:rPr>
              <a:t>View organisation, departments, teams</a:t>
            </a:r>
          </a:p>
        </p:txBody>
      </p:sp>
      <p:sp>
        <p:nvSpPr>
          <p:cNvPr id="36" name="TextBox 35">
            <a:extLst>
              <a:ext uri="{FF2B5EF4-FFF2-40B4-BE49-F238E27FC236}">
                <a16:creationId xmlns:a16="http://schemas.microsoft.com/office/drawing/2014/main" id="{908AC74C-255E-6566-4471-3A1F00586BC6}"/>
              </a:ext>
            </a:extLst>
          </p:cNvPr>
          <p:cNvSpPr txBox="1"/>
          <p:nvPr/>
        </p:nvSpPr>
        <p:spPr>
          <a:xfrm>
            <a:off x="8788400" y="1485900"/>
            <a:ext cx="5588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sp>
        <p:nvSpPr>
          <p:cNvPr id="37" name="TextBox 36">
            <a:extLst>
              <a:ext uri="{FF2B5EF4-FFF2-40B4-BE49-F238E27FC236}">
                <a16:creationId xmlns:a16="http://schemas.microsoft.com/office/drawing/2014/main" id="{528982C6-103E-68D5-69CD-E3E9A4247AD1}"/>
              </a:ext>
            </a:extLst>
          </p:cNvPr>
          <p:cNvSpPr txBox="1"/>
          <p:nvPr/>
        </p:nvSpPr>
        <p:spPr>
          <a:xfrm>
            <a:off x="9525000" y="1485900"/>
            <a:ext cx="5588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sp>
        <p:nvSpPr>
          <p:cNvPr id="38" name="TextBox 37">
            <a:extLst>
              <a:ext uri="{FF2B5EF4-FFF2-40B4-BE49-F238E27FC236}">
                <a16:creationId xmlns:a16="http://schemas.microsoft.com/office/drawing/2014/main" id="{31129F08-85C8-8BE3-57E1-734FDEE33092}"/>
              </a:ext>
            </a:extLst>
          </p:cNvPr>
          <p:cNvSpPr txBox="1"/>
          <p:nvPr/>
        </p:nvSpPr>
        <p:spPr>
          <a:xfrm>
            <a:off x="10261600" y="1485900"/>
            <a:ext cx="13462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cxnSp>
        <p:nvCxnSpPr>
          <p:cNvPr id="39" name="Straight Connector 38">
            <a:extLst>
              <a:ext uri="{FF2B5EF4-FFF2-40B4-BE49-F238E27FC236}">
                <a16:creationId xmlns:a16="http://schemas.microsoft.com/office/drawing/2014/main" id="{B2FE1C5E-3EA7-C723-ECD8-31BE9A669DAD}"/>
              </a:ext>
            </a:extLst>
          </p:cNvPr>
          <p:cNvCxnSpPr/>
          <p:nvPr/>
        </p:nvCxnSpPr>
        <p:spPr>
          <a:xfrm>
            <a:off x="4902200" y="1828800"/>
            <a:ext cx="67818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8CCEE105-9645-47F5-EC09-78AC5BCE1DE0}"/>
              </a:ext>
            </a:extLst>
          </p:cNvPr>
          <p:cNvSpPr txBox="1"/>
          <p:nvPr/>
        </p:nvSpPr>
        <p:spPr>
          <a:xfrm>
            <a:off x="5003800" y="1866900"/>
            <a:ext cx="3606800" cy="304800"/>
          </a:xfrm>
          <a:prstGeom prst="rect">
            <a:avLst/>
          </a:prstGeom>
          <a:noFill/>
        </p:spPr>
        <p:txBody>
          <a:bodyPr vert="horz" wrap="square" lIns="0" tIns="0" rIns="0" bIns="0" rtlCol="0" anchor="ctr">
            <a:noAutofit/>
          </a:bodyPr>
          <a:lstStyle/>
          <a:p>
            <a:r>
              <a:rPr lang="en-US" sz="850">
                <a:solidFill>
                  <a:srgbClr val="F1F4F9"/>
                </a:solidFill>
                <a:latin typeface="Segoe UI Semibold" panose="020B0702040204020203" pitchFamily="34" charset="0"/>
              </a:rPr>
              <a:t>Edit organisation; manage departments, teams, memberships</a:t>
            </a:r>
            <a:endParaRPr lang="en-IN" sz="850">
              <a:solidFill>
                <a:srgbClr val="F1F4F9"/>
              </a:solidFill>
              <a:latin typeface="Segoe UI Semibold" panose="020B0702040204020203" pitchFamily="34" charset="0"/>
            </a:endParaRPr>
          </a:p>
        </p:txBody>
      </p:sp>
      <p:sp>
        <p:nvSpPr>
          <p:cNvPr id="41" name="TextBox 40">
            <a:extLst>
              <a:ext uri="{FF2B5EF4-FFF2-40B4-BE49-F238E27FC236}">
                <a16:creationId xmlns:a16="http://schemas.microsoft.com/office/drawing/2014/main" id="{937384C2-5065-D2E4-A068-C47350ED8992}"/>
              </a:ext>
            </a:extLst>
          </p:cNvPr>
          <p:cNvSpPr txBox="1"/>
          <p:nvPr/>
        </p:nvSpPr>
        <p:spPr>
          <a:xfrm>
            <a:off x="8788400" y="1866900"/>
            <a:ext cx="5588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sp>
        <p:nvSpPr>
          <p:cNvPr id="42" name="TextBox 41">
            <a:extLst>
              <a:ext uri="{FF2B5EF4-FFF2-40B4-BE49-F238E27FC236}">
                <a16:creationId xmlns:a16="http://schemas.microsoft.com/office/drawing/2014/main" id="{D70734B8-7660-6663-4B1B-07228153DF51}"/>
              </a:ext>
            </a:extLst>
          </p:cNvPr>
          <p:cNvSpPr txBox="1"/>
          <p:nvPr/>
        </p:nvSpPr>
        <p:spPr>
          <a:xfrm>
            <a:off x="9525000" y="1866900"/>
            <a:ext cx="5588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sp>
        <p:nvSpPr>
          <p:cNvPr id="43" name="TextBox 42">
            <a:extLst>
              <a:ext uri="{FF2B5EF4-FFF2-40B4-BE49-F238E27FC236}">
                <a16:creationId xmlns:a16="http://schemas.microsoft.com/office/drawing/2014/main" id="{31ADE3C7-3377-92C4-2047-A2A6A8BB5675}"/>
              </a:ext>
            </a:extLst>
          </p:cNvPr>
          <p:cNvSpPr txBox="1"/>
          <p:nvPr/>
        </p:nvSpPr>
        <p:spPr>
          <a:xfrm>
            <a:off x="10261600" y="1866900"/>
            <a:ext cx="13462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cxnSp>
        <p:nvCxnSpPr>
          <p:cNvPr id="44" name="Straight Connector 43">
            <a:extLst>
              <a:ext uri="{FF2B5EF4-FFF2-40B4-BE49-F238E27FC236}">
                <a16:creationId xmlns:a16="http://schemas.microsoft.com/office/drawing/2014/main" id="{9FDACC11-6200-6734-11AD-52993E29F317}"/>
              </a:ext>
            </a:extLst>
          </p:cNvPr>
          <p:cNvCxnSpPr/>
          <p:nvPr/>
        </p:nvCxnSpPr>
        <p:spPr>
          <a:xfrm>
            <a:off x="4902200" y="2209800"/>
            <a:ext cx="67818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0541FC4-83A6-40E0-02A7-A8D3472BBC2E}"/>
              </a:ext>
            </a:extLst>
          </p:cNvPr>
          <p:cNvSpPr txBox="1"/>
          <p:nvPr/>
        </p:nvSpPr>
        <p:spPr>
          <a:xfrm>
            <a:off x="5003800" y="2247900"/>
            <a:ext cx="3606800" cy="304800"/>
          </a:xfrm>
          <a:prstGeom prst="rect">
            <a:avLst/>
          </a:prstGeom>
          <a:noFill/>
        </p:spPr>
        <p:txBody>
          <a:bodyPr vert="horz" wrap="square" lIns="0" tIns="0" rIns="0" bIns="0" rtlCol="0" anchor="ctr">
            <a:noAutofit/>
          </a:bodyPr>
          <a:lstStyle/>
          <a:p>
            <a:r>
              <a:rPr lang="en-IN" sz="850">
                <a:solidFill>
                  <a:srgbClr val="F1F4F9"/>
                </a:solidFill>
                <a:latin typeface="Segoe UI Semibold" panose="020B0702040204020203" pitchFamily="34" charset="0"/>
              </a:rPr>
              <a:t>Delete organisation</a:t>
            </a:r>
          </a:p>
        </p:txBody>
      </p:sp>
      <p:sp>
        <p:nvSpPr>
          <p:cNvPr id="46" name="TextBox 45">
            <a:extLst>
              <a:ext uri="{FF2B5EF4-FFF2-40B4-BE49-F238E27FC236}">
                <a16:creationId xmlns:a16="http://schemas.microsoft.com/office/drawing/2014/main" id="{6061B706-CB14-923D-D459-AB35D9A1AC38}"/>
              </a:ext>
            </a:extLst>
          </p:cNvPr>
          <p:cNvSpPr txBox="1"/>
          <p:nvPr/>
        </p:nvSpPr>
        <p:spPr>
          <a:xfrm>
            <a:off x="8788400" y="2247900"/>
            <a:ext cx="5588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sp>
        <p:nvSpPr>
          <p:cNvPr id="47" name="TextBox 46">
            <a:extLst>
              <a:ext uri="{FF2B5EF4-FFF2-40B4-BE49-F238E27FC236}">
                <a16:creationId xmlns:a16="http://schemas.microsoft.com/office/drawing/2014/main" id="{E02D5147-BCC1-6FC5-71F4-34882507B6AB}"/>
              </a:ext>
            </a:extLst>
          </p:cNvPr>
          <p:cNvSpPr txBox="1"/>
          <p:nvPr/>
        </p:nvSpPr>
        <p:spPr>
          <a:xfrm>
            <a:off x="9525000" y="2247900"/>
            <a:ext cx="5588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sp>
        <p:nvSpPr>
          <p:cNvPr id="48" name="TextBox 47">
            <a:extLst>
              <a:ext uri="{FF2B5EF4-FFF2-40B4-BE49-F238E27FC236}">
                <a16:creationId xmlns:a16="http://schemas.microsoft.com/office/drawing/2014/main" id="{E4A77BBC-84BB-37AE-035F-0F7A4AB205AE}"/>
              </a:ext>
            </a:extLst>
          </p:cNvPr>
          <p:cNvSpPr txBox="1"/>
          <p:nvPr/>
        </p:nvSpPr>
        <p:spPr>
          <a:xfrm>
            <a:off x="10261600" y="2247900"/>
            <a:ext cx="13462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cxnSp>
        <p:nvCxnSpPr>
          <p:cNvPr id="49" name="Straight Connector 48">
            <a:extLst>
              <a:ext uri="{FF2B5EF4-FFF2-40B4-BE49-F238E27FC236}">
                <a16:creationId xmlns:a16="http://schemas.microsoft.com/office/drawing/2014/main" id="{8D3B3A72-9582-848B-59D1-005D0D2BDD91}"/>
              </a:ext>
            </a:extLst>
          </p:cNvPr>
          <p:cNvCxnSpPr/>
          <p:nvPr/>
        </p:nvCxnSpPr>
        <p:spPr>
          <a:xfrm>
            <a:off x="4902200" y="2590800"/>
            <a:ext cx="67818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42512711-148F-154D-6645-6F766AC2F4D7}"/>
              </a:ext>
            </a:extLst>
          </p:cNvPr>
          <p:cNvSpPr txBox="1"/>
          <p:nvPr/>
        </p:nvSpPr>
        <p:spPr>
          <a:xfrm>
            <a:off x="5003800" y="2628900"/>
            <a:ext cx="3606800" cy="304800"/>
          </a:xfrm>
          <a:prstGeom prst="rect">
            <a:avLst/>
          </a:prstGeom>
          <a:noFill/>
        </p:spPr>
        <p:txBody>
          <a:bodyPr vert="horz" wrap="square" lIns="0" tIns="0" rIns="0" bIns="0" rtlCol="0" anchor="ctr">
            <a:noAutofit/>
          </a:bodyPr>
          <a:lstStyle/>
          <a:p>
            <a:r>
              <a:rPr lang="en-US" sz="850">
                <a:solidFill>
                  <a:srgbClr val="F1F4F9"/>
                </a:solidFill>
                <a:latin typeface="Segoe UI Semibold" panose="020B0702040204020203" pitchFamily="34" charset="0"/>
              </a:rPr>
              <a:t>Create projects, requirements, tasks; repository, snapshots, analyses</a:t>
            </a:r>
            <a:endParaRPr lang="en-IN" sz="850">
              <a:solidFill>
                <a:srgbClr val="F1F4F9"/>
              </a:solidFill>
              <a:latin typeface="Segoe UI Semibold" panose="020B0702040204020203" pitchFamily="34" charset="0"/>
            </a:endParaRPr>
          </a:p>
        </p:txBody>
      </p:sp>
      <p:sp>
        <p:nvSpPr>
          <p:cNvPr id="51" name="TextBox 50">
            <a:extLst>
              <a:ext uri="{FF2B5EF4-FFF2-40B4-BE49-F238E27FC236}">
                <a16:creationId xmlns:a16="http://schemas.microsoft.com/office/drawing/2014/main" id="{D35F7943-D92C-CC1E-746A-7306F154E082}"/>
              </a:ext>
            </a:extLst>
          </p:cNvPr>
          <p:cNvSpPr txBox="1"/>
          <p:nvPr/>
        </p:nvSpPr>
        <p:spPr>
          <a:xfrm>
            <a:off x="8788400" y="2628900"/>
            <a:ext cx="5588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sp>
        <p:nvSpPr>
          <p:cNvPr id="52" name="TextBox 51">
            <a:extLst>
              <a:ext uri="{FF2B5EF4-FFF2-40B4-BE49-F238E27FC236}">
                <a16:creationId xmlns:a16="http://schemas.microsoft.com/office/drawing/2014/main" id="{B3146B1E-B163-3D7B-ABFA-08B840EAD811}"/>
              </a:ext>
            </a:extLst>
          </p:cNvPr>
          <p:cNvSpPr txBox="1"/>
          <p:nvPr/>
        </p:nvSpPr>
        <p:spPr>
          <a:xfrm>
            <a:off x="9525000" y="2628900"/>
            <a:ext cx="5588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sp>
        <p:nvSpPr>
          <p:cNvPr id="53" name="TextBox 52">
            <a:extLst>
              <a:ext uri="{FF2B5EF4-FFF2-40B4-BE49-F238E27FC236}">
                <a16:creationId xmlns:a16="http://schemas.microsoft.com/office/drawing/2014/main" id="{0EB8E662-BB1F-828F-370A-89F8DE303334}"/>
              </a:ext>
            </a:extLst>
          </p:cNvPr>
          <p:cNvSpPr txBox="1"/>
          <p:nvPr/>
        </p:nvSpPr>
        <p:spPr>
          <a:xfrm>
            <a:off x="10261600" y="2628900"/>
            <a:ext cx="13462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t>
            </a:r>
          </a:p>
        </p:txBody>
      </p:sp>
      <p:cxnSp>
        <p:nvCxnSpPr>
          <p:cNvPr id="54" name="Straight Connector 53">
            <a:extLst>
              <a:ext uri="{FF2B5EF4-FFF2-40B4-BE49-F238E27FC236}">
                <a16:creationId xmlns:a16="http://schemas.microsoft.com/office/drawing/2014/main" id="{1AF63469-CE99-FEB9-2C46-DE1F464B69FA}"/>
              </a:ext>
            </a:extLst>
          </p:cNvPr>
          <p:cNvCxnSpPr/>
          <p:nvPr/>
        </p:nvCxnSpPr>
        <p:spPr>
          <a:xfrm>
            <a:off x="4902200" y="2971800"/>
            <a:ext cx="67818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FB9E0FBB-59BB-A956-9A19-F6C3E1470DD3}"/>
              </a:ext>
            </a:extLst>
          </p:cNvPr>
          <p:cNvSpPr txBox="1"/>
          <p:nvPr/>
        </p:nvSpPr>
        <p:spPr>
          <a:xfrm>
            <a:off x="5003800" y="3009900"/>
            <a:ext cx="3606800" cy="304800"/>
          </a:xfrm>
          <a:prstGeom prst="rect">
            <a:avLst/>
          </a:prstGeom>
          <a:noFill/>
        </p:spPr>
        <p:txBody>
          <a:bodyPr vert="horz" wrap="square" lIns="0" tIns="0" rIns="0" bIns="0" rtlCol="0" anchor="ctr">
            <a:noAutofit/>
          </a:bodyPr>
          <a:lstStyle/>
          <a:p>
            <a:r>
              <a:rPr lang="en-US" sz="850">
                <a:solidFill>
                  <a:srgbClr val="F1F4F9"/>
                </a:solidFill>
                <a:latin typeface="Segoe UI Semibold" panose="020B0702040204020203" pitchFamily="34" charset="0"/>
              </a:rPr>
              <a:t>View projects and their data</a:t>
            </a:r>
            <a:endParaRPr lang="en-IN" sz="850">
              <a:solidFill>
                <a:srgbClr val="F1F4F9"/>
              </a:solidFill>
              <a:latin typeface="Segoe UI Semibold" panose="020B0702040204020203" pitchFamily="34" charset="0"/>
            </a:endParaRPr>
          </a:p>
        </p:txBody>
      </p:sp>
      <p:sp>
        <p:nvSpPr>
          <p:cNvPr id="56" name="TextBox 55">
            <a:extLst>
              <a:ext uri="{FF2B5EF4-FFF2-40B4-BE49-F238E27FC236}">
                <a16:creationId xmlns:a16="http://schemas.microsoft.com/office/drawing/2014/main" id="{44B7C37B-4D98-2498-8C1B-C4B238EABD19}"/>
              </a:ext>
            </a:extLst>
          </p:cNvPr>
          <p:cNvSpPr txBox="1"/>
          <p:nvPr/>
        </p:nvSpPr>
        <p:spPr>
          <a:xfrm>
            <a:off x="8788400" y="3009900"/>
            <a:ext cx="5588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all</a:t>
            </a:r>
          </a:p>
        </p:txBody>
      </p:sp>
      <p:sp>
        <p:nvSpPr>
          <p:cNvPr id="57" name="TextBox 56">
            <a:extLst>
              <a:ext uri="{FF2B5EF4-FFF2-40B4-BE49-F238E27FC236}">
                <a16:creationId xmlns:a16="http://schemas.microsoft.com/office/drawing/2014/main" id="{01424180-413D-ECCE-D660-F86AC4C61BA0}"/>
              </a:ext>
            </a:extLst>
          </p:cNvPr>
          <p:cNvSpPr txBox="1"/>
          <p:nvPr/>
        </p:nvSpPr>
        <p:spPr>
          <a:xfrm>
            <a:off x="9525000" y="3009900"/>
            <a:ext cx="5588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all</a:t>
            </a:r>
          </a:p>
        </p:txBody>
      </p:sp>
      <p:sp>
        <p:nvSpPr>
          <p:cNvPr id="58" name="TextBox 57">
            <a:extLst>
              <a:ext uri="{FF2B5EF4-FFF2-40B4-BE49-F238E27FC236}">
                <a16:creationId xmlns:a16="http://schemas.microsoft.com/office/drawing/2014/main" id="{D2A1FAA1-3B93-FA9C-A038-92F0A0848168}"/>
              </a:ext>
            </a:extLst>
          </p:cNvPr>
          <p:cNvSpPr txBox="1"/>
          <p:nvPr/>
        </p:nvSpPr>
        <p:spPr>
          <a:xfrm>
            <a:off x="10261600" y="3009900"/>
            <a:ext cx="13462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own teams</a:t>
            </a:r>
          </a:p>
        </p:txBody>
      </p:sp>
      <p:sp>
        <p:nvSpPr>
          <p:cNvPr id="59" name="Rectangle: Rounded Corners 58">
            <a:extLst>
              <a:ext uri="{FF2B5EF4-FFF2-40B4-BE49-F238E27FC236}">
                <a16:creationId xmlns:a16="http://schemas.microsoft.com/office/drawing/2014/main" id="{67539909-DD42-93EA-23B2-B3949CE31A18}"/>
              </a:ext>
            </a:extLst>
          </p:cNvPr>
          <p:cNvSpPr/>
          <p:nvPr/>
        </p:nvSpPr>
        <p:spPr>
          <a:xfrm>
            <a:off x="4902200" y="3479800"/>
            <a:ext cx="6781800" cy="2794000"/>
          </a:xfrm>
          <a:prstGeom prst="roundRect">
            <a:avLst>
              <a:gd name="adj" fmla="val 3636"/>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TextBox 59">
            <a:extLst>
              <a:ext uri="{FF2B5EF4-FFF2-40B4-BE49-F238E27FC236}">
                <a16:creationId xmlns:a16="http://schemas.microsoft.com/office/drawing/2014/main" id="{36EC3802-DE43-2969-F05B-84051F4AD1E3}"/>
              </a:ext>
            </a:extLst>
          </p:cNvPr>
          <p:cNvSpPr txBox="1"/>
          <p:nvPr/>
        </p:nvSpPr>
        <p:spPr>
          <a:xfrm>
            <a:off x="5080000" y="3606800"/>
            <a:ext cx="381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KEY CONTROLS</a:t>
            </a:r>
          </a:p>
        </p:txBody>
      </p:sp>
      <p:sp>
        <p:nvSpPr>
          <p:cNvPr id="61" name="TextBox 60">
            <a:extLst>
              <a:ext uri="{FF2B5EF4-FFF2-40B4-BE49-F238E27FC236}">
                <a16:creationId xmlns:a16="http://schemas.microsoft.com/office/drawing/2014/main" id="{4B519A40-B831-131B-FA56-FCFAF49CE37B}"/>
              </a:ext>
            </a:extLst>
          </p:cNvPr>
          <p:cNvSpPr txBox="1"/>
          <p:nvPr/>
        </p:nvSpPr>
        <p:spPr>
          <a:xfrm>
            <a:off x="5080000" y="3810000"/>
            <a:ext cx="6451600" cy="2387600"/>
          </a:xfrm>
          <a:prstGeom prst="rect">
            <a:avLst/>
          </a:prstGeom>
          <a:noFill/>
        </p:spPr>
        <p:txBody>
          <a:bodyPr vert="horz" wrap="square" lIns="0" tIns="0" rIns="0" bIns="0" rtlCol="0">
            <a:noAutofit/>
          </a:bodyPr>
          <a:lstStyle/>
          <a:p>
            <a:pPr marL="139700" indent="-139700">
              <a:spcAft>
                <a:spcPts val="900"/>
              </a:spcAft>
              <a:buClr>
                <a:srgbClr val="8B9BFF"/>
              </a:buClr>
              <a:buSzPct val="90000"/>
              <a:buFont typeface="+mj-lt"/>
              <a:buChar char="▪"/>
            </a:pPr>
            <a:r>
              <a:rPr lang="en-US" sz="1000">
                <a:solidFill>
                  <a:srgbClr val="F1F4F9"/>
                </a:solidFill>
                <a:latin typeface="Segoe UI Semibold" panose="020B0702040204020203" pitchFamily="34" charset="0"/>
              </a:rPr>
              <a:t>Cross-tenant isolation.</a:t>
            </a:r>
            <a:r>
              <a:rPr lang="en-US" sz="1000">
                <a:solidFill>
                  <a:srgbClr val="B3BDCF"/>
                </a:solidFill>
                <a:latin typeface="Segoe UI" panose="020B0502040204020203" pitchFamily="34" charset="0"/>
              </a:rPr>
              <a:t>  Another organisation's IDs return 404 — no existence leak.</a:t>
            </a:r>
          </a:p>
          <a:p>
            <a:pPr marL="139700" indent="-139700">
              <a:spcAft>
                <a:spcPts val="900"/>
              </a:spcAft>
              <a:buClr>
                <a:srgbClr val="8B9BFF"/>
              </a:buClr>
              <a:buSzPct val="90000"/>
              <a:buFont typeface="+mj-lt"/>
              <a:buChar char="▪"/>
            </a:pPr>
            <a:r>
              <a:rPr lang="en-US" sz="1000">
                <a:solidFill>
                  <a:srgbClr val="F1F4F9"/>
                </a:solidFill>
                <a:latin typeface="Segoe UI Semibold" panose="020B0702040204020203" pitchFamily="34" charset="0"/>
              </a:rPr>
              <a:t>Signed persistence.</a:t>
            </a:r>
            <a:r>
              <a:rPr lang="en-US" sz="1000">
                <a:solidFill>
                  <a:srgbClr val="B3BDCF"/>
                </a:solidFill>
                <a:latin typeface="Segoe UI" panose="020B0502040204020203" pitchFamily="34" charset="0"/>
              </a:rPr>
              <a:t>  Structure is written only by a definer function that verifies an HMAC-SHA256 signature and a one-time run token.</a:t>
            </a:r>
          </a:p>
          <a:p>
            <a:pPr marL="139700" indent="-139700">
              <a:spcAft>
                <a:spcPts val="900"/>
              </a:spcAft>
              <a:buClr>
                <a:srgbClr val="8B9BFF"/>
              </a:buClr>
              <a:buSzPct val="90000"/>
              <a:buFont typeface="+mj-lt"/>
              <a:buChar char="▪"/>
            </a:pPr>
            <a:r>
              <a:rPr lang="en-US" sz="1000">
                <a:solidFill>
                  <a:srgbClr val="F1F4F9"/>
                </a:solidFill>
                <a:latin typeface="Segoe UI Semibold" panose="020B0702040204020203" pitchFamily="34" charset="0"/>
              </a:rPr>
              <a:t>Key handling.</a:t>
            </a:r>
            <a:r>
              <a:rPr lang="en-US" sz="1000">
                <a:solidFill>
                  <a:srgbClr val="B3BDCF"/>
                </a:solidFill>
                <a:latin typeface="Segoe UI" panose="020B0502040204020203" pitchFamily="34" charset="0"/>
              </a:rPr>
              <a:t>  Server key in an environment variable, database copy in Supabase Vault; never sent to the client or logged.</a:t>
            </a:r>
          </a:p>
          <a:p>
            <a:pPr marL="139700" indent="-139700">
              <a:spcAft>
                <a:spcPts val="900"/>
              </a:spcAft>
              <a:buClr>
                <a:srgbClr val="8B9BFF"/>
              </a:buClr>
              <a:buSzPct val="90000"/>
              <a:buFont typeface="+mj-lt"/>
              <a:buChar char="▪"/>
            </a:pPr>
            <a:r>
              <a:rPr lang="en-US" sz="1000">
                <a:solidFill>
                  <a:srgbClr val="F1F4F9"/>
                </a:solidFill>
                <a:latin typeface="Segoe UI Semibold" panose="020B0702040204020203" pitchFamily="34" charset="0"/>
              </a:rPr>
              <a:t>Least privilege.</a:t>
            </a:r>
            <a:r>
              <a:rPr lang="en-US" sz="1000">
                <a:solidFill>
                  <a:srgbClr val="B3BDCF"/>
                </a:solidFill>
                <a:latin typeface="Segoe UI" panose="020B0502040204020203" pitchFamily="34" charset="0"/>
              </a:rPr>
              <a:t>  Clients cannot insert or delete symbols and relationships, or update analyses, directly.</a:t>
            </a:r>
            <a:endParaRPr lang="en-IN" sz="1000">
              <a:solidFill>
                <a:srgbClr val="B3BDCF"/>
              </a:solidFill>
              <a:latin typeface="Segoe UI" panose="020B0502040204020203" pitchFamily="34" charset="0"/>
            </a:endParaRPr>
          </a:p>
        </p:txBody>
      </p:sp>
    </p:spTree>
    <p:extLst>
      <p:ext uri="{BB962C8B-B14F-4D97-AF65-F5344CB8AC3E}">
        <p14:creationId xmlns:p14="http://schemas.microsoft.com/office/powerpoint/2010/main" val="1025459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E0653A-D56C-C38F-5A73-2C5E4C2391CF}"/>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16  ·  DEVELOPMENT PROGRESS</a:t>
            </a:r>
          </a:p>
        </p:txBody>
      </p:sp>
      <p:sp>
        <p:nvSpPr>
          <p:cNvPr id="3" name="TextBox 2">
            <a:extLst>
              <a:ext uri="{FF2B5EF4-FFF2-40B4-BE49-F238E27FC236}">
                <a16:creationId xmlns:a16="http://schemas.microsoft.com/office/drawing/2014/main" id="{CE76B968-AA94-B18F-1602-E34C1E47FEAB}"/>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Working Prototype — Real Screenshots</a:t>
            </a:r>
          </a:p>
        </p:txBody>
      </p:sp>
      <p:sp>
        <p:nvSpPr>
          <p:cNvPr id="4" name="TextBox 3">
            <a:extLst>
              <a:ext uri="{FF2B5EF4-FFF2-40B4-BE49-F238E27FC236}">
                <a16:creationId xmlns:a16="http://schemas.microsoft.com/office/drawing/2014/main" id="{6C6DA8E4-7575-58FF-5C67-C55BA40A389E}"/>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Running locally on Supabase with a fictional demo organisation (Acme Demo Software) and @test.local accounts.</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E538812F-23AD-0169-DEBE-9155D498D38A}"/>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16700D1-6336-A8D6-07D6-7CCC3752C8B9}"/>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16F9A49B-8E04-CF85-BA6F-BC2132A35AAF}"/>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16 / 20</a:t>
            </a:r>
          </a:p>
        </p:txBody>
      </p:sp>
      <p:pic>
        <p:nvPicPr>
          <p:cNvPr id="9" name="Picture 8">
            <a:extLst>
              <a:ext uri="{FF2B5EF4-FFF2-40B4-BE49-F238E27FC236}">
                <a16:creationId xmlns:a16="http://schemas.microsoft.com/office/drawing/2014/main" id="{917376A2-2E59-EA4D-4872-E70338A989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168400"/>
            <a:ext cx="7112000" cy="4445000"/>
          </a:xfrm>
          <a:prstGeom prst="rect">
            <a:avLst/>
          </a:prstGeom>
          <a:ln w="9525">
            <a:solidFill>
              <a:srgbClr val="35445F"/>
            </a:solidFill>
          </a:ln>
        </p:spPr>
      </p:pic>
      <p:pic>
        <p:nvPicPr>
          <p:cNvPr id="11" name="Picture 10">
            <a:extLst>
              <a:ext uri="{FF2B5EF4-FFF2-40B4-BE49-F238E27FC236}">
                <a16:creationId xmlns:a16="http://schemas.microsoft.com/office/drawing/2014/main" id="{A8162072-E3A2-4F88-404F-402738D0770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823200" y="1168400"/>
            <a:ext cx="3860800" cy="1972183"/>
          </a:xfrm>
          <a:prstGeom prst="rect">
            <a:avLst/>
          </a:prstGeom>
          <a:ln w="9525">
            <a:solidFill>
              <a:srgbClr val="35445F"/>
            </a:solidFill>
          </a:ln>
        </p:spPr>
      </p:pic>
      <p:pic>
        <p:nvPicPr>
          <p:cNvPr id="13" name="Picture 12">
            <a:extLst>
              <a:ext uri="{FF2B5EF4-FFF2-40B4-BE49-F238E27FC236}">
                <a16:creationId xmlns:a16="http://schemas.microsoft.com/office/drawing/2014/main" id="{A2054A34-04A2-AB24-CB9A-6D06B706EC6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7823200" y="3318383"/>
            <a:ext cx="3860800" cy="1799525"/>
          </a:xfrm>
          <a:prstGeom prst="rect">
            <a:avLst/>
          </a:prstGeom>
          <a:ln w="9525">
            <a:solidFill>
              <a:srgbClr val="35445F"/>
            </a:solidFill>
          </a:ln>
        </p:spPr>
      </p:pic>
      <p:sp>
        <p:nvSpPr>
          <p:cNvPr id="14" name="Rectangle: Rounded Corners 13">
            <a:extLst>
              <a:ext uri="{FF2B5EF4-FFF2-40B4-BE49-F238E27FC236}">
                <a16:creationId xmlns:a16="http://schemas.microsoft.com/office/drawing/2014/main" id="{7282217C-589C-5CC9-0B66-3185C32479AC}"/>
              </a:ext>
            </a:extLst>
          </p:cNvPr>
          <p:cNvSpPr/>
          <p:nvPr/>
        </p:nvSpPr>
        <p:spPr>
          <a:xfrm>
            <a:off x="609600" y="5308600"/>
            <a:ext cx="3942080" cy="203200"/>
          </a:xfrm>
          <a:prstGeom prst="roundRect">
            <a:avLst>
              <a:gd name="adj" fmla="val 37500"/>
            </a:avLst>
          </a:prstGeom>
          <a:solidFill>
            <a:srgbClr val="1C2945"/>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US" sz="750">
                <a:solidFill>
                  <a:srgbClr val="F1F4F9"/>
                </a:solidFill>
                <a:latin typeface="Segoe UI Semibold" panose="020B0702040204020203" pitchFamily="34" charset="0"/>
              </a:rPr>
              <a:t>Repository intelligence: snapshot + structure analysis (42 / 42)</a:t>
            </a:r>
            <a:endParaRPr lang="en-IN" sz="750">
              <a:solidFill>
                <a:srgbClr val="F1F4F9"/>
              </a:solidFill>
              <a:latin typeface="Segoe UI Semibold" panose="020B0702040204020203" pitchFamily="34" charset="0"/>
            </a:endParaRPr>
          </a:p>
        </p:txBody>
      </p:sp>
      <p:sp>
        <p:nvSpPr>
          <p:cNvPr id="15" name="Rectangle: Rounded Corners 14">
            <a:extLst>
              <a:ext uri="{FF2B5EF4-FFF2-40B4-BE49-F238E27FC236}">
                <a16:creationId xmlns:a16="http://schemas.microsoft.com/office/drawing/2014/main" id="{DDB207A5-0046-42FF-5EAC-07ACB96A5C46}"/>
              </a:ext>
            </a:extLst>
          </p:cNvPr>
          <p:cNvSpPr/>
          <p:nvPr/>
        </p:nvSpPr>
        <p:spPr>
          <a:xfrm>
            <a:off x="7924800" y="2861183"/>
            <a:ext cx="1780540" cy="203200"/>
          </a:xfrm>
          <a:prstGeom prst="roundRect">
            <a:avLst>
              <a:gd name="adj" fmla="val 37500"/>
            </a:avLst>
          </a:prstGeom>
          <a:solidFill>
            <a:srgbClr val="1C2945"/>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F1F4F9"/>
                </a:solidFill>
                <a:latin typeface="Segoe UI Semibold" panose="020B0702040204020203" pitchFamily="34" charset="0"/>
              </a:rPr>
              <a:t>Requirement with task board</a:t>
            </a:r>
          </a:p>
        </p:txBody>
      </p:sp>
      <p:sp>
        <p:nvSpPr>
          <p:cNvPr id="16" name="Rectangle: Rounded Corners 15">
            <a:extLst>
              <a:ext uri="{FF2B5EF4-FFF2-40B4-BE49-F238E27FC236}">
                <a16:creationId xmlns:a16="http://schemas.microsoft.com/office/drawing/2014/main" id="{EDD6CF34-DE60-FC9D-CDBD-5233945A983D}"/>
              </a:ext>
            </a:extLst>
          </p:cNvPr>
          <p:cNvSpPr/>
          <p:nvPr/>
        </p:nvSpPr>
        <p:spPr>
          <a:xfrm>
            <a:off x="7924800" y="4838508"/>
            <a:ext cx="1722120" cy="203200"/>
          </a:xfrm>
          <a:prstGeom prst="roundRect">
            <a:avLst>
              <a:gd name="adj" fmla="val 37500"/>
            </a:avLst>
          </a:prstGeom>
          <a:solidFill>
            <a:srgbClr val="1C2945"/>
          </a:solidFill>
          <a:ln w="9525">
            <a:solidFill>
              <a:srgbClr val="3544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50">
                <a:solidFill>
                  <a:srgbClr val="F1F4F9"/>
                </a:solidFill>
                <a:latin typeface="Segoe UI Semibold" panose="020B0702040204020203" pitchFamily="34" charset="0"/>
              </a:rPr>
              <a:t>Organisation → departments</a:t>
            </a:r>
          </a:p>
        </p:txBody>
      </p:sp>
      <p:sp>
        <p:nvSpPr>
          <p:cNvPr id="17" name="TextBox 16">
            <a:extLst>
              <a:ext uri="{FF2B5EF4-FFF2-40B4-BE49-F238E27FC236}">
                <a16:creationId xmlns:a16="http://schemas.microsoft.com/office/drawing/2014/main" id="{A8944E78-788F-9C9D-876E-37CC162F5DB8}"/>
              </a:ext>
            </a:extLst>
          </p:cNvPr>
          <p:cNvSpPr txBox="1"/>
          <p:nvPr/>
        </p:nvSpPr>
        <p:spPr>
          <a:xfrm>
            <a:off x="508000" y="5740400"/>
            <a:ext cx="7112000" cy="533400"/>
          </a:xfrm>
          <a:prstGeom prst="rect">
            <a:avLst/>
          </a:prstGeom>
          <a:noFill/>
        </p:spPr>
        <p:txBody>
          <a:bodyPr vert="horz" wrap="square" lIns="0" tIns="0" rIns="0" bIns="0" rtlCol="0">
            <a:noAutofit/>
          </a:bodyPr>
          <a:lstStyle/>
          <a:p>
            <a:pPr marL="139700" indent="-139700">
              <a:spcAft>
                <a:spcPts val="300"/>
              </a:spcAft>
              <a:buClr>
                <a:srgbClr val="8B9BFF"/>
              </a:buClr>
              <a:buSzPct val="90000"/>
              <a:buFont typeface="+mj-lt"/>
              <a:buChar char="▪"/>
            </a:pPr>
            <a:r>
              <a:rPr lang="en-US" sz="850">
                <a:solidFill>
                  <a:srgbClr val="F1F4F9"/>
                </a:solidFill>
                <a:latin typeface="Segoe UI Semibold" panose="020B0702040204020203" pitchFamily="34" charset="0"/>
              </a:rPr>
              <a:t>Implemented screens:</a:t>
            </a:r>
            <a:r>
              <a:rPr lang="en-US" sz="850">
                <a:solidFill>
                  <a:srgbClr val="B3BDCF"/>
                </a:solidFill>
                <a:latin typeface="Segoe UI" panose="020B0502040204020203" pitchFamily="34" charset="0"/>
              </a:rPr>
              <a:t>  sign-in, dashboard, organisation / department / team / project pages, requirements and task board, repository, snapshots, structure intelligence.</a:t>
            </a:r>
          </a:p>
          <a:p>
            <a:pPr marL="139700" indent="-139700">
              <a:spcAft>
                <a:spcPts val="300"/>
              </a:spcAft>
              <a:buClr>
                <a:srgbClr val="8B9BFF"/>
              </a:buClr>
              <a:buSzPct val="90000"/>
              <a:buFont typeface="+mj-lt"/>
              <a:buChar char="▪"/>
            </a:pPr>
            <a:r>
              <a:rPr lang="en-US" sz="850">
                <a:solidFill>
                  <a:srgbClr val="F1F4F9"/>
                </a:solidFill>
                <a:latin typeface="Segoe UI Semibold" panose="020B0702040204020203" pitchFamily="34" charset="0"/>
              </a:rPr>
              <a:t>Labelled honestly:</a:t>
            </a:r>
            <a:r>
              <a:rPr lang="en-US" sz="850">
                <a:solidFill>
                  <a:srgbClr val="B3BDCF"/>
                </a:solidFill>
                <a:latin typeface="Segoe UI" panose="020B0502040204020203" pitchFamily="34" charset="0"/>
              </a:rPr>
              <a:t>  Tasks and Settings show “Soon”. The analysis shown is real analyzer output on 10 fixture files supplied by a test provider (slide 14).</a:t>
            </a:r>
            <a:endParaRPr lang="en-IN" sz="850">
              <a:solidFill>
                <a:srgbClr val="B3BDCF"/>
              </a:solidFill>
              <a:latin typeface="Segoe UI" panose="020B0502040204020203" pitchFamily="34" charset="0"/>
            </a:endParaRPr>
          </a:p>
        </p:txBody>
      </p:sp>
    </p:spTree>
    <p:extLst>
      <p:ext uri="{BB962C8B-B14F-4D97-AF65-F5344CB8AC3E}">
        <p14:creationId xmlns:p14="http://schemas.microsoft.com/office/powerpoint/2010/main" val="2836158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FFE5C2-9756-A28F-E29A-4983047084D1}"/>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17  ·  PRELIMINARY RESULTS</a:t>
            </a:r>
          </a:p>
        </p:txBody>
      </p:sp>
      <p:sp>
        <p:nvSpPr>
          <p:cNvPr id="3" name="TextBox 2">
            <a:extLst>
              <a:ext uri="{FF2B5EF4-FFF2-40B4-BE49-F238E27FC236}">
                <a16:creationId xmlns:a16="http://schemas.microsoft.com/office/drawing/2014/main" id="{C68F93BC-5D0F-35A9-2EF7-B8A1D18162F1}"/>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Testing and Validation</a:t>
            </a:r>
          </a:p>
        </p:txBody>
      </p:sp>
      <p:sp>
        <p:nvSpPr>
          <p:cNvPr id="4" name="TextBox 3">
            <a:extLst>
              <a:ext uri="{FF2B5EF4-FFF2-40B4-BE49-F238E27FC236}">
                <a16:creationId xmlns:a16="http://schemas.microsoft.com/office/drawing/2014/main" id="{D33DB51F-0A2F-1F52-4A98-9363802E42CB}"/>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Automated checks run against the local Supabase stack. No AI or performance figures — those modules are not built.</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F0117CEF-2081-8E89-8634-7DAD37EDD6DD}"/>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2DF0569-AC7E-FA08-ED3D-39E8CB79A831}"/>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D5FA1CCF-3CB9-920E-BBDE-72A8C30D43AB}"/>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17 / 20</a:t>
            </a:r>
          </a:p>
        </p:txBody>
      </p:sp>
      <p:sp>
        <p:nvSpPr>
          <p:cNvPr id="8" name="Rectangle: Rounded Corners 7">
            <a:extLst>
              <a:ext uri="{FF2B5EF4-FFF2-40B4-BE49-F238E27FC236}">
                <a16:creationId xmlns:a16="http://schemas.microsoft.com/office/drawing/2014/main" id="{76AB3ABC-6A5D-6E27-C586-18F2993B704A}"/>
              </a:ext>
            </a:extLst>
          </p:cNvPr>
          <p:cNvSpPr/>
          <p:nvPr/>
        </p:nvSpPr>
        <p:spPr>
          <a:xfrm>
            <a:off x="508000" y="1193800"/>
            <a:ext cx="2692400" cy="1676400"/>
          </a:xfrm>
          <a:prstGeom prst="roundRect">
            <a:avLst>
              <a:gd name="adj" fmla="val 6061"/>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E6AF1C3-DED7-A9DD-E11A-040AFF0A0544}"/>
              </a:ext>
            </a:extLst>
          </p:cNvPr>
          <p:cNvSpPr txBox="1"/>
          <p:nvPr/>
        </p:nvSpPr>
        <p:spPr>
          <a:xfrm>
            <a:off x="685800" y="1346200"/>
            <a:ext cx="2413000" cy="381000"/>
          </a:xfrm>
          <a:prstGeom prst="rect">
            <a:avLst/>
          </a:prstGeom>
          <a:noFill/>
        </p:spPr>
        <p:txBody>
          <a:bodyPr vert="horz" wrap="square" lIns="0" tIns="0" rIns="0" bIns="0" rtlCol="0" anchor="t">
            <a:noAutofit/>
          </a:bodyPr>
          <a:lstStyle/>
          <a:p>
            <a:r>
              <a:rPr lang="en-IN" sz="2400">
                <a:solidFill>
                  <a:srgbClr val="F1F4F9"/>
                </a:solidFill>
                <a:latin typeface="Segoe UI Semibold" panose="020B0702040204020203" pitchFamily="34" charset="0"/>
              </a:rPr>
              <a:t>155</a:t>
            </a:r>
          </a:p>
        </p:txBody>
      </p:sp>
      <p:sp>
        <p:nvSpPr>
          <p:cNvPr id="10" name="TextBox 9">
            <a:extLst>
              <a:ext uri="{FF2B5EF4-FFF2-40B4-BE49-F238E27FC236}">
                <a16:creationId xmlns:a16="http://schemas.microsoft.com/office/drawing/2014/main" id="{479901C2-B858-260A-DAF1-E9D24930CE81}"/>
              </a:ext>
            </a:extLst>
          </p:cNvPr>
          <p:cNvSpPr txBox="1"/>
          <p:nvPr/>
        </p:nvSpPr>
        <p:spPr>
          <a:xfrm>
            <a:off x="685800" y="1752600"/>
            <a:ext cx="2413000" cy="152400"/>
          </a:xfrm>
          <a:prstGeom prst="rect">
            <a:avLst/>
          </a:prstGeom>
          <a:noFill/>
        </p:spPr>
        <p:txBody>
          <a:bodyPr vert="horz" wrap="square" lIns="0" tIns="0" rIns="0" bIns="0" rtlCol="0" anchor="t">
            <a:noAutofit/>
          </a:bodyPr>
          <a:lstStyle/>
          <a:p>
            <a:r>
              <a:rPr lang="en-IN" sz="800">
                <a:solidFill>
                  <a:srgbClr val="3CCF8E"/>
                </a:solidFill>
                <a:latin typeface="Segoe UI Semibold" panose="020B0702040204020203" pitchFamily="34" charset="0"/>
              </a:rPr>
              <a:t>mutants generated</a:t>
            </a:r>
          </a:p>
        </p:txBody>
      </p:sp>
      <p:sp>
        <p:nvSpPr>
          <p:cNvPr id="11" name="TextBox 10">
            <a:extLst>
              <a:ext uri="{FF2B5EF4-FFF2-40B4-BE49-F238E27FC236}">
                <a16:creationId xmlns:a16="http://schemas.microsoft.com/office/drawing/2014/main" id="{5109F56F-57CB-67D9-DC33-1C465D220D6B}"/>
              </a:ext>
            </a:extLst>
          </p:cNvPr>
          <p:cNvSpPr txBox="1"/>
          <p:nvPr/>
        </p:nvSpPr>
        <p:spPr>
          <a:xfrm>
            <a:off x="685800" y="2006600"/>
            <a:ext cx="2413000" cy="177800"/>
          </a:xfrm>
          <a:prstGeom prst="rect">
            <a:avLst/>
          </a:prstGeom>
          <a:noFill/>
        </p:spPr>
        <p:txBody>
          <a:bodyPr vert="horz" wrap="square" lIns="0" tIns="0" rIns="0" bIns="0" rtlCol="0" anchor="t">
            <a:noAutofit/>
          </a:bodyPr>
          <a:lstStyle/>
          <a:p>
            <a:r>
              <a:rPr lang="en-IN" sz="900">
                <a:solidFill>
                  <a:srgbClr val="F1F4F9"/>
                </a:solidFill>
                <a:latin typeface="Segoe UI Semibold" panose="020B0702040204020203" pitchFamily="34" charset="0"/>
              </a:rPr>
              <a:t>Mutation testing (Phase 2H)</a:t>
            </a:r>
          </a:p>
        </p:txBody>
      </p:sp>
      <p:sp>
        <p:nvSpPr>
          <p:cNvPr id="12" name="TextBox 11">
            <a:extLst>
              <a:ext uri="{FF2B5EF4-FFF2-40B4-BE49-F238E27FC236}">
                <a16:creationId xmlns:a16="http://schemas.microsoft.com/office/drawing/2014/main" id="{D18D09CF-3C82-23F3-23E7-FF20BE624A08}"/>
              </a:ext>
            </a:extLst>
          </p:cNvPr>
          <p:cNvSpPr txBox="1"/>
          <p:nvPr/>
        </p:nvSpPr>
        <p:spPr>
          <a:xfrm>
            <a:off x="685800" y="2260600"/>
            <a:ext cx="2362200" cy="558800"/>
          </a:xfrm>
          <a:prstGeom prst="rect">
            <a:avLst/>
          </a:prstGeom>
          <a:noFill/>
        </p:spPr>
        <p:txBody>
          <a:bodyPr vert="horz" wrap="square" lIns="0" tIns="0" rIns="0" bIns="0" rtlCol="0" anchor="t">
            <a:noAutofit/>
          </a:bodyPr>
          <a:lstStyle/>
          <a:p>
            <a:r>
              <a:rPr lang="en-US" sz="900">
                <a:solidFill>
                  <a:srgbClr val="B3BDCF"/>
                </a:solidFill>
                <a:latin typeface="Segoe UI" panose="020B0502040204020203" pitchFamily="34" charset="0"/>
              </a:rPr>
              <a:t>151 killed  ·  4 proven equivalent  ·  0 unexplained survivors</a:t>
            </a:r>
            <a:endParaRPr lang="en-IN" sz="900">
              <a:solidFill>
                <a:srgbClr val="B3BDC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AC2D156C-32E5-D712-B0C7-A3ADE4DC65A9}"/>
              </a:ext>
            </a:extLst>
          </p:cNvPr>
          <p:cNvSpPr/>
          <p:nvPr/>
        </p:nvSpPr>
        <p:spPr>
          <a:xfrm>
            <a:off x="3327400" y="1193800"/>
            <a:ext cx="2692400" cy="1676400"/>
          </a:xfrm>
          <a:prstGeom prst="roundRect">
            <a:avLst>
              <a:gd name="adj" fmla="val 6061"/>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0111BA9-CD90-110D-7FA5-D05F2DE1DCD5}"/>
              </a:ext>
            </a:extLst>
          </p:cNvPr>
          <p:cNvSpPr txBox="1"/>
          <p:nvPr/>
        </p:nvSpPr>
        <p:spPr>
          <a:xfrm>
            <a:off x="3505200" y="1346200"/>
            <a:ext cx="2413000" cy="381000"/>
          </a:xfrm>
          <a:prstGeom prst="rect">
            <a:avLst/>
          </a:prstGeom>
          <a:noFill/>
        </p:spPr>
        <p:txBody>
          <a:bodyPr vert="horz" wrap="square" lIns="0" tIns="0" rIns="0" bIns="0" rtlCol="0" anchor="t">
            <a:noAutofit/>
          </a:bodyPr>
          <a:lstStyle/>
          <a:p>
            <a:r>
              <a:rPr lang="en-IN" sz="2400">
                <a:solidFill>
                  <a:srgbClr val="F1F4F9"/>
                </a:solidFill>
                <a:latin typeface="Segoe UI Semibold" panose="020B0702040204020203" pitchFamily="34" charset="0"/>
              </a:rPr>
              <a:t>153 / 153</a:t>
            </a:r>
          </a:p>
        </p:txBody>
      </p:sp>
      <p:sp>
        <p:nvSpPr>
          <p:cNvPr id="15" name="TextBox 14">
            <a:extLst>
              <a:ext uri="{FF2B5EF4-FFF2-40B4-BE49-F238E27FC236}">
                <a16:creationId xmlns:a16="http://schemas.microsoft.com/office/drawing/2014/main" id="{0FD7FA36-F111-99E9-829C-276480775A37}"/>
              </a:ext>
            </a:extLst>
          </p:cNvPr>
          <p:cNvSpPr txBox="1"/>
          <p:nvPr/>
        </p:nvSpPr>
        <p:spPr>
          <a:xfrm>
            <a:off x="3505200" y="1752600"/>
            <a:ext cx="2413000" cy="152400"/>
          </a:xfrm>
          <a:prstGeom prst="rect">
            <a:avLst/>
          </a:prstGeom>
          <a:noFill/>
        </p:spPr>
        <p:txBody>
          <a:bodyPr vert="horz" wrap="square" lIns="0" tIns="0" rIns="0" bIns="0" rtlCol="0" anchor="t">
            <a:noAutofit/>
          </a:bodyPr>
          <a:lstStyle/>
          <a:p>
            <a:r>
              <a:rPr lang="en-IN" sz="800">
                <a:solidFill>
                  <a:srgbClr val="3CCF8E"/>
                </a:solidFill>
                <a:latin typeface="Segoe UI Semibold" panose="020B0702040204020203" pitchFamily="34" charset="0"/>
              </a:rPr>
              <a:t>PostgREST checks pass</a:t>
            </a:r>
          </a:p>
        </p:txBody>
      </p:sp>
      <p:sp>
        <p:nvSpPr>
          <p:cNvPr id="16" name="TextBox 15">
            <a:extLst>
              <a:ext uri="{FF2B5EF4-FFF2-40B4-BE49-F238E27FC236}">
                <a16:creationId xmlns:a16="http://schemas.microsoft.com/office/drawing/2014/main" id="{3FB569D0-E283-FC34-319A-24641EC50DEB}"/>
              </a:ext>
            </a:extLst>
          </p:cNvPr>
          <p:cNvSpPr txBox="1"/>
          <p:nvPr/>
        </p:nvSpPr>
        <p:spPr>
          <a:xfrm>
            <a:off x="3505200" y="2006600"/>
            <a:ext cx="2413000" cy="177800"/>
          </a:xfrm>
          <a:prstGeom prst="rect">
            <a:avLst/>
          </a:prstGeom>
          <a:noFill/>
        </p:spPr>
        <p:txBody>
          <a:bodyPr vert="horz" wrap="square" lIns="0" tIns="0" rIns="0" bIns="0" rtlCol="0" anchor="t">
            <a:noAutofit/>
          </a:bodyPr>
          <a:lstStyle/>
          <a:p>
            <a:r>
              <a:rPr lang="en-US" sz="900">
                <a:solidFill>
                  <a:srgbClr val="F1F4F9"/>
                </a:solidFill>
                <a:latin typeface="Segoe UI Semibold" panose="020B0702040204020203" pitchFamily="34" charset="0"/>
              </a:rPr>
              <a:t>Phase 2H persistence over HTTP</a:t>
            </a:r>
            <a:endParaRPr lang="en-IN" sz="900">
              <a:solidFill>
                <a:srgbClr val="F1F4F9"/>
              </a:solidFill>
              <a:latin typeface="Segoe UI Semibold" panose="020B0702040204020203" pitchFamily="34" charset="0"/>
            </a:endParaRPr>
          </a:p>
        </p:txBody>
      </p:sp>
      <p:sp>
        <p:nvSpPr>
          <p:cNvPr id="17" name="TextBox 16">
            <a:extLst>
              <a:ext uri="{FF2B5EF4-FFF2-40B4-BE49-F238E27FC236}">
                <a16:creationId xmlns:a16="http://schemas.microsoft.com/office/drawing/2014/main" id="{32D44B8D-0D71-87EE-B8F4-853E06A5D4F3}"/>
              </a:ext>
            </a:extLst>
          </p:cNvPr>
          <p:cNvSpPr txBox="1"/>
          <p:nvPr/>
        </p:nvSpPr>
        <p:spPr>
          <a:xfrm>
            <a:off x="3505200" y="2260600"/>
            <a:ext cx="2362200" cy="558800"/>
          </a:xfrm>
          <a:prstGeom prst="rect">
            <a:avLst/>
          </a:prstGeom>
          <a:noFill/>
        </p:spPr>
        <p:txBody>
          <a:bodyPr vert="horz" wrap="square" lIns="0" tIns="0" rIns="0" bIns="0" rtlCol="0" anchor="t">
            <a:noAutofit/>
          </a:bodyPr>
          <a:lstStyle/>
          <a:p>
            <a:r>
              <a:rPr lang="en-US" sz="900">
                <a:solidFill>
                  <a:srgbClr val="B3BDCF"/>
                </a:solidFill>
                <a:latin typeface="Segoe UI" panose="020B0502040204020203" pitchFamily="34" charset="0"/>
              </a:rPr>
              <a:t>authorization, write-path and tamper checks via the real API</a:t>
            </a:r>
            <a:endParaRPr lang="en-IN" sz="900">
              <a:solidFill>
                <a:srgbClr val="B3BDCF"/>
              </a:solidFill>
              <a:latin typeface="Segoe UI" panose="020B0502040204020203" pitchFamily="34" charset="0"/>
            </a:endParaRPr>
          </a:p>
        </p:txBody>
      </p:sp>
      <p:sp>
        <p:nvSpPr>
          <p:cNvPr id="18" name="Rectangle: Rounded Corners 17">
            <a:extLst>
              <a:ext uri="{FF2B5EF4-FFF2-40B4-BE49-F238E27FC236}">
                <a16:creationId xmlns:a16="http://schemas.microsoft.com/office/drawing/2014/main" id="{90D5E38C-165C-6F54-709D-8E9B5F6EE098}"/>
              </a:ext>
            </a:extLst>
          </p:cNvPr>
          <p:cNvSpPr/>
          <p:nvPr/>
        </p:nvSpPr>
        <p:spPr>
          <a:xfrm>
            <a:off x="6146800" y="1193800"/>
            <a:ext cx="2692400" cy="1676400"/>
          </a:xfrm>
          <a:prstGeom prst="roundRect">
            <a:avLst>
              <a:gd name="adj" fmla="val 6061"/>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30256016-C384-B148-D87C-7408CBAE2633}"/>
              </a:ext>
            </a:extLst>
          </p:cNvPr>
          <p:cNvSpPr txBox="1"/>
          <p:nvPr/>
        </p:nvSpPr>
        <p:spPr>
          <a:xfrm>
            <a:off x="6324600" y="1346200"/>
            <a:ext cx="2413000" cy="381000"/>
          </a:xfrm>
          <a:prstGeom prst="rect">
            <a:avLst/>
          </a:prstGeom>
          <a:noFill/>
        </p:spPr>
        <p:txBody>
          <a:bodyPr vert="horz" wrap="square" lIns="0" tIns="0" rIns="0" bIns="0" rtlCol="0" anchor="t">
            <a:noAutofit/>
          </a:bodyPr>
          <a:lstStyle/>
          <a:p>
            <a:r>
              <a:rPr lang="en-IN" sz="2400">
                <a:solidFill>
                  <a:srgbClr val="F1F4F9"/>
                </a:solidFill>
                <a:latin typeface="Segoe UI Semibold" panose="020B0702040204020203" pitchFamily="34" charset="0"/>
              </a:rPr>
              <a:t>166 / 166</a:t>
            </a:r>
          </a:p>
        </p:txBody>
      </p:sp>
      <p:sp>
        <p:nvSpPr>
          <p:cNvPr id="20" name="TextBox 19">
            <a:extLst>
              <a:ext uri="{FF2B5EF4-FFF2-40B4-BE49-F238E27FC236}">
                <a16:creationId xmlns:a16="http://schemas.microsoft.com/office/drawing/2014/main" id="{D08F7A41-A1D6-9D6C-7E5B-447ACA72F624}"/>
              </a:ext>
            </a:extLst>
          </p:cNvPr>
          <p:cNvSpPr txBox="1"/>
          <p:nvPr/>
        </p:nvSpPr>
        <p:spPr>
          <a:xfrm>
            <a:off x="6324600" y="1752600"/>
            <a:ext cx="2413000" cy="152400"/>
          </a:xfrm>
          <a:prstGeom prst="rect">
            <a:avLst/>
          </a:prstGeom>
          <a:noFill/>
        </p:spPr>
        <p:txBody>
          <a:bodyPr vert="horz" wrap="square" lIns="0" tIns="0" rIns="0" bIns="0" rtlCol="0" anchor="t">
            <a:noAutofit/>
          </a:bodyPr>
          <a:lstStyle/>
          <a:p>
            <a:r>
              <a:rPr lang="en-IN" sz="800">
                <a:solidFill>
                  <a:srgbClr val="3CCF8E"/>
                </a:solidFill>
                <a:latin typeface="Segoe UI Semibold" panose="020B0702040204020203" pitchFamily="34" charset="0"/>
              </a:rPr>
              <a:t>parser tests pass</a:t>
            </a:r>
          </a:p>
        </p:txBody>
      </p:sp>
      <p:sp>
        <p:nvSpPr>
          <p:cNvPr id="21" name="TextBox 20">
            <a:extLst>
              <a:ext uri="{FF2B5EF4-FFF2-40B4-BE49-F238E27FC236}">
                <a16:creationId xmlns:a16="http://schemas.microsoft.com/office/drawing/2014/main" id="{1A6D9A49-9F37-B8AB-F244-42E0AF9C39F0}"/>
              </a:ext>
            </a:extLst>
          </p:cNvPr>
          <p:cNvSpPr txBox="1"/>
          <p:nvPr/>
        </p:nvSpPr>
        <p:spPr>
          <a:xfrm>
            <a:off x="6324600" y="2006600"/>
            <a:ext cx="2413000" cy="177800"/>
          </a:xfrm>
          <a:prstGeom prst="rect">
            <a:avLst/>
          </a:prstGeom>
          <a:noFill/>
        </p:spPr>
        <p:txBody>
          <a:bodyPr vert="horz" wrap="square" lIns="0" tIns="0" rIns="0" bIns="0" rtlCol="0" anchor="t">
            <a:noAutofit/>
          </a:bodyPr>
          <a:lstStyle/>
          <a:p>
            <a:r>
              <a:rPr lang="en-IN" sz="900">
                <a:solidFill>
                  <a:srgbClr val="F1F4F9"/>
                </a:solidFill>
                <a:latin typeface="Segoe UI Semibold" panose="020B0702040204020203" pitchFamily="34" charset="0"/>
              </a:rPr>
              <a:t>Tree-sitter adapters</a:t>
            </a:r>
          </a:p>
        </p:txBody>
      </p:sp>
      <p:sp>
        <p:nvSpPr>
          <p:cNvPr id="22" name="TextBox 21">
            <a:extLst>
              <a:ext uri="{FF2B5EF4-FFF2-40B4-BE49-F238E27FC236}">
                <a16:creationId xmlns:a16="http://schemas.microsoft.com/office/drawing/2014/main" id="{4813703D-A3AD-64C2-C201-A5075DF28630}"/>
              </a:ext>
            </a:extLst>
          </p:cNvPr>
          <p:cNvSpPr txBox="1"/>
          <p:nvPr/>
        </p:nvSpPr>
        <p:spPr>
          <a:xfrm>
            <a:off x="6324600" y="2260600"/>
            <a:ext cx="2362200" cy="558800"/>
          </a:xfrm>
          <a:prstGeom prst="rect">
            <a:avLst/>
          </a:prstGeom>
          <a:noFill/>
        </p:spPr>
        <p:txBody>
          <a:bodyPr vert="horz" wrap="square" lIns="0" tIns="0" rIns="0" bIns="0" rtlCol="0" anchor="t">
            <a:noAutofit/>
          </a:bodyPr>
          <a:lstStyle/>
          <a:p>
            <a:r>
              <a:rPr lang="en-IN" sz="900">
                <a:solidFill>
                  <a:srgbClr val="B3BDCF"/>
                </a:solidFill>
                <a:latin typeface="Segoe UI" panose="020B0502040204020203" pitchFamily="34" charset="0"/>
              </a:rPr>
              <a:t>TypeScript, TSX, JavaScript, Python, Java</a:t>
            </a:r>
          </a:p>
        </p:txBody>
      </p:sp>
      <p:sp>
        <p:nvSpPr>
          <p:cNvPr id="23" name="Rectangle: Rounded Corners 22">
            <a:extLst>
              <a:ext uri="{FF2B5EF4-FFF2-40B4-BE49-F238E27FC236}">
                <a16:creationId xmlns:a16="http://schemas.microsoft.com/office/drawing/2014/main" id="{BA07E61E-CE69-665B-4B7B-08E1F5898A08}"/>
              </a:ext>
            </a:extLst>
          </p:cNvPr>
          <p:cNvSpPr/>
          <p:nvPr/>
        </p:nvSpPr>
        <p:spPr>
          <a:xfrm>
            <a:off x="8966200" y="1193800"/>
            <a:ext cx="2692400" cy="1676400"/>
          </a:xfrm>
          <a:prstGeom prst="roundRect">
            <a:avLst>
              <a:gd name="adj" fmla="val 6061"/>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DCFED239-72C1-647D-081F-3B46DFA80E43}"/>
              </a:ext>
            </a:extLst>
          </p:cNvPr>
          <p:cNvSpPr txBox="1"/>
          <p:nvPr/>
        </p:nvSpPr>
        <p:spPr>
          <a:xfrm>
            <a:off x="9144000" y="1346200"/>
            <a:ext cx="2413000" cy="381000"/>
          </a:xfrm>
          <a:prstGeom prst="rect">
            <a:avLst/>
          </a:prstGeom>
          <a:noFill/>
        </p:spPr>
        <p:txBody>
          <a:bodyPr vert="horz" wrap="square" lIns="0" tIns="0" rIns="0" bIns="0" rtlCol="0" anchor="t">
            <a:noAutofit/>
          </a:bodyPr>
          <a:lstStyle/>
          <a:p>
            <a:r>
              <a:rPr lang="en-IN" sz="2400">
                <a:solidFill>
                  <a:srgbClr val="F1F4F9"/>
                </a:solidFill>
                <a:latin typeface="Segoe UI Semibold" panose="020B0702040204020203" pitchFamily="34" charset="0"/>
              </a:rPr>
              <a:t>114 / 114</a:t>
            </a:r>
          </a:p>
        </p:txBody>
      </p:sp>
      <p:sp>
        <p:nvSpPr>
          <p:cNvPr id="25" name="TextBox 24">
            <a:extLst>
              <a:ext uri="{FF2B5EF4-FFF2-40B4-BE49-F238E27FC236}">
                <a16:creationId xmlns:a16="http://schemas.microsoft.com/office/drawing/2014/main" id="{604CF909-9866-B29D-D495-2AD4EC47B582}"/>
              </a:ext>
            </a:extLst>
          </p:cNvPr>
          <p:cNvSpPr txBox="1"/>
          <p:nvPr/>
        </p:nvSpPr>
        <p:spPr>
          <a:xfrm>
            <a:off x="9144000" y="1752600"/>
            <a:ext cx="2413000" cy="152400"/>
          </a:xfrm>
          <a:prstGeom prst="rect">
            <a:avLst/>
          </a:prstGeom>
          <a:noFill/>
        </p:spPr>
        <p:txBody>
          <a:bodyPr vert="horz" wrap="square" lIns="0" tIns="0" rIns="0" bIns="0" rtlCol="0" anchor="t">
            <a:noAutofit/>
          </a:bodyPr>
          <a:lstStyle/>
          <a:p>
            <a:r>
              <a:rPr lang="en-IN" sz="800">
                <a:solidFill>
                  <a:srgbClr val="3CCF8E"/>
                </a:solidFill>
                <a:latin typeface="Segoe UI Semibold" panose="020B0702040204020203" pitchFamily="34" charset="0"/>
              </a:rPr>
              <a:t>manifest tests pass</a:t>
            </a:r>
          </a:p>
        </p:txBody>
      </p:sp>
      <p:sp>
        <p:nvSpPr>
          <p:cNvPr id="26" name="TextBox 25">
            <a:extLst>
              <a:ext uri="{FF2B5EF4-FFF2-40B4-BE49-F238E27FC236}">
                <a16:creationId xmlns:a16="http://schemas.microsoft.com/office/drawing/2014/main" id="{8D87E089-D12A-A31E-4E03-31ED6E474412}"/>
              </a:ext>
            </a:extLst>
          </p:cNvPr>
          <p:cNvSpPr txBox="1"/>
          <p:nvPr/>
        </p:nvSpPr>
        <p:spPr>
          <a:xfrm>
            <a:off x="9144000" y="2006600"/>
            <a:ext cx="2413000" cy="177800"/>
          </a:xfrm>
          <a:prstGeom prst="rect">
            <a:avLst/>
          </a:prstGeom>
          <a:noFill/>
        </p:spPr>
        <p:txBody>
          <a:bodyPr vert="horz" wrap="square" lIns="0" tIns="0" rIns="0" bIns="0" rtlCol="0" anchor="t">
            <a:noAutofit/>
          </a:bodyPr>
          <a:lstStyle/>
          <a:p>
            <a:r>
              <a:rPr lang="en-IN" sz="900">
                <a:solidFill>
                  <a:srgbClr val="F1F4F9"/>
                </a:solidFill>
                <a:latin typeface="Segoe UI Semibold" panose="020B0702040204020203" pitchFamily="34" charset="0"/>
              </a:rPr>
              <a:t>Snapshot file manifests</a:t>
            </a:r>
          </a:p>
        </p:txBody>
      </p:sp>
      <p:sp>
        <p:nvSpPr>
          <p:cNvPr id="27" name="TextBox 26">
            <a:extLst>
              <a:ext uri="{FF2B5EF4-FFF2-40B4-BE49-F238E27FC236}">
                <a16:creationId xmlns:a16="http://schemas.microsoft.com/office/drawing/2014/main" id="{367F7135-69E8-7E1B-95DB-EFDB3B193916}"/>
              </a:ext>
            </a:extLst>
          </p:cNvPr>
          <p:cNvSpPr txBox="1"/>
          <p:nvPr/>
        </p:nvSpPr>
        <p:spPr>
          <a:xfrm>
            <a:off x="9144000" y="2260600"/>
            <a:ext cx="2362200" cy="558800"/>
          </a:xfrm>
          <a:prstGeom prst="rect">
            <a:avLst/>
          </a:prstGeom>
          <a:noFill/>
        </p:spPr>
        <p:txBody>
          <a:bodyPr vert="horz" wrap="square" lIns="0" tIns="0" rIns="0" bIns="0" rtlCol="0" anchor="t">
            <a:noAutofit/>
          </a:bodyPr>
          <a:lstStyle/>
          <a:p>
            <a:r>
              <a:rPr lang="en-IN" sz="900">
                <a:solidFill>
                  <a:srgbClr val="B3BDCF"/>
                </a:solidFill>
                <a:latin typeface="Segoe UI" panose="020B0502040204020203" pitchFamily="34" charset="0"/>
              </a:rPr>
              <a:t>paths, languages, sizes, hashes, isolation</a:t>
            </a:r>
          </a:p>
        </p:txBody>
      </p:sp>
      <p:sp>
        <p:nvSpPr>
          <p:cNvPr id="28" name="Rectangle: Rounded Corners 27">
            <a:extLst>
              <a:ext uri="{FF2B5EF4-FFF2-40B4-BE49-F238E27FC236}">
                <a16:creationId xmlns:a16="http://schemas.microsoft.com/office/drawing/2014/main" id="{0BDE8AF6-3A8E-F9A1-C209-179BC20E0181}"/>
              </a:ext>
            </a:extLst>
          </p:cNvPr>
          <p:cNvSpPr/>
          <p:nvPr/>
        </p:nvSpPr>
        <p:spPr>
          <a:xfrm>
            <a:off x="508000" y="3022600"/>
            <a:ext cx="5461000" cy="3251200"/>
          </a:xfrm>
          <a:prstGeom prst="roundRect">
            <a:avLst>
              <a:gd name="adj" fmla="val 3125"/>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B5FABBF9-A28D-AD6A-8967-9441264FBC56}"/>
              </a:ext>
            </a:extLst>
          </p:cNvPr>
          <p:cNvSpPr txBox="1"/>
          <p:nvPr/>
        </p:nvSpPr>
        <p:spPr>
          <a:xfrm>
            <a:off x="711200" y="3175000"/>
            <a:ext cx="381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BUILD AND REGRESSION CHECKS</a:t>
            </a:r>
          </a:p>
        </p:txBody>
      </p:sp>
      <p:sp>
        <p:nvSpPr>
          <p:cNvPr id="30" name="TextBox 29">
            <a:extLst>
              <a:ext uri="{FF2B5EF4-FFF2-40B4-BE49-F238E27FC236}">
                <a16:creationId xmlns:a16="http://schemas.microsoft.com/office/drawing/2014/main" id="{8D156A83-892C-41BA-F4F3-02971D0E8EB5}"/>
              </a:ext>
            </a:extLst>
          </p:cNvPr>
          <p:cNvSpPr txBox="1"/>
          <p:nvPr/>
        </p:nvSpPr>
        <p:spPr>
          <a:xfrm>
            <a:off x="711200" y="3429000"/>
            <a:ext cx="3810000" cy="203200"/>
          </a:xfrm>
          <a:prstGeom prst="rect">
            <a:avLst/>
          </a:prstGeom>
          <a:noFill/>
        </p:spPr>
        <p:txBody>
          <a:bodyPr vert="horz" wrap="square" lIns="0" tIns="0" rIns="0" bIns="0" rtlCol="0" anchor="t">
            <a:noAutofit/>
          </a:bodyPr>
          <a:lstStyle/>
          <a:p>
            <a:r>
              <a:rPr lang="en-IN" sz="950">
                <a:solidFill>
                  <a:srgbClr val="B3BDCF"/>
                </a:solidFill>
                <a:latin typeface="Segoe UI" panose="020B0502040204020203" pitchFamily="34" charset="0"/>
              </a:rPr>
              <a:t>TypeScript type check</a:t>
            </a:r>
          </a:p>
        </p:txBody>
      </p:sp>
      <p:sp>
        <p:nvSpPr>
          <p:cNvPr id="31" name="Rectangle: Rounded Corners 30">
            <a:extLst>
              <a:ext uri="{FF2B5EF4-FFF2-40B4-BE49-F238E27FC236}">
                <a16:creationId xmlns:a16="http://schemas.microsoft.com/office/drawing/2014/main" id="{6E3935CB-7430-D42F-A50C-16759AEC55EB}"/>
              </a:ext>
            </a:extLst>
          </p:cNvPr>
          <p:cNvSpPr/>
          <p:nvPr/>
        </p:nvSpPr>
        <p:spPr>
          <a:xfrm>
            <a:off x="5130800" y="3429000"/>
            <a:ext cx="635000" cy="190500"/>
          </a:xfrm>
          <a:prstGeom prst="roundRect">
            <a:avLst>
              <a:gd name="adj" fmla="val 4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a:solidFill>
                  <a:srgbClr val="3CCF8E"/>
                </a:solidFill>
                <a:latin typeface="Segoe UI Semibold" panose="020B0702040204020203" pitchFamily="34" charset="0"/>
              </a:rPr>
              <a:t>PASS</a:t>
            </a:r>
          </a:p>
        </p:txBody>
      </p:sp>
      <p:cxnSp>
        <p:nvCxnSpPr>
          <p:cNvPr id="32" name="Straight Connector 31">
            <a:extLst>
              <a:ext uri="{FF2B5EF4-FFF2-40B4-BE49-F238E27FC236}">
                <a16:creationId xmlns:a16="http://schemas.microsoft.com/office/drawing/2014/main" id="{8615DC57-2667-A15F-EA04-183142733B3A}"/>
              </a:ext>
            </a:extLst>
          </p:cNvPr>
          <p:cNvCxnSpPr/>
          <p:nvPr/>
        </p:nvCxnSpPr>
        <p:spPr>
          <a:xfrm>
            <a:off x="711200" y="3708400"/>
            <a:ext cx="50546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CA87002-A11D-A47B-EEFF-C4A5D2705935}"/>
              </a:ext>
            </a:extLst>
          </p:cNvPr>
          <p:cNvSpPr txBox="1"/>
          <p:nvPr/>
        </p:nvSpPr>
        <p:spPr>
          <a:xfrm>
            <a:off x="711200" y="3810000"/>
            <a:ext cx="3810000" cy="203200"/>
          </a:xfrm>
          <a:prstGeom prst="rect">
            <a:avLst/>
          </a:prstGeom>
          <a:noFill/>
        </p:spPr>
        <p:txBody>
          <a:bodyPr vert="horz" wrap="square" lIns="0" tIns="0" rIns="0" bIns="0" rtlCol="0" anchor="t">
            <a:noAutofit/>
          </a:bodyPr>
          <a:lstStyle/>
          <a:p>
            <a:r>
              <a:rPr lang="en-IN" sz="950">
                <a:solidFill>
                  <a:srgbClr val="B3BDCF"/>
                </a:solidFill>
                <a:latin typeface="Segoe UI" panose="020B0502040204020203" pitchFamily="34" charset="0"/>
              </a:rPr>
              <a:t>ESLint</a:t>
            </a:r>
          </a:p>
        </p:txBody>
      </p:sp>
      <p:sp>
        <p:nvSpPr>
          <p:cNvPr id="34" name="Rectangle: Rounded Corners 33">
            <a:extLst>
              <a:ext uri="{FF2B5EF4-FFF2-40B4-BE49-F238E27FC236}">
                <a16:creationId xmlns:a16="http://schemas.microsoft.com/office/drawing/2014/main" id="{18304B45-D912-169F-6639-0C0068096D12}"/>
              </a:ext>
            </a:extLst>
          </p:cNvPr>
          <p:cNvSpPr/>
          <p:nvPr/>
        </p:nvSpPr>
        <p:spPr>
          <a:xfrm>
            <a:off x="5130800" y="3810000"/>
            <a:ext cx="635000" cy="190500"/>
          </a:xfrm>
          <a:prstGeom prst="roundRect">
            <a:avLst>
              <a:gd name="adj" fmla="val 4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a:solidFill>
                  <a:srgbClr val="3CCF8E"/>
                </a:solidFill>
                <a:latin typeface="Segoe UI Semibold" panose="020B0702040204020203" pitchFamily="34" charset="0"/>
              </a:rPr>
              <a:t>PASS</a:t>
            </a:r>
          </a:p>
        </p:txBody>
      </p:sp>
      <p:cxnSp>
        <p:nvCxnSpPr>
          <p:cNvPr id="35" name="Straight Connector 34">
            <a:extLst>
              <a:ext uri="{FF2B5EF4-FFF2-40B4-BE49-F238E27FC236}">
                <a16:creationId xmlns:a16="http://schemas.microsoft.com/office/drawing/2014/main" id="{16B7603F-69CC-01ED-8A0B-ED0F3BFD188A}"/>
              </a:ext>
            </a:extLst>
          </p:cNvPr>
          <p:cNvCxnSpPr/>
          <p:nvPr/>
        </p:nvCxnSpPr>
        <p:spPr>
          <a:xfrm>
            <a:off x="711200" y="4089400"/>
            <a:ext cx="50546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6002048-57F7-25FC-750B-AEED0521EFAC}"/>
              </a:ext>
            </a:extLst>
          </p:cNvPr>
          <p:cNvSpPr txBox="1"/>
          <p:nvPr/>
        </p:nvSpPr>
        <p:spPr>
          <a:xfrm>
            <a:off x="711200" y="4191000"/>
            <a:ext cx="3810000" cy="203200"/>
          </a:xfrm>
          <a:prstGeom prst="rect">
            <a:avLst/>
          </a:prstGeom>
          <a:noFill/>
        </p:spPr>
        <p:txBody>
          <a:bodyPr vert="horz" wrap="square" lIns="0" tIns="0" rIns="0" bIns="0" rtlCol="0" anchor="t">
            <a:noAutofit/>
          </a:bodyPr>
          <a:lstStyle/>
          <a:p>
            <a:r>
              <a:rPr lang="en-IN" sz="950">
                <a:solidFill>
                  <a:srgbClr val="B3BDCF"/>
                </a:solidFill>
                <a:latin typeface="Segoe UI" panose="020B0502040204020203" pitchFamily="34" charset="0"/>
              </a:rPr>
              <a:t>Production build</a:t>
            </a:r>
          </a:p>
        </p:txBody>
      </p:sp>
      <p:sp>
        <p:nvSpPr>
          <p:cNvPr id="37" name="Rectangle: Rounded Corners 36">
            <a:extLst>
              <a:ext uri="{FF2B5EF4-FFF2-40B4-BE49-F238E27FC236}">
                <a16:creationId xmlns:a16="http://schemas.microsoft.com/office/drawing/2014/main" id="{48984AE2-2D63-1460-37F7-CC0EF7C5B39F}"/>
              </a:ext>
            </a:extLst>
          </p:cNvPr>
          <p:cNvSpPr/>
          <p:nvPr/>
        </p:nvSpPr>
        <p:spPr>
          <a:xfrm>
            <a:off x="5130800" y="4191000"/>
            <a:ext cx="635000" cy="190500"/>
          </a:xfrm>
          <a:prstGeom prst="roundRect">
            <a:avLst>
              <a:gd name="adj" fmla="val 4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a:solidFill>
                  <a:srgbClr val="3CCF8E"/>
                </a:solidFill>
                <a:latin typeface="Segoe UI Semibold" panose="020B0702040204020203" pitchFamily="34" charset="0"/>
              </a:rPr>
              <a:t>PASS</a:t>
            </a:r>
          </a:p>
        </p:txBody>
      </p:sp>
      <p:cxnSp>
        <p:nvCxnSpPr>
          <p:cNvPr id="38" name="Straight Connector 37">
            <a:extLst>
              <a:ext uri="{FF2B5EF4-FFF2-40B4-BE49-F238E27FC236}">
                <a16:creationId xmlns:a16="http://schemas.microsoft.com/office/drawing/2014/main" id="{2CA6C0E8-CA2B-49F0-5332-B69ABA8B4CCA}"/>
              </a:ext>
            </a:extLst>
          </p:cNvPr>
          <p:cNvCxnSpPr/>
          <p:nvPr/>
        </p:nvCxnSpPr>
        <p:spPr>
          <a:xfrm>
            <a:off x="711200" y="4470400"/>
            <a:ext cx="50546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700B1AF-9AB6-7680-3002-F2F7FFE4A96E}"/>
              </a:ext>
            </a:extLst>
          </p:cNvPr>
          <p:cNvSpPr txBox="1"/>
          <p:nvPr/>
        </p:nvSpPr>
        <p:spPr>
          <a:xfrm>
            <a:off x="711200" y="4572000"/>
            <a:ext cx="3810000" cy="203200"/>
          </a:xfrm>
          <a:prstGeom prst="rect">
            <a:avLst/>
          </a:prstGeom>
          <a:noFill/>
        </p:spPr>
        <p:txBody>
          <a:bodyPr vert="horz" wrap="square" lIns="0" tIns="0" rIns="0" bIns="0" rtlCol="0" anchor="t">
            <a:noAutofit/>
          </a:bodyPr>
          <a:lstStyle/>
          <a:p>
            <a:r>
              <a:rPr lang="en-IN" sz="950">
                <a:solidFill>
                  <a:srgbClr val="B3BDCF"/>
                </a:solidFill>
                <a:latin typeface="Segoe UI" panose="020B0502040204020203" pitchFamily="34" charset="0"/>
              </a:rPr>
              <a:t>Database schema diff vs migrations</a:t>
            </a:r>
          </a:p>
        </p:txBody>
      </p:sp>
      <p:sp>
        <p:nvSpPr>
          <p:cNvPr id="40" name="Rectangle: Rounded Corners 39">
            <a:extLst>
              <a:ext uri="{FF2B5EF4-FFF2-40B4-BE49-F238E27FC236}">
                <a16:creationId xmlns:a16="http://schemas.microsoft.com/office/drawing/2014/main" id="{60BD3A66-84FA-48E7-ACBA-34F0CBA0E784}"/>
              </a:ext>
            </a:extLst>
          </p:cNvPr>
          <p:cNvSpPr/>
          <p:nvPr/>
        </p:nvSpPr>
        <p:spPr>
          <a:xfrm>
            <a:off x="5130800" y="4572000"/>
            <a:ext cx="635000" cy="190500"/>
          </a:xfrm>
          <a:prstGeom prst="roundRect">
            <a:avLst>
              <a:gd name="adj" fmla="val 4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a:solidFill>
                  <a:srgbClr val="3CCF8E"/>
                </a:solidFill>
                <a:latin typeface="Segoe UI Semibold" panose="020B0702040204020203" pitchFamily="34" charset="0"/>
              </a:rPr>
              <a:t>CLEAN</a:t>
            </a:r>
          </a:p>
        </p:txBody>
      </p:sp>
      <p:cxnSp>
        <p:nvCxnSpPr>
          <p:cNvPr id="41" name="Straight Connector 40">
            <a:extLst>
              <a:ext uri="{FF2B5EF4-FFF2-40B4-BE49-F238E27FC236}">
                <a16:creationId xmlns:a16="http://schemas.microsoft.com/office/drawing/2014/main" id="{9D1D0F0C-E90D-71C8-E50F-2D9CF2D163ED}"/>
              </a:ext>
            </a:extLst>
          </p:cNvPr>
          <p:cNvCxnSpPr/>
          <p:nvPr/>
        </p:nvCxnSpPr>
        <p:spPr>
          <a:xfrm>
            <a:off x="711200" y="4851400"/>
            <a:ext cx="50546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E2CC588-7D58-7B26-6625-A30ABB771F11}"/>
              </a:ext>
            </a:extLst>
          </p:cNvPr>
          <p:cNvSpPr txBox="1"/>
          <p:nvPr/>
        </p:nvSpPr>
        <p:spPr>
          <a:xfrm>
            <a:off x="711200" y="4953000"/>
            <a:ext cx="3810000" cy="203200"/>
          </a:xfrm>
          <a:prstGeom prst="rect">
            <a:avLst/>
          </a:prstGeom>
          <a:noFill/>
        </p:spPr>
        <p:txBody>
          <a:bodyPr vert="horz" wrap="square" lIns="0" tIns="0" rIns="0" bIns="0" rtlCol="0" anchor="t">
            <a:noAutofit/>
          </a:bodyPr>
          <a:lstStyle/>
          <a:p>
            <a:r>
              <a:rPr lang="en-US" sz="950">
                <a:solidFill>
                  <a:srgbClr val="B3BDCF"/>
                </a:solidFill>
                <a:latin typeface="Segoe UI" panose="020B0502040204020203" pitchFamily="34" charset="0"/>
              </a:rPr>
              <a:t>Secret scan of source and client bundle</a:t>
            </a:r>
            <a:endParaRPr lang="en-IN" sz="950">
              <a:solidFill>
                <a:srgbClr val="B3BDCF"/>
              </a:solidFill>
              <a:latin typeface="Segoe UI" panose="020B0502040204020203" pitchFamily="34" charset="0"/>
            </a:endParaRPr>
          </a:p>
        </p:txBody>
      </p:sp>
      <p:sp>
        <p:nvSpPr>
          <p:cNvPr id="43" name="Rectangle: Rounded Corners 42">
            <a:extLst>
              <a:ext uri="{FF2B5EF4-FFF2-40B4-BE49-F238E27FC236}">
                <a16:creationId xmlns:a16="http://schemas.microsoft.com/office/drawing/2014/main" id="{145BCBAE-4DAE-9022-BD0C-259F447578F9}"/>
              </a:ext>
            </a:extLst>
          </p:cNvPr>
          <p:cNvSpPr/>
          <p:nvPr/>
        </p:nvSpPr>
        <p:spPr>
          <a:xfrm>
            <a:off x="5130800" y="4953000"/>
            <a:ext cx="635000" cy="190500"/>
          </a:xfrm>
          <a:prstGeom prst="roundRect">
            <a:avLst>
              <a:gd name="adj" fmla="val 4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a:solidFill>
                  <a:srgbClr val="3CCF8E"/>
                </a:solidFill>
                <a:latin typeface="Segoe UI Semibold" panose="020B0702040204020203" pitchFamily="34" charset="0"/>
              </a:rPr>
              <a:t>CLEAN</a:t>
            </a:r>
          </a:p>
        </p:txBody>
      </p:sp>
      <p:cxnSp>
        <p:nvCxnSpPr>
          <p:cNvPr id="44" name="Straight Connector 43">
            <a:extLst>
              <a:ext uri="{FF2B5EF4-FFF2-40B4-BE49-F238E27FC236}">
                <a16:creationId xmlns:a16="http://schemas.microsoft.com/office/drawing/2014/main" id="{BDA94886-E3B3-A47E-20F1-16656D0E65DF}"/>
              </a:ext>
            </a:extLst>
          </p:cNvPr>
          <p:cNvCxnSpPr/>
          <p:nvPr/>
        </p:nvCxnSpPr>
        <p:spPr>
          <a:xfrm>
            <a:off x="711200" y="5232400"/>
            <a:ext cx="50546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AC700C7-BAE4-76F8-4B2D-2F6B15153356}"/>
              </a:ext>
            </a:extLst>
          </p:cNvPr>
          <p:cNvSpPr txBox="1"/>
          <p:nvPr/>
        </p:nvSpPr>
        <p:spPr>
          <a:xfrm>
            <a:off x="711200" y="5334000"/>
            <a:ext cx="3810000" cy="203200"/>
          </a:xfrm>
          <a:prstGeom prst="rect">
            <a:avLst/>
          </a:prstGeom>
          <a:noFill/>
        </p:spPr>
        <p:txBody>
          <a:bodyPr vert="horz" wrap="square" lIns="0" tIns="0" rIns="0" bIns="0" rtlCol="0" anchor="t">
            <a:noAutofit/>
          </a:bodyPr>
          <a:lstStyle/>
          <a:p>
            <a:r>
              <a:rPr lang="en-IN" sz="950">
                <a:solidFill>
                  <a:srgbClr val="B3BDCF"/>
                </a:solidFill>
                <a:latin typeface="Segoe UI" panose="020B0502040204020203" pitchFamily="34" charset="0"/>
              </a:rPr>
              <a:t>Phase 2A–2G regression suites</a:t>
            </a:r>
          </a:p>
        </p:txBody>
      </p:sp>
      <p:sp>
        <p:nvSpPr>
          <p:cNvPr id="46" name="Rectangle: Rounded Corners 45">
            <a:extLst>
              <a:ext uri="{FF2B5EF4-FFF2-40B4-BE49-F238E27FC236}">
                <a16:creationId xmlns:a16="http://schemas.microsoft.com/office/drawing/2014/main" id="{9C87B3B8-720A-2C52-667E-62501BDCA11A}"/>
              </a:ext>
            </a:extLst>
          </p:cNvPr>
          <p:cNvSpPr/>
          <p:nvPr/>
        </p:nvSpPr>
        <p:spPr>
          <a:xfrm>
            <a:off x="5130800" y="5334000"/>
            <a:ext cx="635000" cy="190500"/>
          </a:xfrm>
          <a:prstGeom prst="roundRect">
            <a:avLst>
              <a:gd name="adj" fmla="val 4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650">
                <a:solidFill>
                  <a:srgbClr val="3CCF8E"/>
                </a:solidFill>
                <a:latin typeface="Segoe UI Semibold" panose="020B0702040204020203" pitchFamily="34" charset="0"/>
              </a:rPr>
              <a:t>PASS</a:t>
            </a:r>
          </a:p>
        </p:txBody>
      </p:sp>
      <p:cxnSp>
        <p:nvCxnSpPr>
          <p:cNvPr id="47" name="Straight Connector 46">
            <a:extLst>
              <a:ext uri="{FF2B5EF4-FFF2-40B4-BE49-F238E27FC236}">
                <a16:creationId xmlns:a16="http://schemas.microsoft.com/office/drawing/2014/main" id="{7FC68E12-E338-FB08-39E1-3AD4EE04C92A}"/>
              </a:ext>
            </a:extLst>
          </p:cNvPr>
          <p:cNvCxnSpPr/>
          <p:nvPr/>
        </p:nvCxnSpPr>
        <p:spPr>
          <a:xfrm>
            <a:off x="711200" y="5613400"/>
            <a:ext cx="50546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2051215C-73EE-4967-394B-C8855447E2D4}"/>
              </a:ext>
            </a:extLst>
          </p:cNvPr>
          <p:cNvSpPr/>
          <p:nvPr/>
        </p:nvSpPr>
        <p:spPr>
          <a:xfrm>
            <a:off x="6172200" y="3022600"/>
            <a:ext cx="5511800" cy="1524000"/>
          </a:xfrm>
          <a:prstGeom prst="roundRect">
            <a:avLst>
              <a:gd name="adj" fmla="val 6667"/>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7C8B529C-4E03-6530-1E20-875B1C2647FF}"/>
              </a:ext>
            </a:extLst>
          </p:cNvPr>
          <p:cNvSpPr txBox="1"/>
          <p:nvPr/>
        </p:nvSpPr>
        <p:spPr>
          <a:xfrm>
            <a:off x="6375400" y="3175000"/>
            <a:ext cx="381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FUNCTIONAL RESULT</a:t>
            </a:r>
          </a:p>
        </p:txBody>
      </p:sp>
      <p:sp>
        <p:nvSpPr>
          <p:cNvPr id="50" name="TextBox 49">
            <a:extLst>
              <a:ext uri="{FF2B5EF4-FFF2-40B4-BE49-F238E27FC236}">
                <a16:creationId xmlns:a16="http://schemas.microsoft.com/office/drawing/2014/main" id="{8DE06A5F-79CE-D3AF-E4DE-55E4AAFBE0E4}"/>
              </a:ext>
            </a:extLst>
          </p:cNvPr>
          <p:cNvSpPr txBox="1"/>
          <p:nvPr/>
        </p:nvSpPr>
        <p:spPr>
          <a:xfrm>
            <a:off x="6375400" y="3403600"/>
            <a:ext cx="5130800" cy="1092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Demo snapshot: 42 symbols and 42 relationships extracted from 4 of 10 files; 3 unsupported, 3 failed by design (drift, size, syntax). In verification runs the extracted symbols were identical between development and production builds.</a:t>
            </a:r>
            <a:endParaRPr lang="en-IN" sz="1050">
              <a:solidFill>
                <a:srgbClr val="B3BDCF"/>
              </a:solidFill>
              <a:latin typeface="Segoe UI" panose="020B0502040204020203" pitchFamily="34" charset="0"/>
            </a:endParaRPr>
          </a:p>
        </p:txBody>
      </p:sp>
      <p:sp>
        <p:nvSpPr>
          <p:cNvPr id="51" name="Rectangle: Rounded Corners 50">
            <a:extLst>
              <a:ext uri="{FF2B5EF4-FFF2-40B4-BE49-F238E27FC236}">
                <a16:creationId xmlns:a16="http://schemas.microsoft.com/office/drawing/2014/main" id="{124D4C8E-5329-D093-A49B-B50EDAFBADB0}"/>
              </a:ext>
            </a:extLst>
          </p:cNvPr>
          <p:cNvSpPr/>
          <p:nvPr/>
        </p:nvSpPr>
        <p:spPr>
          <a:xfrm>
            <a:off x="6172200" y="4673600"/>
            <a:ext cx="5511800" cy="1600200"/>
          </a:xfrm>
          <a:prstGeom prst="roundRect">
            <a:avLst>
              <a:gd name="adj" fmla="val 6349"/>
            </a:avLst>
          </a:prstGeom>
          <a:solidFill>
            <a:srgbClr val="33270F"/>
          </a:solidFill>
          <a:ln w="9525">
            <a:solidFill>
              <a:srgbClr val="B07A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TextBox 51">
            <a:extLst>
              <a:ext uri="{FF2B5EF4-FFF2-40B4-BE49-F238E27FC236}">
                <a16:creationId xmlns:a16="http://schemas.microsoft.com/office/drawing/2014/main" id="{A4312B99-90A7-21E3-A70D-A5B09A1541A1}"/>
              </a:ext>
            </a:extLst>
          </p:cNvPr>
          <p:cNvSpPr txBox="1"/>
          <p:nvPr/>
        </p:nvSpPr>
        <p:spPr>
          <a:xfrm>
            <a:off x="6375400" y="4826000"/>
            <a:ext cx="3810000" cy="152400"/>
          </a:xfrm>
          <a:prstGeom prst="rect">
            <a:avLst/>
          </a:prstGeom>
          <a:noFill/>
        </p:spPr>
        <p:txBody>
          <a:bodyPr vert="horz" wrap="square" lIns="0" tIns="0" rIns="0" bIns="0" rtlCol="0" anchor="t">
            <a:noAutofit/>
          </a:bodyPr>
          <a:lstStyle/>
          <a:p>
            <a:r>
              <a:rPr lang="en-US" sz="750" spc="110">
                <a:solidFill>
                  <a:srgbClr val="F1A73B"/>
                </a:solidFill>
                <a:latin typeface="Segoe UI Semibold" panose="020B0702040204020203" pitchFamily="34" charset="0"/>
              </a:rPr>
              <a:t>HOW TO READ THE MUTATION SCORE</a:t>
            </a:r>
            <a:endParaRPr lang="en-IN" sz="750" spc="110">
              <a:solidFill>
                <a:srgbClr val="F1A73B"/>
              </a:solidFill>
              <a:latin typeface="Segoe UI Semibold" panose="020B0702040204020203" pitchFamily="34" charset="0"/>
            </a:endParaRPr>
          </a:p>
        </p:txBody>
      </p:sp>
      <p:sp>
        <p:nvSpPr>
          <p:cNvPr id="53" name="TextBox 52">
            <a:extLst>
              <a:ext uri="{FF2B5EF4-FFF2-40B4-BE49-F238E27FC236}">
                <a16:creationId xmlns:a16="http://schemas.microsoft.com/office/drawing/2014/main" id="{2D4F8CD7-C50F-906F-860E-C96B3BC63540}"/>
              </a:ext>
            </a:extLst>
          </p:cNvPr>
          <p:cNvSpPr txBox="1"/>
          <p:nvPr/>
        </p:nvSpPr>
        <p:spPr>
          <a:xfrm>
            <a:off x="6375400" y="5029200"/>
            <a:ext cx="5130800" cy="11938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Each of the 4 equivalent mutants was shown to behave exactly like the original code, so no test can kill it. They are excluded from the score, not counted as killed: 151 of 151 non-equivalent mutants were killed. They are not failures.</a:t>
            </a:r>
            <a:endParaRPr lang="en-IN" sz="1050">
              <a:solidFill>
                <a:srgbClr val="B3BDCF"/>
              </a:solidFill>
              <a:latin typeface="Segoe UI" panose="020B0502040204020203" pitchFamily="34" charset="0"/>
            </a:endParaRPr>
          </a:p>
        </p:txBody>
      </p:sp>
    </p:spTree>
    <p:extLst>
      <p:ext uri="{BB962C8B-B14F-4D97-AF65-F5344CB8AC3E}">
        <p14:creationId xmlns:p14="http://schemas.microsoft.com/office/powerpoint/2010/main" val="3557437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B1C545-2066-2890-B754-A9F0A059B217}"/>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18  ·  CHALLENGES FACED</a:t>
            </a:r>
          </a:p>
        </p:txBody>
      </p:sp>
      <p:sp>
        <p:nvSpPr>
          <p:cNvPr id="3" name="TextBox 2">
            <a:extLst>
              <a:ext uri="{FF2B5EF4-FFF2-40B4-BE49-F238E27FC236}">
                <a16:creationId xmlns:a16="http://schemas.microsoft.com/office/drawing/2014/main" id="{D1FBC27C-24BA-8057-7C5F-5B7063FC2E43}"/>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Challenges and Mitigation</a:t>
            </a:r>
          </a:p>
        </p:txBody>
      </p:sp>
      <p:sp>
        <p:nvSpPr>
          <p:cNvPr id="4" name="TextBox 3">
            <a:extLst>
              <a:ext uri="{FF2B5EF4-FFF2-40B4-BE49-F238E27FC236}">
                <a16:creationId xmlns:a16="http://schemas.microsoft.com/office/drawing/2014/main" id="{F1B160D3-23C5-20C7-1FAC-9011C6E86670}"/>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Real issues met during Phases 1 – 2H and how they were resolved.</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C331F308-79FF-73C7-77FE-6540688B603D}"/>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FDF5E52-4F4D-AE3A-736D-CA1179DBCC5A}"/>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A0C32227-A5A0-50D1-1976-427C74DB5E6C}"/>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18 / 20</a:t>
            </a:r>
          </a:p>
        </p:txBody>
      </p:sp>
      <p:sp>
        <p:nvSpPr>
          <p:cNvPr id="8" name="Rectangle 7">
            <a:extLst>
              <a:ext uri="{FF2B5EF4-FFF2-40B4-BE49-F238E27FC236}">
                <a16:creationId xmlns:a16="http://schemas.microsoft.com/office/drawing/2014/main" id="{31D9F87E-A196-FA21-369C-6673A42FC9D6}"/>
              </a:ext>
            </a:extLst>
          </p:cNvPr>
          <p:cNvSpPr/>
          <p:nvPr/>
        </p:nvSpPr>
        <p:spPr>
          <a:xfrm>
            <a:off x="508000" y="1168400"/>
            <a:ext cx="11176000" cy="279400"/>
          </a:xfrm>
          <a:prstGeom prst="rect">
            <a:avLst/>
          </a:prstGeom>
          <a:solidFill>
            <a:srgbClr val="1C29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D47B4F2-EC34-39DE-C70E-D26C5D3DA114}"/>
              </a:ext>
            </a:extLst>
          </p:cNvPr>
          <p:cNvSpPr/>
          <p:nvPr/>
        </p:nvSpPr>
        <p:spPr>
          <a:xfrm>
            <a:off x="508000" y="1447800"/>
            <a:ext cx="11176000" cy="9652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0B2F6F12-FA97-715B-64DC-C4CA49807D50}"/>
              </a:ext>
            </a:extLst>
          </p:cNvPr>
          <p:cNvSpPr/>
          <p:nvPr/>
        </p:nvSpPr>
        <p:spPr>
          <a:xfrm>
            <a:off x="508000" y="2413000"/>
            <a:ext cx="11176000" cy="965200"/>
          </a:xfrm>
          <a:prstGeom prst="rect">
            <a:avLst/>
          </a:prstGeom>
          <a:solidFill>
            <a:srgbClr val="0E16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4F535F90-563C-BB8A-331F-B34253E78757}"/>
              </a:ext>
            </a:extLst>
          </p:cNvPr>
          <p:cNvSpPr/>
          <p:nvPr/>
        </p:nvSpPr>
        <p:spPr>
          <a:xfrm>
            <a:off x="508000" y="3378200"/>
            <a:ext cx="11176000" cy="9652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FED4BF40-FED5-648C-5F62-6A577A96E3EB}"/>
              </a:ext>
            </a:extLst>
          </p:cNvPr>
          <p:cNvSpPr/>
          <p:nvPr/>
        </p:nvSpPr>
        <p:spPr>
          <a:xfrm>
            <a:off x="508000" y="4343400"/>
            <a:ext cx="11176000" cy="965200"/>
          </a:xfrm>
          <a:prstGeom prst="rect">
            <a:avLst/>
          </a:prstGeom>
          <a:solidFill>
            <a:srgbClr val="0E162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8805AB0C-835C-BE3D-0B6E-E2EF110344B1}"/>
              </a:ext>
            </a:extLst>
          </p:cNvPr>
          <p:cNvSpPr/>
          <p:nvPr/>
        </p:nvSpPr>
        <p:spPr>
          <a:xfrm>
            <a:off x="508000" y="5308600"/>
            <a:ext cx="11176000" cy="965200"/>
          </a:xfrm>
          <a:prstGeom prst="rect">
            <a:avLst/>
          </a:prstGeom>
          <a:solidFill>
            <a:srgbClr val="111A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D23A4224-7055-237E-6C61-1EAB31392476}"/>
              </a:ext>
            </a:extLst>
          </p:cNvPr>
          <p:cNvSpPr/>
          <p:nvPr/>
        </p:nvSpPr>
        <p:spPr>
          <a:xfrm>
            <a:off x="508000" y="1168400"/>
            <a:ext cx="11176000" cy="5105400"/>
          </a:xfrm>
          <a:prstGeom prst="roundRect">
            <a:avLst>
              <a:gd name="adj" fmla="val 995"/>
            </a:avLst>
          </a:prstGeom>
          <a:noFill/>
          <a:ln w="9525" cap="flat" cmpd="sng" algn="ctr">
            <a:solidFill>
              <a:srgbClr val="25314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BDBFB502-02E0-A54C-9A64-7558F9494041}"/>
              </a:ext>
            </a:extLst>
          </p:cNvPr>
          <p:cNvSpPr txBox="1"/>
          <p:nvPr/>
        </p:nvSpPr>
        <p:spPr>
          <a:xfrm>
            <a:off x="609600" y="1257300"/>
            <a:ext cx="25146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CHALLENGE</a:t>
            </a:r>
          </a:p>
        </p:txBody>
      </p:sp>
      <p:sp>
        <p:nvSpPr>
          <p:cNvPr id="16" name="TextBox 15">
            <a:extLst>
              <a:ext uri="{FF2B5EF4-FFF2-40B4-BE49-F238E27FC236}">
                <a16:creationId xmlns:a16="http://schemas.microsoft.com/office/drawing/2014/main" id="{4FB38017-C61A-05E3-1081-FDD2CF059A3F}"/>
              </a:ext>
            </a:extLst>
          </p:cNvPr>
          <p:cNvSpPr txBox="1"/>
          <p:nvPr/>
        </p:nvSpPr>
        <p:spPr>
          <a:xfrm>
            <a:off x="3276600" y="1257300"/>
            <a:ext cx="35306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IMPACT</a:t>
            </a:r>
          </a:p>
        </p:txBody>
      </p:sp>
      <p:sp>
        <p:nvSpPr>
          <p:cNvPr id="17" name="TextBox 16">
            <a:extLst>
              <a:ext uri="{FF2B5EF4-FFF2-40B4-BE49-F238E27FC236}">
                <a16:creationId xmlns:a16="http://schemas.microsoft.com/office/drawing/2014/main" id="{4E8E7F9A-BCA1-E7ED-0638-BE067702073F}"/>
              </a:ext>
            </a:extLst>
          </p:cNvPr>
          <p:cNvSpPr txBox="1"/>
          <p:nvPr/>
        </p:nvSpPr>
        <p:spPr>
          <a:xfrm>
            <a:off x="6959600" y="1257300"/>
            <a:ext cx="4673600" cy="152400"/>
          </a:xfrm>
          <a:prstGeom prst="rect">
            <a:avLst/>
          </a:prstGeom>
          <a:noFill/>
        </p:spPr>
        <p:txBody>
          <a:bodyPr vert="horz" wrap="square" lIns="0" tIns="0" rIns="0" bIns="0" rtlCol="0" anchor="t">
            <a:noAutofit/>
          </a:bodyPr>
          <a:lstStyle/>
          <a:p>
            <a:r>
              <a:rPr lang="en-IN" sz="700" spc="110">
                <a:solidFill>
                  <a:srgbClr val="B3BDCF"/>
                </a:solidFill>
                <a:latin typeface="Segoe UI Semibold" panose="020B0702040204020203" pitchFamily="34" charset="0"/>
              </a:rPr>
              <a:t>MITIGATION</a:t>
            </a:r>
          </a:p>
        </p:txBody>
      </p:sp>
      <p:sp>
        <p:nvSpPr>
          <p:cNvPr id="18" name="TextBox 17">
            <a:extLst>
              <a:ext uri="{FF2B5EF4-FFF2-40B4-BE49-F238E27FC236}">
                <a16:creationId xmlns:a16="http://schemas.microsoft.com/office/drawing/2014/main" id="{438A9AEC-9B5B-6880-FDD5-C4C47F6092EB}"/>
              </a:ext>
            </a:extLst>
          </p:cNvPr>
          <p:cNvSpPr txBox="1"/>
          <p:nvPr/>
        </p:nvSpPr>
        <p:spPr>
          <a:xfrm>
            <a:off x="609600" y="1485900"/>
            <a:ext cx="2489200" cy="889000"/>
          </a:xfrm>
          <a:prstGeom prst="rect">
            <a:avLst/>
          </a:prstGeom>
          <a:noFill/>
        </p:spPr>
        <p:txBody>
          <a:bodyPr vert="horz" wrap="square" lIns="0" tIns="0" rIns="0" bIns="0" rtlCol="0" anchor="ctr">
            <a:noAutofit/>
          </a:bodyPr>
          <a:lstStyle/>
          <a:p>
            <a:r>
              <a:rPr lang="en-US" sz="1000">
                <a:solidFill>
                  <a:srgbClr val="F1F4F9"/>
                </a:solidFill>
                <a:latin typeface="Segoe UI Semibold" panose="020B0702040204020203" pitchFamily="34" charset="0"/>
              </a:rPr>
              <a:t>RLS recursion and authorization complexity</a:t>
            </a:r>
            <a:endParaRPr lang="en-IN" sz="1000">
              <a:solidFill>
                <a:srgbClr val="F1F4F9"/>
              </a:solidFill>
              <a:latin typeface="Segoe UI Semibold" panose="020B0702040204020203" pitchFamily="34" charset="0"/>
            </a:endParaRPr>
          </a:p>
        </p:txBody>
      </p:sp>
      <p:sp>
        <p:nvSpPr>
          <p:cNvPr id="19" name="TextBox 18">
            <a:extLst>
              <a:ext uri="{FF2B5EF4-FFF2-40B4-BE49-F238E27FC236}">
                <a16:creationId xmlns:a16="http://schemas.microsoft.com/office/drawing/2014/main" id="{1B64CC7F-2F38-DAE0-3C80-CFC120889FC9}"/>
              </a:ext>
            </a:extLst>
          </p:cNvPr>
          <p:cNvSpPr txBox="1"/>
          <p:nvPr/>
        </p:nvSpPr>
        <p:spPr>
          <a:xfrm>
            <a:off x="3276600" y="1485900"/>
            <a:ext cx="3505200" cy="889000"/>
          </a:xfrm>
          <a:prstGeom prst="rect">
            <a:avLst/>
          </a:prstGeom>
          <a:noFill/>
        </p:spPr>
        <p:txBody>
          <a:bodyPr vert="horz" wrap="square" lIns="0" tIns="0" rIns="0" bIns="0" rtlCol="0" anchor="ctr">
            <a:noAutofit/>
          </a:bodyPr>
          <a:lstStyle/>
          <a:p>
            <a:r>
              <a:rPr lang="en-US" sz="1000">
                <a:solidFill>
                  <a:srgbClr val="B3BDCF"/>
                </a:solidFill>
                <a:latin typeface="Segoe UI" panose="020B0502040204020203" pitchFamily="34" charset="0"/>
              </a:rPr>
              <a:t>Policies on membership tables that query the same tables can recurse; role logic grew complex.</a:t>
            </a:r>
            <a:endParaRPr lang="en-IN" sz="1000">
              <a:solidFill>
                <a:srgbClr val="B3BDCF"/>
              </a:solidFill>
              <a:latin typeface="Segoe UI" panose="020B0502040204020203" pitchFamily="34" charset="0"/>
            </a:endParaRPr>
          </a:p>
        </p:txBody>
      </p:sp>
      <p:sp>
        <p:nvSpPr>
          <p:cNvPr id="20" name="TextBox 19">
            <a:extLst>
              <a:ext uri="{FF2B5EF4-FFF2-40B4-BE49-F238E27FC236}">
                <a16:creationId xmlns:a16="http://schemas.microsoft.com/office/drawing/2014/main" id="{FA02B999-2450-D244-F70F-93A1519B91B8}"/>
              </a:ext>
            </a:extLst>
          </p:cNvPr>
          <p:cNvSpPr txBox="1"/>
          <p:nvPr/>
        </p:nvSpPr>
        <p:spPr>
          <a:xfrm>
            <a:off x="6959600" y="1485900"/>
            <a:ext cx="4648200" cy="889000"/>
          </a:xfrm>
          <a:prstGeom prst="rect">
            <a:avLst/>
          </a:prstGeom>
          <a:noFill/>
        </p:spPr>
        <p:txBody>
          <a:bodyPr vert="horz" wrap="square" lIns="0" tIns="0" rIns="0" bIns="0" rtlCol="0" anchor="ctr">
            <a:noAutofit/>
          </a:bodyPr>
          <a:lstStyle/>
          <a:p>
            <a:r>
              <a:rPr lang="en-US" sz="1000">
                <a:solidFill>
                  <a:srgbClr val="B3BDCF"/>
                </a:solidFill>
                <a:latin typeface="Segoe UI" panose="020B0502040204020203" pitchFamily="34" charset="0"/>
              </a:rPr>
              <a:t>SECURITY DEFINER helper functions (has_org_role, is_org_member) with a fixed search_path; policies call the helpers.</a:t>
            </a:r>
            <a:endParaRPr lang="en-IN" sz="1000">
              <a:solidFill>
                <a:srgbClr val="B3BDCF"/>
              </a:solidFill>
              <a:latin typeface="Segoe UI" panose="020B0502040204020203" pitchFamily="34" charset="0"/>
            </a:endParaRPr>
          </a:p>
        </p:txBody>
      </p:sp>
      <p:cxnSp>
        <p:nvCxnSpPr>
          <p:cNvPr id="21" name="Straight Connector 20">
            <a:extLst>
              <a:ext uri="{FF2B5EF4-FFF2-40B4-BE49-F238E27FC236}">
                <a16:creationId xmlns:a16="http://schemas.microsoft.com/office/drawing/2014/main" id="{D81A8ACF-A3EA-5087-0F30-9BF528F15494}"/>
              </a:ext>
            </a:extLst>
          </p:cNvPr>
          <p:cNvCxnSpPr/>
          <p:nvPr/>
        </p:nvCxnSpPr>
        <p:spPr>
          <a:xfrm>
            <a:off x="508000" y="24130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FA49D53-D303-E817-6736-CAD990F614C2}"/>
              </a:ext>
            </a:extLst>
          </p:cNvPr>
          <p:cNvSpPr txBox="1"/>
          <p:nvPr/>
        </p:nvSpPr>
        <p:spPr>
          <a:xfrm>
            <a:off x="609600" y="2451100"/>
            <a:ext cx="2489200" cy="889000"/>
          </a:xfrm>
          <a:prstGeom prst="rect">
            <a:avLst/>
          </a:prstGeom>
          <a:noFill/>
        </p:spPr>
        <p:txBody>
          <a:bodyPr vert="horz" wrap="square" lIns="0" tIns="0" rIns="0" bIns="0" rtlCol="0" anchor="ctr">
            <a:noAutofit/>
          </a:bodyPr>
          <a:lstStyle/>
          <a:p>
            <a:r>
              <a:rPr lang="en-US" sz="1000">
                <a:solidFill>
                  <a:srgbClr val="F1F4F9"/>
                </a:solidFill>
                <a:latin typeface="Segoe UI Semibold" panose="020B0702040204020203" pitchFamily="34" charset="0"/>
              </a:rPr>
              <a:t>Clients could alter generated structure</a:t>
            </a:r>
            <a:endParaRPr lang="en-IN" sz="1000">
              <a:solidFill>
                <a:srgbClr val="F1F4F9"/>
              </a:solidFill>
              <a:latin typeface="Segoe UI Semibold" panose="020B0702040204020203" pitchFamily="34" charset="0"/>
            </a:endParaRPr>
          </a:p>
        </p:txBody>
      </p:sp>
      <p:sp>
        <p:nvSpPr>
          <p:cNvPr id="23" name="TextBox 22">
            <a:extLst>
              <a:ext uri="{FF2B5EF4-FFF2-40B4-BE49-F238E27FC236}">
                <a16:creationId xmlns:a16="http://schemas.microsoft.com/office/drawing/2014/main" id="{7BF941F0-C8C7-8D7F-ACB9-EFECBCC9D9E0}"/>
              </a:ext>
            </a:extLst>
          </p:cNvPr>
          <p:cNvSpPr txBox="1"/>
          <p:nvPr/>
        </p:nvSpPr>
        <p:spPr>
          <a:xfrm>
            <a:off x="3276600" y="2451100"/>
            <a:ext cx="3505200" cy="889000"/>
          </a:xfrm>
          <a:prstGeom prst="rect">
            <a:avLst/>
          </a:prstGeom>
          <a:noFill/>
        </p:spPr>
        <p:txBody>
          <a:bodyPr vert="horz" wrap="square" lIns="0" tIns="0" rIns="0" bIns="0" rtlCol="0" anchor="ctr">
            <a:noAutofit/>
          </a:bodyPr>
          <a:lstStyle/>
          <a:p>
            <a:r>
              <a:rPr lang="en-US" sz="1000">
                <a:solidFill>
                  <a:srgbClr val="B3BDCF"/>
                </a:solidFill>
                <a:latin typeface="Segoe UI" panose="020B0502040204020203" pitchFamily="34" charset="0"/>
              </a:rPr>
              <a:t>Symbols and relationships written from a client could be forged.</a:t>
            </a:r>
            <a:endParaRPr lang="en-IN" sz="1000">
              <a:solidFill>
                <a:srgbClr val="B3BDCF"/>
              </a:solidFill>
              <a:latin typeface="Segoe UI" panose="020B0502040204020203" pitchFamily="34" charset="0"/>
            </a:endParaRPr>
          </a:p>
        </p:txBody>
      </p:sp>
      <p:sp>
        <p:nvSpPr>
          <p:cNvPr id="24" name="TextBox 23">
            <a:extLst>
              <a:ext uri="{FF2B5EF4-FFF2-40B4-BE49-F238E27FC236}">
                <a16:creationId xmlns:a16="http://schemas.microsoft.com/office/drawing/2014/main" id="{C475EFAE-C4F9-221B-231A-0AA68A674E51}"/>
              </a:ext>
            </a:extLst>
          </p:cNvPr>
          <p:cNvSpPr txBox="1"/>
          <p:nvPr/>
        </p:nvSpPr>
        <p:spPr>
          <a:xfrm>
            <a:off x="6959600" y="2451100"/>
            <a:ext cx="4648200" cy="889000"/>
          </a:xfrm>
          <a:prstGeom prst="rect">
            <a:avLst/>
          </a:prstGeom>
          <a:noFill/>
        </p:spPr>
        <p:txBody>
          <a:bodyPr vert="horz" wrap="square" lIns="0" tIns="0" rIns="0" bIns="0" rtlCol="0" anchor="ctr">
            <a:noAutofit/>
          </a:bodyPr>
          <a:lstStyle/>
          <a:p>
            <a:r>
              <a:rPr lang="en-US" sz="1000">
                <a:solidFill>
                  <a:srgbClr val="B3BDCF"/>
                </a:solidFill>
                <a:latin typeface="Segoe UI" panose="020B0502040204020203" pitchFamily="34" charset="0"/>
              </a:rPr>
              <a:t>Client writes revoked; a definer function persists only payloads with a valid HMAC-SHA256 signature and run token; key in env + Vault.</a:t>
            </a:r>
            <a:endParaRPr lang="en-IN" sz="1000">
              <a:solidFill>
                <a:srgbClr val="B3BDCF"/>
              </a:solidFill>
              <a:latin typeface="Segoe UI" panose="020B0502040204020203" pitchFamily="34" charset="0"/>
            </a:endParaRPr>
          </a:p>
        </p:txBody>
      </p:sp>
      <p:cxnSp>
        <p:nvCxnSpPr>
          <p:cNvPr id="25" name="Straight Connector 24">
            <a:extLst>
              <a:ext uri="{FF2B5EF4-FFF2-40B4-BE49-F238E27FC236}">
                <a16:creationId xmlns:a16="http://schemas.microsoft.com/office/drawing/2014/main" id="{6CD028AD-9D22-F679-CC5A-92624623A1AD}"/>
              </a:ext>
            </a:extLst>
          </p:cNvPr>
          <p:cNvCxnSpPr/>
          <p:nvPr/>
        </p:nvCxnSpPr>
        <p:spPr>
          <a:xfrm>
            <a:off x="508000" y="33782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50C4128-DB77-BAE1-A356-8947D2290783}"/>
              </a:ext>
            </a:extLst>
          </p:cNvPr>
          <p:cNvSpPr txBox="1"/>
          <p:nvPr/>
        </p:nvSpPr>
        <p:spPr>
          <a:xfrm>
            <a:off x="609600" y="3416300"/>
            <a:ext cx="2489200" cy="889000"/>
          </a:xfrm>
          <a:prstGeom prst="rect">
            <a:avLst/>
          </a:prstGeom>
          <a:noFill/>
        </p:spPr>
        <p:txBody>
          <a:bodyPr vert="horz" wrap="square" lIns="0" tIns="0" rIns="0" bIns="0" rtlCol="0" anchor="ctr">
            <a:noAutofit/>
          </a:bodyPr>
          <a:lstStyle/>
          <a:p>
            <a:r>
              <a:rPr lang="en-US" sz="1000">
                <a:solidFill>
                  <a:srgbClr val="F1F4F9"/>
                </a:solidFill>
                <a:latin typeface="Segoe UI Semibold" panose="020B0702040204020203" pitchFamily="34" charset="0"/>
              </a:rPr>
              <a:t>Server Action .bind() rendering issue</a:t>
            </a:r>
            <a:endParaRPr lang="en-IN" sz="1000">
              <a:solidFill>
                <a:srgbClr val="F1F4F9"/>
              </a:solidFill>
              <a:latin typeface="Segoe UI Semibold" panose="020B0702040204020203" pitchFamily="34" charset="0"/>
            </a:endParaRPr>
          </a:p>
        </p:txBody>
      </p:sp>
      <p:sp>
        <p:nvSpPr>
          <p:cNvPr id="27" name="TextBox 26">
            <a:extLst>
              <a:ext uri="{FF2B5EF4-FFF2-40B4-BE49-F238E27FC236}">
                <a16:creationId xmlns:a16="http://schemas.microsoft.com/office/drawing/2014/main" id="{2AD2CDD8-C180-01A9-F78A-68ECE8C51E8E}"/>
              </a:ext>
            </a:extLst>
          </p:cNvPr>
          <p:cNvSpPr txBox="1"/>
          <p:nvPr/>
        </p:nvSpPr>
        <p:spPr>
          <a:xfrm>
            <a:off x="3276600" y="3416300"/>
            <a:ext cx="3505200" cy="889000"/>
          </a:xfrm>
          <a:prstGeom prst="rect">
            <a:avLst/>
          </a:prstGeom>
          <a:noFill/>
        </p:spPr>
        <p:txBody>
          <a:bodyPr vert="horz" wrap="square" lIns="0" tIns="0" rIns="0" bIns="0" rtlCol="0" anchor="ctr">
            <a:noAutofit/>
          </a:bodyPr>
          <a:lstStyle/>
          <a:p>
            <a:r>
              <a:rPr lang="en-US" sz="1000">
                <a:solidFill>
                  <a:srgbClr val="B3BDCF"/>
                </a:solidFill>
                <a:latin typeface="Segoe UI" panose="020B0502040204020203" pitchFamily="34" charset="0"/>
              </a:rPr>
              <a:t>Binding an action inside client-side rendering broke the page.</a:t>
            </a:r>
            <a:endParaRPr lang="en-IN" sz="1000">
              <a:solidFill>
                <a:srgbClr val="B3BDCF"/>
              </a:solidFill>
              <a:latin typeface="Segoe UI" panose="020B0502040204020203" pitchFamily="34" charset="0"/>
            </a:endParaRPr>
          </a:p>
        </p:txBody>
      </p:sp>
      <p:sp>
        <p:nvSpPr>
          <p:cNvPr id="28" name="TextBox 27">
            <a:extLst>
              <a:ext uri="{FF2B5EF4-FFF2-40B4-BE49-F238E27FC236}">
                <a16:creationId xmlns:a16="http://schemas.microsoft.com/office/drawing/2014/main" id="{723135FA-CCDA-B7D0-ECCF-AF5B2D42F1CF}"/>
              </a:ext>
            </a:extLst>
          </p:cNvPr>
          <p:cNvSpPr txBox="1"/>
          <p:nvPr/>
        </p:nvSpPr>
        <p:spPr>
          <a:xfrm>
            <a:off x="6959600" y="3416300"/>
            <a:ext cx="4648200" cy="889000"/>
          </a:xfrm>
          <a:prstGeom prst="rect">
            <a:avLst/>
          </a:prstGeom>
          <a:noFill/>
        </p:spPr>
        <p:txBody>
          <a:bodyPr vert="horz" wrap="square" lIns="0" tIns="0" rIns="0" bIns="0" rtlCol="0" anchor="ctr">
            <a:noAutofit/>
          </a:bodyPr>
          <a:lstStyle/>
          <a:p>
            <a:r>
              <a:rPr lang="en-US" sz="1000">
                <a:solidFill>
                  <a:srgbClr val="B3BDCF"/>
                </a:solidFill>
                <a:latin typeface="Segoe UI" panose="020B0502040204020203" pitchFamily="34" charset="0"/>
              </a:rPr>
              <a:t>Bind in the Server Component and pass the bound action to the client form.</a:t>
            </a:r>
            <a:endParaRPr lang="en-IN" sz="1000">
              <a:solidFill>
                <a:srgbClr val="B3BDCF"/>
              </a:solidFill>
              <a:latin typeface="Segoe UI" panose="020B0502040204020203" pitchFamily="34" charset="0"/>
            </a:endParaRPr>
          </a:p>
        </p:txBody>
      </p:sp>
      <p:cxnSp>
        <p:nvCxnSpPr>
          <p:cNvPr id="29" name="Straight Connector 28">
            <a:extLst>
              <a:ext uri="{FF2B5EF4-FFF2-40B4-BE49-F238E27FC236}">
                <a16:creationId xmlns:a16="http://schemas.microsoft.com/office/drawing/2014/main" id="{7B2E42BB-C7E6-7A78-0F05-1E6FF0E0F0D3}"/>
              </a:ext>
            </a:extLst>
          </p:cNvPr>
          <p:cNvCxnSpPr/>
          <p:nvPr/>
        </p:nvCxnSpPr>
        <p:spPr>
          <a:xfrm>
            <a:off x="508000" y="43434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C2372E0-CB4F-3425-F5E5-C7ECCA3A6911}"/>
              </a:ext>
            </a:extLst>
          </p:cNvPr>
          <p:cNvSpPr txBox="1"/>
          <p:nvPr/>
        </p:nvSpPr>
        <p:spPr>
          <a:xfrm>
            <a:off x="609600" y="4381500"/>
            <a:ext cx="2489200" cy="889000"/>
          </a:xfrm>
          <a:prstGeom prst="rect">
            <a:avLst/>
          </a:prstGeom>
          <a:noFill/>
        </p:spPr>
        <p:txBody>
          <a:bodyPr vert="horz" wrap="square" lIns="0" tIns="0" rIns="0" bIns="0" rtlCol="0" anchor="ctr">
            <a:noAutofit/>
          </a:bodyPr>
          <a:lstStyle/>
          <a:p>
            <a:r>
              <a:rPr lang="en-US" sz="1000">
                <a:solidFill>
                  <a:srgbClr val="F1F4F9"/>
                </a:solidFill>
                <a:latin typeface="Segoe UI Semibold" panose="020B0702040204020203" pitchFamily="34" charset="0"/>
              </a:rPr>
              <a:t>No repository source ingestion yet</a:t>
            </a:r>
            <a:endParaRPr lang="en-IN" sz="1000">
              <a:solidFill>
                <a:srgbClr val="F1F4F9"/>
              </a:solidFill>
              <a:latin typeface="Segoe UI Semibold" panose="020B0702040204020203" pitchFamily="34" charset="0"/>
            </a:endParaRPr>
          </a:p>
        </p:txBody>
      </p:sp>
      <p:sp>
        <p:nvSpPr>
          <p:cNvPr id="31" name="TextBox 30">
            <a:extLst>
              <a:ext uri="{FF2B5EF4-FFF2-40B4-BE49-F238E27FC236}">
                <a16:creationId xmlns:a16="http://schemas.microsoft.com/office/drawing/2014/main" id="{952B6939-CC02-0D71-068F-9018FBDE4ED3}"/>
              </a:ext>
            </a:extLst>
          </p:cNvPr>
          <p:cNvSpPr txBox="1"/>
          <p:nvPr/>
        </p:nvSpPr>
        <p:spPr>
          <a:xfrm>
            <a:off x="3276600" y="4381500"/>
            <a:ext cx="3505200" cy="889000"/>
          </a:xfrm>
          <a:prstGeom prst="rect">
            <a:avLst/>
          </a:prstGeom>
          <a:noFill/>
        </p:spPr>
        <p:txBody>
          <a:bodyPr vert="horz" wrap="square" lIns="0" tIns="0" rIns="0" bIns="0" rtlCol="0" anchor="ctr">
            <a:noAutofit/>
          </a:bodyPr>
          <a:lstStyle/>
          <a:p>
            <a:r>
              <a:rPr lang="en-US" sz="1000">
                <a:solidFill>
                  <a:srgbClr val="B3BDCF"/>
                </a:solidFill>
                <a:latin typeface="Segoe UI" panose="020B0502040204020203" pitchFamily="34" charset="0"/>
              </a:rPr>
              <a:t>Analysis cannot read real repository files in production.</a:t>
            </a:r>
            <a:endParaRPr lang="en-IN" sz="1000">
              <a:solidFill>
                <a:srgbClr val="B3BDCF"/>
              </a:solidFill>
              <a:latin typeface="Segoe UI" panose="020B0502040204020203" pitchFamily="34" charset="0"/>
            </a:endParaRPr>
          </a:p>
        </p:txBody>
      </p:sp>
      <p:sp>
        <p:nvSpPr>
          <p:cNvPr id="32" name="TextBox 31">
            <a:extLst>
              <a:ext uri="{FF2B5EF4-FFF2-40B4-BE49-F238E27FC236}">
                <a16:creationId xmlns:a16="http://schemas.microsoft.com/office/drawing/2014/main" id="{809A799F-6FDA-8583-AC9F-54CEAD83F869}"/>
              </a:ext>
            </a:extLst>
          </p:cNvPr>
          <p:cNvSpPr txBox="1"/>
          <p:nvPr/>
        </p:nvSpPr>
        <p:spPr>
          <a:xfrm>
            <a:off x="6959600" y="4381500"/>
            <a:ext cx="4648200" cy="889000"/>
          </a:xfrm>
          <a:prstGeom prst="rect">
            <a:avLst/>
          </a:prstGeom>
          <a:noFill/>
        </p:spPr>
        <p:txBody>
          <a:bodyPr vert="horz" wrap="square" lIns="0" tIns="0" rIns="0" bIns="0" rtlCol="0" anchor="ctr">
            <a:noAutofit/>
          </a:bodyPr>
          <a:lstStyle/>
          <a:p>
            <a:r>
              <a:rPr lang="en-US" sz="1000">
                <a:solidFill>
                  <a:srgbClr val="B3BDCF"/>
                </a:solidFill>
                <a:latin typeface="Segoe UI" panose="020B0502040204020203" pitchFamily="34" charset="0"/>
              </a:rPr>
              <a:t>Explicit readiness boundary: the UI says ingestion is required; no simulated results are ever shown.</a:t>
            </a:r>
            <a:endParaRPr lang="en-IN" sz="1000">
              <a:solidFill>
                <a:srgbClr val="B3BDCF"/>
              </a:solidFill>
              <a:latin typeface="Segoe UI" panose="020B0502040204020203" pitchFamily="34" charset="0"/>
            </a:endParaRPr>
          </a:p>
        </p:txBody>
      </p:sp>
      <p:cxnSp>
        <p:nvCxnSpPr>
          <p:cNvPr id="33" name="Straight Connector 32">
            <a:extLst>
              <a:ext uri="{FF2B5EF4-FFF2-40B4-BE49-F238E27FC236}">
                <a16:creationId xmlns:a16="http://schemas.microsoft.com/office/drawing/2014/main" id="{525E80E9-D9DB-30C7-3338-64DA42CBC394}"/>
              </a:ext>
            </a:extLst>
          </p:cNvPr>
          <p:cNvCxnSpPr/>
          <p:nvPr/>
        </p:nvCxnSpPr>
        <p:spPr>
          <a:xfrm>
            <a:off x="508000" y="5308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F1DFB2B-BDCC-B34F-E22B-D2844821DFBF}"/>
              </a:ext>
            </a:extLst>
          </p:cNvPr>
          <p:cNvSpPr txBox="1"/>
          <p:nvPr/>
        </p:nvSpPr>
        <p:spPr>
          <a:xfrm>
            <a:off x="609600" y="5346700"/>
            <a:ext cx="2489200" cy="889000"/>
          </a:xfrm>
          <a:prstGeom prst="rect">
            <a:avLst/>
          </a:prstGeom>
          <a:noFill/>
        </p:spPr>
        <p:txBody>
          <a:bodyPr vert="horz" wrap="square" lIns="0" tIns="0" rIns="0" bIns="0" rtlCol="0" anchor="ctr">
            <a:noAutofit/>
          </a:bodyPr>
          <a:lstStyle/>
          <a:p>
            <a:r>
              <a:rPr lang="en-US" sz="1000">
                <a:solidFill>
                  <a:srgbClr val="F1F4F9"/>
                </a:solidFill>
                <a:latin typeface="Segoe UI Semibold" panose="020B0702040204020203" pitchFamily="34" charset="0"/>
              </a:rPr>
              <a:t>Crash could leave an analysis in PROCESSING</a:t>
            </a:r>
            <a:endParaRPr lang="en-IN" sz="1000">
              <a:solidFill>
                <a:srgbClr val="F1F4F9"/>
              </a:solidFill>
              <a:latin typeface="Segoe UI Semibold" panose="020B0702040204020203" pitchFamily="34" charset="0"/>
            </a:endParaRPr>
          </a:p>
        </p:txBody>
      </p:sp>
      <p:sp>
        <p:nvSpPr>
          <p:cNvPr id="35" name="TextBox 34">
            <a:extLst>
              <a:ext uri="{FF2B5EF4-FFF2-40B4-BE49-F238E27FC236}">
                <a16:creationId xmlns:a16="http://schemas.microsoft.com/office/drawing/2014/main" id="{80F1FFCD-E4C4-9BE5-DA05-5534E050CC72}"/>
              </a:ext>
            </a:extLst>
          </p:cNvPr>
          <p:cNvSpPr txBox="1"/>
          <p:nvPr/>
        </p:nvSpPr>
        <p:spPr>
          <a:xfrm>
            <a:off x="3276600" y="5346700"/>
            <a:ext cx="3505200" cy="889000"/>
          </a:xfrm>
          <a:prstGeom prst="rect">
            <a:avLst/>
          </a:prstGeom>
          <a:noFill/>
        </p:spPr>
        <p:txBody>
          <a:bodyPr vert="horz" wrap="square" lIns="0" tIns="0" rIns="0" bIns="0" rtlCol="0" anchor="ctr">
            <a:noAutofit/>
          </a:bodyPr>
          <a:lstStyle/>
          <a:p>
            <a:r>
              <a:rPr lang="en-US" sz="1000">
                <a:solidFill>
                  <a:srgbClr val="B3BDCF"/>
                </a:solidFill>
                <a:latin typeface="Segoe UI" panose="020B0502040204020203" pitchFamily="34" charset="0"/>
              </a:rPr>
              <a:t>A stuck analysis blocks reruns of that snapshot.</a:t>
            </a:r>
            <a:endParaRPr lang="en-IN" sz="1000">
              <a:solidFill>
                <a:srgbClr val="B3BDCF"/>
              </a:solidFill>
              <a:latin typeface="Segoe UI" panose="020B0502040204020203" pitchFamily="34" charset="0"/>
            </a:endParaRPr>
          </a:p>
        </p:txBody>
      </p:sp>
      <p:sp>
        <p:nvSpPr>
          <p:cNvPr id="36" name="TextBox 35">
            <a:extLst>
              <a:ext uri="{FF2B5EF4-FFF2-40B4-BE49-F238E27FC236}">
                <a16:creationId xmlns:a16="http://schemas.microsoft.com/office/drawing/2014/main" id="{5FF7ABAA-A8A6-DF58-141B-F80E0E588604}"/>
              </a:ext>
            </a:extLst>
          </p:cNvPr>
          <p:cNvSpPr txBox="1"/>
          <p:nvPr/>
        </p:nvSpPr>
        <p:spPr>
          <a:xfrm>
            <a:off x="6959600" y="5346700"/>
            <a:ext cx="4648200" cy="889000"/>
          </a:xfrm>
          <a:prstGeom prst="rect">
            <a:avLst/>
          </a:prstGeom>
          <a:noFill/>
        </p:spPr>
        <p:txBody>
          <a:bodyPr vert="horz" wrap="square" lIns="0" tIns="0" rIns="0" bIns="0" rtlCol="0" anchor="ctr">
            <a:noAutofit/>
          </a:bodyPr>
          <a:lstStyle/>
          <a:p>
            <a:r>
              <a:rPr lang="en-US" sz="1000">
                <a:solidFill>
                  <a:srgbClr val="B3BDCF"/>
                </a:solidFill>
                <a:latin typeface="Segoe UI" panose="020B0502040204020203" pitchFamily="34" charset="0"/>
              </a:rPr>
              <a:t>Lifecycle functions record failure and allow reset / retry; a durable job system is planned.</a:t>
            </a:r>
            <a:endParaRPr lang="en-IN" sz="1000">
              <a:solidFill>
                <a:srgbClr val="B3BDCF"/>
              </a:solidFill>
              <a:latin typeface="Segoe UI" panose="020B0502040204020203" pitchFamily="34" charset="0"/>
            </a:endParaRPr>
          </a:p>
        </p:txBody>
      </p:sp>
    </p:spTree>
    <p:extLst>
      <p:ext uri="{BB962C8B-B14F-4D97-AF65-F5344CB8AC3E}">
        <p14:creationId xmlns:p14="http://schemas.microsoft.com/office/powerpoint/2010/main" val="212311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B298B9-9235-1584-19F1-7EAB597DC280}"/>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19  ·  UPDATED TIMELINE</a:t>
            </a:r>
          </a:p>
        </p:txBody>
      </p:sp>
      <p:sp>
        <p:nvSpPr>
          <p:cNvPr id="3" name="TextBox 2">
            <a:extLst>
              <a:ext uri="{FF2B5EF4-FFF2-40B4-BE49-F238E27FC236}">
                <a16:creationId xmlns:a16="http://schemas.microsoft.com/office/drawing/2014/main" id="{9A7B7F29-7CFB-2F70-60FE-B64572275B37}"/>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US" sz="2200">
                <a:solidFill>
                  <a:srgbClr val="F1F4F9"/>
                </a:solidFill>
                <a:latin typeface="Segoe UI Semibold" panose="020B0702040204020203" pitchFamily="34" charset="0"/>
              </a:rPr>
              <a:t>Updated Timeline and Remaining Work</a:t>
            </a:r>
            <a:endParaRPr lang="en-IN" sz="2200">
              <a:solidFill>
                <a:srgbClr val="F1F4F9"/>
              </a:solidFill>
              <a:latin typeface="Segoe UI Semibold" panose="020B0702040204020203" pitchFamily="34" charset="0"/>
            </a:endParaRPr>
          </a:p>
        </p:txBody>
      </p:sp>
      <p:sp>
        <p:nvSpPr>
          <p:cNvPr id="4" name="TextBox 3">
            <a:extLst>
              <a:ext uri="{FF2B5EF4-FFF2-40B4-BE49-F238E27FC236}">
                <a16:creationId xmlns:a16="http://schemas.microsoft.com/office/drawing/2014/main" id="{AF42E028-BC99-FAA5-AFAA-E83ADE340295}"/>
              </a:ext>
            </a:extLst>
          </p:cNvPr>
          <p:cNvSpPr txBox="1"/>
          <p:nvPr/>
        </p:nvSpPr>
        <p:spPr>
          <a:xfrm>
            <a:off x="508000" y="850900"/>
            <a:ext cx="9652000" cy="203200"/>
          </a:xfrm>
          <a:prstGeom prst="rect">
            <a:avLst/>
          </a:prstGeom>
          <a:noFill/>
        </p:spPr>
        <p:txBody>
          <a:bodyPr vert="horz" wrap="square" lIns="0" tIns="0" rIns="0" bIns="0" rtlCol="0" anchor="t">
            <a:noAutofit/>
          </a:bodyPr>
          <a:lstStyle/>
          <a:p>
            <a:r>
              <a:rPr lang="en-US" sz="1050">
                <a:solidFill>
                  <a:srgbClr val="B3BDCF"/>
                </a:solidFill>
                <a:latin typeface="Segoe UI" panose="020B0502040204020203" pitchFamily="34" charset="0"/>
              </a:rPr>
              <a:t>Project schedule Aug 2026 – Mar 2027 (as in the Zeroth plan), updated with actual progress.</a:t>
            </a:r>
            <a:endParaRPr lang="en-IN" sz="1050">
              <a:solidFill>
                <a:srgbClr val="B3BDCF"/>
              </a:solidFill>
              <a:latin typeface="Segoe UI" panose="020B0502040204020203" pitchFamily="34" charset="0"/>
            </a:endParaRPr>
          </a:p>
        </p:txBody>
      </p:sp>
      <p:cxnSp>
        <p:nvCxnSpPr>
          <p:cNvPr id="5" name="Straight Connector 4">
            <a:extLst>
              <a:ext uri="{FF2B5EF4-FFF2-40B4-BE49-F238E27FC236}">
                <a16:creationId xmlns:a16="http://schemas.microsoft.com/office/drawing/2014/main" id="{6B56A58E-E326-F44C-CAB5-17207B8F7B0B}"/>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197BE26-ACCB-CDA8-7669-0AED88FED10C}"/>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7" name="TextBox 6">
            <a:extLst>
              <a:ext uri="{FF2B5EF4-FFF2-40B4-BE49-F238E27FC236}">
                <a16:creationId xmlns:a16="http://schemas.microsoft.com/office/drawing/2014/main" id="{74B9F812-6616-AFAA-D2B7-711F9DAFDCD4}"/>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19 / 20</a:t>
            </a:r>
          </a:p>
        </p:txBody>
      </p:sp>
      <p:sp>
        <p:nvSpPr>
          <p:cNvPr id="8" name="TextBox 7">
            <a:extLst>
              <a:ext uri="{FF2B5EF4-FFF2-40B4-BE49-F238E27FC236}">
                <a16:creationId xmlns:a16="http://schemas.microsoft.com/office/drawing/2014/main" id="{1A627010-121A-CE42-2B25-CFDFF4A4C468}"/>
              </a:ext>
            </a:extLst>
          </p:cNvPr>
          <p:cNvSpPr txBox="1"/>
          <p:nvPr/>
        </p:nvSpPr>
        <p:spPr>
          <a:xfrm>
            <a:off x="3556000" y="1168400"/>
            <a:ext cx="889000" cy="152400"/>
          </a:xfrm>
          <a:prstGeom prst="rect">
            <a:avLst/>
          </a:prstGeom>
          <a:noFill/>
        </p:spPr>
        <p:txBody>
          <a:bodyPr vert="horz" wrap="square" lIns="0" tIns="0" rIns="0" bIns="0" rtlCol="0" anchor="t">
            <a:noAutofit/>
          </a:bodyPr>
          <a:lstStyle/>
          <a:p>
            <a:pPr algn="ctr"/>
            <a:r>
              <a:rPr lang="en-IN" sz="800">
                <a:solidFill>
                  <a:srgbClr val="78849A"/>
                </a:solidFill>
                <a:latin typeface="Segoe UI Semibold" panose="020B0702040204020203" pitchFamily="34" charset="0"/>
              </a:rPr>
              <a:t>Aug</a:t>
            </a:r>
          </a:p>
        </p:txBody>
      </p:sp>
      <p:cxnSp>
        <p:nvCxnSpPr>
          <p:cNvPr id="9" name="Straight Connector 8">
            <a:extLst>
              <a:ext uri="{FF2B5EF4-FFF2-40B4-BE49-F238E27FC236}">
                <a16:creationId xmlns:a16="http://schemas.microsoft.com/office/drawing/2014/main" id="{A4100FBF-A7B3-B6C0-E3DD-D5A5EA1F9EDE}"/>
              </a:ext>
            </a:extLst>
          </p:cNvPr>
          <p:cNvCxnSpPr/>
          <p:nvPr/>
        </p:nvCxnSpPr>
        <p:spPr>
          <a:xfrm>
            <a:off x="3556000" y="1346200"/>
            <a:ext cx="0" cy="37846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0AA7135-2108-F87B-75B5-5FEFB750F15D}"/>
              </a:ext>
            </a:extLst>
          </p:cNvPr>
          <p:cNvSpPr txBox="1"/>
          <p:nvPr/>
        </p:nvSpPr>
        <p:spPr>
          <a:xfrm>
            <a:off x="4445000" y="1168400"/>
            <a:ext cx="889000" cy="152400"/>
          </a:xfrm>
          <a:prstGeom prst="rect">
            <a:avLst/>
          </a:prstGeom>
          <a:noFill/>
        </p:spPr>
        <p:txBody>
          <a:bodyPr vert="horz" wrap="square" lIns="0" tIns="0" rIns="0" bIns="0" rtlCol="0" anchor="t">
            <a:noAutofit/>
          </a:bodyPr>
          <a:lstStyle/>
          <a:p>
            <a:pPr algn="ctr"/>
            <a:r>
              <a:rPr lang="en-IN" sz="800">
                <a:solidFill>
                  <a:srgbClr val="78849A"/>
                </a:solidFill>
                <a:latin typeface="Segoe UI Semibold" panose="020B0702040204020203" pitchFamily="34" charset="0"/>
              </a:rPr>
              <a:t>Sep</a:t>
            </a:r>
          </a:p>
        </p:txBody>
      </p:sp>
      <p:cxnSp>
        <p:nvCxnSpPr>
          <p:cNvPr id="11" name="Straight Connector 10">
            <a:extLst>
              <a:ext uri="{FF2B5EF4-FFF2-40B4-BE49-F238E27FC236}">
                <a16:creationId xmlns:a16="http://schemas.microsoft.com/office/drawing/2014/main" id="{9B43DE07-48FD-4CE6-9BEC-FB9B83976A84}"/>
              </a:ext>
            </a:extLst>
          </p:cNvPr>
          <p:cNvCxnSpPr/>
          <p:nvPr/>
        </p:nvCxnSpPr>
        <p:spPr>
          <a:xfrm>
            <a:off x="4445000" y="1346200"/>
            <a:ext cx="0" cy="37846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40615D5-157E-B8CB-672C-73B62C095C4D}"/>
              </a:ext>
            </a:extLst>
          </p:cNvPr>
          <p:cNvSpPr txBox="1"/>
          <p:nvPr/>
        </p:nvSpPr>
        <p:spPr>
          <a:xfrm>
            <a:off x="5334000" y="1168400"/>
            <a:ext cx="889000" cy="152400"/>
          </a:xfrm>
          <a:prstGeom prst="rect">
            <a:avLst/>
          </a:prstGeom>
          <a:noFill/>
        </p:spPr>
        <p:txBody>
          <a:bodyPr vert="horz" wrap="square" lIns="0" tIns="0" rIns="0" bIns="0" rtlCol="0" anchor="t">
            <a:noAutofit/>
          </a:bodyPr>
          <a:lstStyle/>
          <a:p>
            <a:pPr algn="ctr"/>
            <a:r>
              <a:rPr lang="en-IN" sz="800">
                <a:solidFill>
                  <a:srgbClr val="78849A"/>
                </a:solidFill>
                <a:latin typeface="Segoe UI Semibold" panose="020B0702040204020203" pitchFamily="34" charset="0"/>
              </a:rPr>
              <a:t>Oct</a:t>
            </a:r>
          </a:p>
        </p:txBody>
      </p:sp>
      <p:cxnSp>
        <p:nvCxnSpPr>
          <p:cNvPr id="13" name="Straight Connector 12">
            <a:extLst>
              <a:ext uri="{FF2B5EF4-FFF2-40B4-BE49-F238E27FC236}">
                <a16:creationId xmlns:a16="http://schemas.microsoft.com/office/drawing/2014/main" id="{64252193-AB55-DD9F-6DEA-6CB4B2150037}"/>
              </a:ext>
            </a:extLst>
          </p:cNvPr>
          <p:cNvCxnSpPr/>
          <p:nvPr/>
        </p:nvCxnSpPr>
        <p:spPr>
          <a:xfrm>
            <a:off x="5334000" y="1346200"/>
            <a:ext cx="0" cy="37846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07740E8-300B-7812-7418-CC42C6AE3060}"/>
              </a:ext>
            </a:extLst>
          </p:cNvPr>
          <p:cNvSpPr txBox="1"/>
          <p:nvPr/>
        </p:nvSpPr>
        <p:spPr>
          <a:xfrm>
            <a:off x="6223000" y="1168400"/>
            <a:ext cx="889000" cy="152400"/>
          </a:xfrm>
          <a:prstGeom prst="rect">
            <a:avLst/>
          </a:prstGeom>
          <a:noFill/>
        </p:spPr>
        <p:txBody>
          <a:bodyPr vert="horz" wrap="square" lIns="0" tIns="0" rIns="0" bIns="0" rtlCol="0" anchor="t">
            <a:noAutofit/>
          </a:bodyPr>
          <a:lstStyle/>
          <a:p>
            <a:pPr algn="ctr"/>
            <a:r>
              <a:rPr lang="en-IN" sz="800">
                <a:solidFill>
                  <a:srgbClr val="78849A"/>
                </a:solidFill>
                <a:latin typeface="Segoe UI Semibold" panose="020B0702040204020203" pitchFamily="34" charset="0"/>
              </a:rPr>
              <a:t>Nov</a:t>
            </a:r>
          </a:p>
        </p:txBody>
      </p:sp>
      <p:cxnSp>
        <p:nvCxnSpPr>
          <p:cNvPr id="15" name="Straight Connector 14">
            <a:extLst>
              <a:ext uri="{FF2B5EF4-FFF2-40B4-BE49-F238E27FC236}">
                <a16:creationId xmlns:a16="http://schemas.microsoft.com/office/drawing/2014/main" id="{97778459-4D69-F457-F690-6ADB41CD0896}"/>
              </a:ext>
            </a:extLst>
          </p:cNvPr>
          <p:cNvCxnSpPr/>
          <p:nvPr/>
        </p:nvCxnSpPr>
        <p:spPr>
          <a:xfrm>
            <a:off x="6223000" y="1346200"/>
            <a:ext cx="0" cy="37846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6A7987F-847D-0C94-BDD8-57CE2937F99D}"/>
              </a:ext>
            </a:extLst>
          </p:cNvPr>
          <p:cNvSpPr txBox="1"/>
          <p:nvPr/>
        </p:nvSpPr>
        <p:spPr>
          <a:xfrm>
            <a:off x="7112000" y="1168400"/>
            <a:ext cx="889000" cy="152400"/>
          </a:xfrm>
          <a:prstGeom prst="rect">
            <a:avLst/>
          </a:prstGeom>
          <a:noFill/>
        </p:spPr>
        <p:txBody>
          <a:bodyPr vert="horz" wrap="square" lIns="0" tIns="0" rIns="0" bIns="0" rtlCol="0" anchor="t">
            <a:noAutofit/>
          </a:bodyPr>
          <a:lstStyle/>
          <a:p>
            <a:pPr algn="ctr"/>
            <a:r>
              <a:rPr lang="en-IN" sz="800">
                <a:solidFill>
                  <a:srgbClr val="78849A"/>
                </a:solidFill>
                <a:latin typeface="Segoe UI Semibold" panose="020B0702040204020203" pitchFamily="34" charset="0"/>
              </a:rPr>
              <a:t>Dec</a:t>
            </a:r>
          </a:p>
        </p:txBody>
      </p:sp>
      <p:cxnSp>
        <p:nvCxnSpPr>
          <p:cNvPr id="17" name="Straight Connector 16">
            <a:extLst>
              <a:ext uri="{FF2B5EF4-FFF2-40B4-BE49-F238E27FC236}">
                <a16:creationId xmlns:a16="http://schemas.microsoft.com/office/drawing/2014/main" id="{E555B6C8-0B1B-B42F-BEEA-AABC2C3BE74A}"/>
              </a:ext>
            </a:extLst>
          </p:cNvPr>
          <p:cNvCxnSpPr/>
          <p:nvPr/>
        </p:nvCxnSpPr>
        <p:spPr>
          <a:xfrm>
            <a:off x="7112000" y="1346200"/>
            <a:ext cx="0" cy="37846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002EA50-8B5B-52D6-DA2C-8468A08D98AB}"/>
              </a:ext>
            </a:extLst>
          </p:cNvPr>
          <p:cNvSpPr txBox="1"/>
          <p:nvPr/>
        </p:nvSpPr>
        <p:spPr>
          <a:xfrm>
            <a:off x="8001000" y="1168400"/>
            <a:ext cx="889000" cy="152400"/>
          </a:xfrm>
          <a:prstGeom prst="rect">
            <a:avLst/>
          </a:prstGeom>
          <a:noFill/>
        </p:spPr>
        <p:txBody>
          <a:bodyPr vert="horz" wrap="square" lIns="0" tIns="0" rIns="0" bIns="0" rtlCol="0" anchor="t">
            <a:noAutofit/>
          </a:bodyPr>
          <a:lstStyle/>
          <a:p>
            <a:pPr algn="ctr"/>
            <a:r>
              <a:rPr lang="en-IN" sz="800">
                <a:solidFill>
                  <a:srgbClr val="78849A"/>
                </a:solidFill>
                <a:latin typeface="Segoe UI Semibold" panose="020B0702040204020203" pitchFamily="34" charset="0"/>
              </a:rPr>
              <a:t>Jan</a:t>
            </a:r>
          </a:p>
        </p:txBody>
      </p:sp>
      <p:cxnSp>
        <p:nvCxnSpPr>
          <p:cNvPr id="19" name="Straight Connector 18">
            <a:extLst>
              <a:ext uri="{FF2B5EF4-FFF2-40B4-BE49-F238E27FC236}">
                <a16:creationId xmlns:a16="http://schemas.microsoft.com/office/drawing/2014/main" id="{CD19468E-6FF5-41CA-144B-87F714A2BA6B}"/>
              </a:ext>
            </a:extLst>
          </p:cNvPr>
          <p:cNvCxnSpPr/>
          <p:nvPr/>
        </p:nvCxnSpPr>
        <p:spPr>
          <a:xfrm>
            <a:off x="8001000" y="1346200"/>
            <a:ext cx="0" cy="37846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05585EC-5EFB-C017-172D-FD6EBFD04DA7}"/>
              </a:ext>
            </a:extLst>
          </p:cNvPr>
          <p:cNvSpPr txBox="1"/>
          <p:nvPr/>
        </p:nvSpPr>
        <p:spPr>
          <a:xfrm>
            <a:off x="8890000" y="1168400"/>
            <a:ext cx="889000" cy="152400"/>
          </a:xfrm>
          <a:prstGeom prst="rect">
            <a:avLst/>
          </a:prstGeom>
          <a:noFill/>
        </p:spPr>
        <p:txBody>
          <a:bodyPr vert="horz" wrap="square" lIns="0" tIns="0" rIns="0" bIns="0" rtlCol="0" anchor="t">
            <a:noAutofit/>
          </a:bodyPr>
          <a:lstStyle/>
          <a:p>
            <a:pPr algn="ctr"/>
            <a:r>
              <a:rPr lang="en-IN" sz="800">
                <a:solidFill>
                  <a:srgbClr val="78849A"/>
                </a:solidFill>
                <a:latin typeface="Segoe UI Semibold" panose="020B0702040204020203" pitchFamily="34" charset="0"/>
              </a:rPr>
              <a:t>Feb</a:t>
            </a:r>
          </a:p>
        </p:txBody>
      </p:sp>
      <p:cxnSp>
        <p:nvCxnSpPr>
          <p:cNvPr id="21" name="Straight Connector 20">
            <a:extLst>
              <a:ext uri="{FF2B5EF4-FFF2-40B4-BE49-F238E27FC236}">
                <a16:creationId xmlns:a16="http://schemas.microsoft.com/office/drawing/2014/main" id="{3E2ADFB9-F8C0-9E39-A033-411A3B186F01}"/>
              </a:ext>
            </a:extLst>
          </p:cNvPr>
          <p:cNvCxnSpPr/>
          <p:nvPr/>
        </p:nvCxnSpPr>
        <p:spPr>
          <a:xfrm>
            <a:off x="8890000" y="1346200"/>
            <a:ext cx="0" cy="37846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5982D99-227D-F2D0-5190-48BCA8B4E815}"/>
              </a:ext>
            </a:extLst>
          </p:cNvPr>
          <p:cNvSpPr txBox="1"/>
          <p:nvPr/>
        </p:nvSpPr>
        <p:spPr>
          <a:xfrm>
            <a:off x="9779000" y="1168400"/>
            <a:ext cx="889000" cy="152400"/>
          </a:xfrm>
          <a:prstGeom prst="rect">
            <a:avLst/>
          </a:prstGeom>
          <a:noFill/>
        </p:spPr>
        <p:txBody>
          <a:bodyPr vert="horz" wrap="square" lIns="0" tIns="0" rIns="0" bIns="0" rtlCol="0" anchor="t">
            <a:noAutofit/>
          </a:bodyPr>
          <a:lstStyle/>
          <a:p>
            <a:pPr algn="ctr"/>
            <a:r>
              <a:rPr lang="en-IN" sz="800">
                <a:solidFill>
                  <a:srgbClr val="78849A"/>
                </a:solidFill>
                <a:latin typeface="Segoe UI Semibold" panose="020B0702040204020203" pitchFamily="34" charset="0"/>
              </a:rPr>
              <a:t>Mar</a:t>
            </a:r>
          </a:p>
        </p:txBody>
      </p:sp>
      <p:cxnSp>
        <p:nvCxnSpPr>
          <p:cNvPr id="23" name="Straight Connector 22">
            <a:extLst>
              <a:ext uri="{FF2B5EF4-FFF2-40B4-BE49-F238E27FC236}">
                <a16:creationId xmlns:a16="http://schemas.microsoft.com/office/drawing/2014/main" id="{C74AAF28-8418-1449-6C3F-5FA3ED02B991}"/>
              </a:ext>
            </a:extLst>
          </p:cNvPr>
          <p:cNvCxnSpPr/>
          <p:nvPr/>
        </p:nvCxnSpPr>
        <p:spPr>
          <a:xfrm>
            <a:off x="9779000" y="1346200"/>
            <a:ext cx="0" cy="37846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BA83DFA-518B-2272-E4BB-B42FB5D3D46C}"/>
              </a:ext>
            </a:extLst>
          </p:cNvPr>
          <p:cNvCxnSpPr/>
          <p:nvPr/>
        </p:nvCxnSpPr>
        <p:spPr>
          <a:xfrm>
            <a:off x="10668000" y="1346200"/>
            <a:ext cx="0" cy="378460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7F96D54-F9F2-04FA-1C71-21FB45575915}"/>
              </a:ext>
            </a:extLst>
          </p:cNvPr>
          <p:cNvSpPr txBox="1"/>
          <p:nvPr/>
        </p:nvSpPr>
        <p:spPr>
          <a:xfrm>
            <a:off x="508000" y="1422400"/>
            <a:ext cx="29464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Problem definition and literature survey</a:t>
            </a:r>
          </a:p>
        </p:txBody>
      </p:sp>
      <p:sp>
        <p:nvSpPr>
          <p:cNvPr id="26" name="Rectangle: Rounded Corners 25">
            <a:extLst>
              <a:ext uri="{FF2B5EF4-FFF2-40B4-BE49-F238E27FC236}">
                <a16:creationId xmlns:a16="http://schemas.microsoft.com/office/drawing/2014/main" id="{198B0376-21D7-4A33-5653-36631AB580D7}"/>
              </a:ext>
            </a:extLst>
          </p:cNvPr>
          <p:cNvSpPr/>
          <p:nvPr/>
        </p:nvSpPr>
        <p:spPr>
          <a:xfrm>
            <a:off x="3556000" y="1485900"/>
            <a:ext cx="1778000" cy="177800"/>
          </a:xfrm>
          <a:prstGeom prst="roundRect">
            <a:avLst>
              <a:gd name="adj" fmla="val 42857"/>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endParaRPr lang="en-IN" sz="700">
              <a:solidFill>
                <a:srgbClr val="F1F4F9"/>
              </a:solidFill>
              <a:latin typeface="Segoe UI" panose="020B0502040204020203" pitchFamily="34" charset="0"/>
            </a:endParaRPr>
          </a:p>
        </p:txBody>
      </p:sp>
      <p:sp>
        <p:nvSpPr>
          <p:cNvPr id="27" name="TextBox 26">
            <a:extLst>
              <a:ext uri="{FF2B5EF4-FFF2-40B4-BE49-F238E27FC236}">
                <a16:creationId xmlns:a16="http://schemas.microsoft.com/office/drawing/2014/main" id="{A25CD261-850A-C91F-84B1-7A2B23293C22}"/>
              </a:ext>
            </a:extLst>
          </p:cNvPr>
          <p:cNvSpPr txBox="1"/>
          <p:nvPr/>
        </p:nvSpPr>
        <p:spPr>
          <a:xfrm>
            <a:off x="508000" y="1828800"/>
            <a:ext cx="2946400" cy="304800"/>
          </a:xfrm>
          <a:prstGeom prst="rect">
            <a:avLst/>
          </a:prstGeom>
          <a:noFill/>
        </p:spPr>
        <p:txBody>
          <a:bodyPr vert="horz" wrap="square" lIns="0" tIns="0" rIns="0" bIns="0" rtlCol="0" anchor="ctr">
            <a:noAutofit/>
          </a:bodyPr>
          <a:lstStyle/>
          <a:p>
            <a:r>
              <a:rPr lang="en-IN" sz="850">
                <a:solidFill>
                  <a:srgbClr val="B3BDCF"/>
                </a:solidFill>
                <a:latin typeface="Segoe UI" panose="020B0502040204020203" pitchFamily="34" charset="0"/>
              </a:rPr>
              <a:t>Architecture and design document</a:t>
            </a:r>
          </a:p>
        </p:txBody>
      </p:sp>
      <p:sp>
        <p:nvSpPr>
          <p:cNvPr id="28" name="Rectangle: Rounded Corners 27">
            <a:extLst>
              <a:ext uri="{FF2B5EF4-FFF2-40B4-BE49-F238E27FC236}">
                <a16:creationId xmlns:a16="http://schemas.microsoft.com/office/drawing/2014/main" id="{DCFC2A98-635D-1CBA-138D-45C926CF0017}"/>
              </a:ext>
            </a:extLst>
          </p:cNvPr>
          <p:cNvSpPr/>
          <p:nvPr/>
        </p:nvSpPr>
        <p:spPr>
          <a:xfrm>
            <a:off x="4445000" y="1892300"/>
            <a:ext cx="1066800" cy="177800"/>
          </a:xfrm>
          <a:prstGeom prst="roundRect">
            <a:avLst>
              <a:gd name="adj" fmla="val 42857"/>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endParaRPr lang="en-IN" sz="700">
              <a:solidFill>
                <a:srgbClr val="F1F4F9"/>
              </a:solidFill>
              <a:latin typeface="Segoe UI" panose="020B0502040204020203" pitchFamily="34" charset="0"/>
            </a:endParaRPr>
          </a:p>
        </p:txBody>
      </p:sp>
      <p:sp>
        <p:nvSpPr>
          <p:cNvPr id="29" name="TextBox 28">
            <a:extLst>
              <a:ext uri="{FF2B5EF4-FFF2-40B4-BE49-F238E27FC236}">
                <a16:creationId xmlns:a16="http://schemas.microsoft.com/office/drawing/2014/main" id="{E12C56CF-B974-4542-DA57-9157B660ABB0}"/>
              </a:ext>
            </a:extLst>
          </p:cNvPr>
          <p:cNvSpPr txBox="1"/>
          <p:nvPr/>
        </p:nvSpPr>
        <p:spPr>
          <a:xfrm>
            <a:off x="508000" y="2235200"/>
            <a:ext cx="2946400" cy="3048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Phase 1, 2A–2E: auth, hierarchy, projects, requirements</a:t>
            </a:r>
            <a:endParaRPr lang="en-IN" sz="850">
              <a:solidFill>
                <a:srgbClr val="B3BDCF"/>
              </a:solidFill>
              <a:latin typeface="Segoe UI" panose="020B0502040204020203" pitchFamily="34" charset="0"/>
            </a:endParaRPr>
          </a:p>
        </p:txBody>
      </p:sp>
      <p:sp>
        <p:nvSpPr>
          <p:cNvPr id="30" name="Rectangle: Rounded Corners 29">
            <a:extLst>
              <a:ext uri="{FF2B5EF4-FFF2-40B4-BE49-F238E27FC236}">
                <a16:creationId xmlns:a16="http://schemas.microsoft.com/office/drawing/2014/main" id="{0895E8D8-54A9-0FAF-DC08-B940A8A4A059}"/>
              </a:ext>
            </a:extLst>
          </p:cNvPr>
          <p:cNvSpPr/>
          <p:nvPr/>
        </p:nvSpPr>
        <p:spPr>
          <a:xfrm>
            <a:off x="4000500" y="2298700"/>
            <a:ext cx="1511300" cy="177800"/>
          </a:xfrm>
          <a:prstGeom prst="roundRect">
            <a:avLst>
              <a:gd name="adj" fmla="val 42857"/>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endParaRPr lang="en-IN" sz="700">
              <a:solidFill>
                <a:srgbClr val="F1F4F9"/>
              </a:solidFill>
              <a:latin typeface="Segoe UI" panose="020B0502040204020203" pitchFamily="34" charset="0"/>
            </a:endParaRPr>
          </a:p>
        </p:txBody>
      </p:sp>
      <p:sp>
        <p:nvSpPr>
          <p:cNvPr id="31" name="TextBox 30">
            <a:extLst>
              <a:ext uri="{FF2B5EF4-FFF2-40B4-BE49-F238E27FC236}">
                <a16:creationId xmlns:a16="http://schemas.microsoft.com/office/drawing/2014/main" id="{E04ACD36-9B2D-D99D-374A-A6240B98B737}"/>
              </a:ext>
            </a:extLst>
          </p:cNvPr>
          <p:cNvSpPr txBox="1"/>
          <p:nvPr/>
        </p:nvSpPr>
        <p:spPr>
          <a:xfrm>
            <a:off x="508000" y="2641600"/>
            <a:ext cx="2946400" cy="3048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Phase 2F–2H: repository, snapshots, structure</a:t>
            </a:r>
            <a:endParaRPr lang="en-IN" sz="850">
              <a:solidFill>
                <a:srgbClr val="B3BDCF"/>
              </a:solidFill>
              <a:latin typeface="Segoe UI" panose="020B0502040204020203" pitchFamily="34" charset="0"/>
            </a:endParaRPr>
          </a:p>
        </p:txBody>
      </p:sp>
      <p:sp>
        <p:nvSpPr>
          <p:cNvPr id="32" name="Rectangle: Rounded Corners 31">
            <a:extLst>
              <a:ext uri="{FF2B5EF4-FFF2-40B4-BE49-F238E27FC236}">
                <a16:creationId xmlns:a16="http://schemas.microsoft.com/office/drawing/2014/main" id="{F9323B32-6E95-F3C7-BCA1-22998085573D}"/>
              </a:ext>
            </a:extLst>
          </p:cNvPr>
          <p:cNvSpPr/>
          <p:nvPr/>
        </p:nvSpPr>
        <p:spPr>
          <a:xfrm>
            <a:off x="4889500" y="2705100"/>
            <a:ext cx="666750" cy="177800"/>
          </a:xfrm>
          <a:prstGeom prst="roundRect">
            <a:avLst>
              <a:gd name="adj" fmla="val 42857"/>
            </a:avLst>
          </a:prstGeom>
          <a:solidFill>
            <a:srgbClr val="10261F"/>
          </a:solidFill>
          <a:ln w="9525">
            <a:solidFill>
              <a:srgbClr val="2E8C66"/>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endParaRPr lang="en-IN" sz="700">
              <a:solidFill>
                <a:srgbClr val="F1F4F9"/>
              </a:solidFill>
              <a:latin typeface="Segoe UI" panose="020B0502040204020203" pitchFamily="34" charset="0"/>
            </a:endParaRPr>
          </a:p>
        </p:txBody>
      </p:sp>
      <p:sp>
        <p:nvSpPr>
          <p:cNvPr id="33" name="TextBox 32">
            <a:extLst>
              <a:ext uri="{FF2B5EF4-FFF2-40B4-BE49-F238E27FC236}">
                <a16:creationId xmlns:a16="http://schemas.microsoft.com/office/drawing/2014/main" id="{5C539DE9-2D4C-AE46-255C-184A359E287D}"/>
              </a:ext>
            </a:extLst>
          </p:cNvPr>
          <p:cNvSpPr txBox="1"/>
          <p:nvPr/>
        </p:nvSpPr>
        <p:spPr>
          <a:xfrm>
            <a:off x="508000" y="3048000"/>
            <a:ext cx="2946400" cy="3048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Phase 2I: Shared Engineering Context</a:t>
            </a:r>
            <a:endParaRPr lang="en-IN" sz="850">
              <a:solidFill>
                <a:srgbClr val="B3BDCF"/>
              </a:solidFill>
              <a:latin typeface="Segoe UI" panose="020B0502040204020203" pitchFamily="34" charset="0"/>
            </a:endParaRPr>
          </a:p>
        </p:txBody>
      </p:sp>
      <p:sp>
        <p:nvSpPr>
          <p:cNvPr id="34" name="Rectangle: Rounded Corners 33">
            <a:extLst>
              <a:ext uri="{FF2B5EF4-FFF2-40B4-BE49-F238E27FC236}">
                <a16:creationId xmlns:a16="http://schemas.microsoft.com/office/drawing/2014/main" id="{F1AF4F9F-7E59-05B9-D664-F33FA63D7F9A}"/>
              </a:ext>
            </a:extLst>
          </p:cNvPr>
          <p:cNvSpPr/>
          <p:nvPr/>
        </p:nvSpPr>
        <p:spPr>
          <a:xfrm>
            <a:off x="5556250" y="3111500"/>
            <a:ext cx="1111250" cy="177800"/>
          </a:xfrm>
          <a:prstGeom prst="roundRect">
            <a:avLst>
              <a:gd name="adj" fmla="val 42857"/>
            </a:avLst>
          </a:prstGeom>
          <a:solidFill>
            <a:srgbClr val="2B220F"/>
          </a:solidFill>
          <a:ln w="9525">
            <a:solidFill>
              <a:srgbClr val="B07A2A"/>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endParaRPr lang="en-IN" sz="700">
              <a:solidFill>
                <a:srgbClr val="F1F4F9"/>
              </a:solidFill>
              <a:latin typeface="Segoe UI" panose="020B0502040204020203" pitchFamily="34" charset="0"/>
            </a:endParaRPr>
          </a:p>
        </p:txBody>
      </p:sp>
      <p:sp>
        <p:nvSpPr>
          <p:cNvPr id="35" name="TextBox 34">
            <a:extLst>
              <a:ext uri="{FF2B5EF4-FFF2-40B4-BE49-F238E27FC236}">
                <a16:creationId xmlns:a16="http://schemas.microsoft.com/office/drawing/2014/main" id="{FC6A7F93-1874-4D40-1549-9F6C9432C3BB}"/>
              </a:ext>
            </a:extLst>
          </p:cNvPr>
          <p:cNvSpPr txBox="1"/>
          <p:nvPr/>
        </p:nvSpPr>
        <p:spPr>
          <a:xfrm>
            <a:off x="508000" y="3454400"/>
            <a:ext cx="2946400" cy="304800"/>
          </a:xfrm>
          <a:prstGeom prst="rect">
            <a:avLst/>
          </a:prstGeom>
          <a:noFill/>
        </p:spPr>
        <p:txBody>
          <a:bodyPr vert="horz" wrap="square" lIns="0" tIns="0" rIns="0" bIns="0" rtlCol="0" anchor="ctr">
            <a:noAutofit/>
          </a:bodyPr>
          <a:lstStyle/>
          <a:p>
            <a:r>
              <a:rPr lang="it-IT" sz="850">
                <a:solidFill>
                  <a:srgbClr val="B3BDCF"/>
                </a:solidFill>
                <a:latin typeface="Segoe UI" panose="020B0502040204020203" pitchFamily="34" charset="0"/>
              </a:rPr>
              <a:t>AI Orchestrator and AI services</a:t>
            </a:r>
            <a:endParaRPr lang="en-IN" sz="850">
              <a:solidFill>
                <a:srgbClr val="B3BDCF"/>
              </a:solidFill>
              <a:latin typeface="Segoe UI" panose="020B0502040204020203" pitchFamily="34" charset="0"/>
            </a:endParaRPr>
          </a:p>
        </p:txBody>
      </p:sp>
      <p:sp>
        <p:nvSpPr>
          <p:cNvPr id="36" name="Rectangle: Rounded Corners 35">
            <a:extLst>
              <a:ext uri="{FF2B5EF4-FFF2-40B4-BE49-F238E27FC236}">
                <a16:creationId xmlns:a16="http://schemas.microsoft.com/office/drawing/2014/main" id="{4A84B5EF-2B54-3A4E-36B1-1E03A270508C}"/>
              </a:ext>
            </a:extLst>
          </p:cNvPr>
          <p:cNvSpPr/>
          <p:nvPr/>
        </p:nvSpPr>
        <p:spPr>
          <a:xfrm>
            <a:off x="6578600" y="3517900"/>
            <a:ext cx="1866900" cy="177800"/>
          </a:xfrm>
          <a:prstGeom prst="roundRect">
            <a:avLst>
              <a:gd name="adj" fmla="val 42857"/>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endParaRPr lang="en-IN" sz="700">
              <a:solidFill>
                <a:srgbClr val="B3BDCF"/>
              </a:solidFill>
              <a:latin typeface="Segoe UI" panose="020B0502040204020203" pitchFamily="34" charset="0"/>
            </a:endParaRPr>
          </a:p>
        </p:txBody>
      </p:sp>
      <p:sp>
        <p:nvSpPr>
          <p:cNvPr id="37" name="TextBox 36">
            <a:extLst>
              <a:ext uri="{FF2B5EF4-FFF2-40B4-BE49-F238E27FC236}">
                <a16:creationId xmlns:a16="http://schemas.microsoft.com/office/drawing/2014/main" id="{9FE6638D-C140-FD25-4744-B1B1DD850198}"/>
              </a:ext>
            </a:extLst>
          </p:cNvPr>
          <p:cNvSpPr txBox="1"/>
          <p:nvPr/>
        </p:nvSpPr>
        <p:spPr>
          <a:xfrm>
            <a:off x="508000" y="3860800"/>
            <a:ext cx="2946400" cy="3048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Quality and defect-risk prediction + explanation</a:t>
            </a:r>
            <a:endParaRPr lang="en-IN" sz="850">
              <a:solidFill>
                <a:srgbClr val="B3BDCF"/>
              </a:solidFill>
              <a:latin typeface="Segoe UI" panose="020B0502040204020203" pitchFamily="34" charset="0"/>
            </a:endParaRPr>
          </a:p>
        </p:txBody>
      </p:sp>
      <p:sp>
        <p:nvSpPr>
          <p:cNvPr id="38" name="Rectangle: Rounded Corners 37">
            <a:extLst>
              <a:ext uri="{FF2B5EF4-FFF2-40B4-BE49-F238E27FC236}">
                <a16:creationId xmlns:a16="http://schemas.microsoft.com/office/drawing/2014/main" id="{574493EC-7A5F-B809-FC22-88C50D21AD74}"/>
              </a:ext>
            </a:extLst>
          </p:cNvPr>
          <p:cNvSpPr/>
          <p:nvPr/>
        </p:nvSpPr>
        <p:spPr>
          <a:xfrm>
            <a:off x="7556500" y="3924300"/>
            <a:ext cx="1866900" cy="177800"/>
          </a:xfrm>
          <a:prstGeom prst="roundRect">
            <a:avLst>
              <a:gd name="adj" fmla="val 42857"/>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endParaRPr lang="en-IN" sz="700">
              <a:solidFill>
                <a:srgbClr val="B3BDCF"/>
              </a:solidFill>
              <a:latin typeface="Segoe UI" panose="020B0502040204020203" pitchFamily="34" charset="0"/>
            </a:endParaRPr>
          </a:p>
        </p:txBody>
      </p:sp>
      <p:sp>
        <p:nvSpPr>
          <p:cNvPr id="39" name="TextBox 38">
            <a:extLst>
              <a:ext uri="{FF2B5EF4-FFF2-40B4-BE49-F238E27FC236}">
                <a16:creationId xmlns:a16="http://schemas.microsoft.com/office/drawing/2014/main" id="{E65D102C-85EC-B2F2-E8B6-EBD2A6FC624F}"/>
              </a:ext>
            </a:extLst>
          </p:cNvPr>
          <p:cNvSpPr txBox="1"/>
          <p:nvPr/>
        </p:nvSpPr>
        <p:spPr>
          <a:xfrm>
            <a:off x="508000" y="4267200"/>
            <a:ext cx="2946400" cy="3048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CI/CD integration and feedback</a:t>
            </a:r>
            <a:endParaRPr lang="en-IN" sz="850">
              <a:solidFill>
                <a:srgbClr val="B3BDCF"/>
              </a:solidFill>
              <a:latin typeface="Segoe UI" panose="020B0502040204020203" pitchFamily="34" charset="0"/>
            </a:endParaRPr>
          </a:p>
        </p:txBody>
      </p:sp>
      <p:sp>
        <p:nvSpPr>
          <p:cNvPr id="40" name="Rectangle: Rounded Corners 39">
            <a:extLst>
              <a:ext uri="{FF2B5EF4-FFF2-40B4-BE49-F238E27FC236}">
                <a16:creationId xmlns:a16="http://schemas.microsoft.com/office/drawing/2014/main" id="{D8AAFDAB-6014-FA18-74E6-E19652504A50}"/>
              </a:ext>
            </a:extLst>
          </p:cNvPr>
          <p:cNvSpPr/>
          <p:nvPr/>
        </p:nvSpPr>
        <p:spPr>
          <a:xfrm>
            <a:off x="8445500" y="4330700"/>
            <a:ext cx="1155700" cy="177800"/>
          </a:xfrm>
          <a:prstGeom prst="roundRect">
            <a:avLst>
              <a:gd name="adj" fmla="val 42857"/>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endParaRPr lang="en-IN" sz="700">
              <a:solidFill>
                <a:srgbClr val="B3BDCF"/>
              </a:solidFill>
              <a:latin typeface="Segoe UI" panose="020B0502040204020203" pitchFamily="34" charset="0"/>
            </a:endParaRPr>
          </a:p>
        </p:txBody>
      </p:sp>
      <p:sp>
        <p:nvSpPr>
          <p:cNvPr id="41" name="TextBox 40">
            <a:extLst>
              <a:ext uri="{FF2B5EF4-FFF2-40B4-BE49-F238E27FC236}">
                <a16:creationId xmlns:a16="http://schemas.microsoft.com/office/drawing/2014/main" id="{69885D50-3869-20AC-C77F-3F344E14AB5C}"/>
              </a:ext>
            </a:extLst>
          </p:cNvPr>
          <p:cNvSpPr txBox="1"/>
          <p:nvPr/>
        </p:nvSpPr>
        <p:spPr>
          <a:xfrm>
            <a:off x="508000" y="4673600"/>
            <a:ext cx="2946400" cy="304800"/>
          </a:xfrm>
          <a:prstGeom prst="rect">
            <a:avLst/>
          </a:prstGeom>
          <a:noFill/>
        </p:spPr>
        <p:txBody>
          <a:bodyPr vert="horz" wrap="square" lIns="0" tIns="0" rIns="0" bIns="0" rtlCol="0" anchor="ctr">
            <a:noAutofit/>
          </a:bodyPr>
          <a:lstStyle/>
          <a:p>
            <a:r>
              <a:rPr lang="en-US" sz="850">
                <a:solidFill>
                  <a:srgbClr val="B3BDCF"/>
                </a:solidFill>
                <a:latin typeface="Segoe UI" panose="020B0502040204020203" pitchFamily="34" charset="0"/>
              </a:rPr>
              <a:t>Evaluation, paper, report, final demo</a:t>
            </a:r>
            <a:endParaRPr lang="en-IN" sz="850">
              <a:solidFill>
                <a:srgbClr val="B3BDCF"/>
              </a:solidFill>
              <a:latin typeface="Segoe UI" panose="020B0502040204020203" pitchFamily="34" charset="0"/>
            </a:endParaRPr>
          </a:p>
        </p:txBody>
      </p:sp>
      <p:sp>
        <p:nvSpPr>
          <p:cNvPr id="42" name="Rectangle: Rounded Corners 41">
            <a:extLst>
              <a:ext uri="{FF2B5EF4-FFF2-40B4-BE49-F238E27FC236}">
                <a16:creationId xmlns:a16="http://schemas.microsoft.com/office/drawing/2014/main" id="{6E21EAEB-D682-9482-C938-E6882101E3E0}"/>
              </a:ext>
            </a:extLst>
          </p:cNvPr>
          <p:cNvSpPr/>
          <p:nvPr/>
        </p:nvSpPr>
        <p:spPr>
          <a:xfrm>
            <a:off x="8890000" y="4737100"/>
            <a:ext cx="1778000" cy="177800"/>
          </a:xfrm>
          <a:prstGeom prst="roundRect">
            <a:avLst>
              <a:gd name="adj" fmla="val 42857"/>
            </a:avLst>
          </a:prstGeom>
          <a:solidFill>
            <a:srgbClr val="121929"/>
          </a:solidFill>
          <a:ln w="9525">
            <a:solidFill>
              <a:srgbClr val="55607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endParaRPr lang="en-IN" sz="700">
              <a:solidFill>
                <a:srgbClr val="B3BDCF"/>
              </a:solidFill>
              <a:latin typeface="Segoe UI" panose="020B0502040204020203" pitchFamily="34" charset="0"/>
            </a:endParaRPr>
          </a:p>
        </p:txBody>
      </p:sp>
      <p:cxnSp>
        <p:nvCxnSpPr>
          <p:cNvPr id="43" name="Straight Connector 42">
            <a:extLst>
              <a:ext uri="{FF2B5EF4-FFF2-40B4-BE49-F238E27FC236}">
                <a16:creationId xmlns:a16="http://schemas.microsoft.com/office/drawing/2014/main" id="{17B3B376-56C8-8F71-DF44-4C71F6DDEDA2}"/>
              </a:ext>
            </a:extLst>
          </p:cNvPr>
          <p:cNvCxnSpPr/>
          <p:nvPr/>
        </p:nvCxnSpPr>
        <p:spPr>
          <a:xfrm>
            <a:off x="5556250" y="1320800"/>
            <a:ext cx="0" cy="3810000"/>
          </a:xfrm>
          <a:prstGeom prst="line">
            <a:avLst/>
          </a:prstGeom>
          <a:ln w="15875">
            <a:solidFill>
              <a:srgbClr val="8B9BFF"/>
            </a:solidFill>
            <a:prstDash val="dash"/>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69D18B22-61A3-746A-DDC0-CF3FECCF197D}"/>
              </a:ext>
            </a:extLst>
          </p:cNvPr>
          <p:cNvSpPr/>
          <p:nvPr/>
        </p:nvSpPr>
        <p:spPr>
          <a:xfrm>
            <a:off x="5175250" y="5156200"/>
            <a:ext cx="762000" cy="177800"/>
          </a:xfrm>
          <a:prstGeom prst="roundRect">
            <a:avLst>
              <a:gd name="adj" fmla="val 42857"/>
            </a:avLst>
          </a:prstGeom>
          <a:solidFill>
            <a:srgbClr val="1A2150"/>
          </a:solidFill>
          <a:ln w="9525">
            <a:solidFill>
              <a:srgbClr val="3A459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00">
                <a:solidFill>
                  <a:srgbClr val="8B9BFF"/>
                </a:solidFill>
                <a:latin typeface="Segoe UI Semibold" panose="020B0702040204020203" pitchFamily="34" charset="0"/>
              </a:rPr>
              <a:t>Review 1</a:t>
            </a:r>
          </a:p>
        </p:txBody>
      </p:sp>
      <p:sp>
        <p:nvSpPr>
          <p:cNvPr id="45" name="Rectangle: Rounded Corners 44">
            <a:extLst>
              <a:ext uri="{FF2B5EF4-FFF2-40B4-BE49-F238E27FC236}">
                <a16:creationId xmlns:a16="http://schemas.microsoft.com/office/drawing/2014/main" id="{6ED68B68-FAEF-0BBC-D70E-4B5569DCE478}"/>
              </a:ext>
            </a:extLst>
          </p:cNvPr>
          <p:cNvSpPr/>
          <p:nvPr/>
        </p:nvSpPr>
        <p:spPr>
          <a:xfrm>
            <a:off x="9499600" y="5156200"/>
            <a:ext cx="1168400" cy="177800"/>
          </a:xfrm>
          <a:prstGeom prst="roundRect">
            <a:avLst>
              <a:gd name="adj" fmla="val 42857"/>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25400" rIns="63500" bIns="25400" rtlCol="0" anchor="ctr">
            <a:noAutofit/>
          </a:bodyPr>
          <a:lstStyle/>
          <a:p>
            <a:pPr algn="ctr">
              <a:lnSpc>
                <a:spcPct val="95000"/>
              </a:lnSpc>
            </a:pPr>
            <a:r>
              <a:rPr lang="en-IN" sz="700">
                <a:solidFill>
                  <a:srgbClr val="78849A"/>
                </a:solidFill>
                <a:latin typeface="Segoe UI Semibold" panose="020B0702040204020203" pitchFamily="34" charset="0"/>
              </a:rPr>
              <a:t>Review 2: date TBC</a:t>
            </a:r>
          </a:p>
        </p:txBody>
      </p:sp>
      <p:sp>
        <p:nvSpPr>
          <p:cNvPr id="46" name="Rectangle: Rounded Corners 45">
            <a:extLst>
              <a:ext uri="{FF2B5EF4-FFF2-40B4-BE49-F238E27FC236}">
                <a16:creationId xmlns:a16="http://schemas.microsoft.com/office/drawing/2014/main" id="{E1EBCA6B-C6DC-7B5A-A02C-521D12BB31E2}"/>
              </a:ext>
            </a:extLst>
          </p:cNvPr>
          <p:cNvSpPr/>
          <p:nvPr/>
        </p:nvSpPr>
        <p:spPr>
          <a:xfrm>
            <a:off x="508000" y="5207000"/>
            <a:ext cx="825500" cy="165100"/>
          </a:xfrm>
          <a:prstGeom prst="roundRect">
            <a:avLst>
              <a:gd name="adj" fmla="val 50000"/>
            </a:avLst>
          </a:prstGeom>
          <a:solidFill>
            <a:srgbClr val="0E2B24"/>
          </a:solidFill>
          <a:ln w="9525">
            <a:solidFill>
              <a:srgbClr val="3CCF8E"/>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3CCF8E"/>
                </a:solidFill>
                <a:latin typeface="Segoe UI Semibold" panose="020B0702040204020203" pitchFamily="34" charset="0"/>
              </a:rPr>
              <a:t>IMPLEMENTED</a:t>
            </a:r>
          </a:p>
        </p:txBody>
      </p:sp>
      <p:sp>
        <p:nvSpPr>
          <p:cNvPr id="47" name="Rectangle: Rounded Corners 46">
            <a:extLst>
              <a:ext uri="{FF2B5EF4-FFF2-40B4-BE49-F238E27FC236}">
                <a16:creationId xmlns:a16="http://schemas.microsoft.com/office/drawing/2014/main" id="{D7904C2E-7936-A5AC-3B66-2AF9E483EB95}"/>
              </a:ext>
            </a:extLst>
          </p:cNvPr>
          <p:cNvSpPr/>
          <p:nvPr/>
        </p:nvSpPr>
        <p:spPr>
          <a:xfrm>
            <a:off x="1409700" y="5207000"/>
            <a:ext cx="419100" cy="165100"/>
          </a:xfrm>
          <a:prstGeom prst="roundRect">
            <a:avLst>
              <a:gd name="adj" fmla="val 50000"/>
            </a:avLst>
          </a:prstGeom>
          <a:solidFill>
            <a:srgbClr val="33270F"/>
          </a:solidFill>
          <a:ln w="9525">
            <a:solidFill>
              <a:srgbClr val="F1A73B"/>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F1A73B"/>
                </a:solidFill>
                <a:latin typeface="Segoe UI Semibold" panose="020B0702040204020203" pitchFamily="34" charset="0"/>
              </a:rPr>
              <a:t>NEXT</a:t>
            </a:r>
          </a:p>
        </p:txBody>
      </p:sp>
      <p:sp>
        <p:nvSpPr>
          <p:cNvPr id="48" name="Rectangle: Rounded Corners 47">
            <a:extLst>
              <a:ext uri="{FF2B5EF4-FFF2-40B4-BE49-F238E27FC236}">
                <a16:creationId xmlns:a16="http://schemas.microsoft.com/office/drawing/2014/main" id="{01147F2F-071B-FD83-96C6-5FB9289896B1}"/>
              </a:ext>
            </a:extLst>
          </p:cNvPr>
          <p:cNvSpPr/>
          <p:nvPr/>
        </p:nvSpPr>
        <p:spPr>
          <a:xfrm>
            <a:off x="1905000" y="5207000"/>
            <a:ext cx="533400" cy="165100"/>
          </a:xfrm>
          <a:prstGeom prst="roundRect">
            <a:avLst>
              <a:gd name="adj" fmla="val 50000"/>
            </a:avLst>
          </a:prstGeom>
          <a:solidFill>
            <a:srgbClr val="141B2C"/>
          </a:solidFill>
          <a:ln w="9525">
            <a:solidFill>
              <a:srgbClr val="8F99AD"/>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 tIns="0" rIns="25400" bIns="0" rtlCol="0" anchor="ctr">
            <a:noAutofit/>
          </a:bodyPr>
          <a:lstStyle/>
          <a:p>
            <a:pPr algn="ctr">
              <a:lnSpc>
                <a:spcPct val="95000"/>
              </a:lnSpc>
            </a:pPr>
            <a:r>
              <a:rPr lang="en-IN" sz="650" spc="60">
                <a:solidFill>
                  <a:srgbClr val="8F99AD"/>
                </a:solidFill>
                <a:latin typeface="Segoe UI Semibold" panose="020B0702040204020203" pitchFamily="34" charset="0"/>
              </a:rPr>
              <a:t>FUTURE</a:t>
            </a:r>
          </a:p>
        </p:txBody>
      </p:sp>
      <p:sp>
        <p:nvSpPr>
          <p:cNvPr id="49" name="TextBox 48">
            <a:extLst>
              <a:ext uri="{FF2B5EF4-FFF2-40B4-BE49-F238E27FC236}">
                <a16:creationId xmlns:a16="http://schemas.microsoft.com/office/drawing/2014/main" id="{28CA7867-4E40-A286-2260-FBE5C3848496}"/>
              </a:ext>
            </a:extLst>
          </p:cNvPr>
          <p:cNvSpPr txBox="1"/>
          <p:nvPr/>
        </p:nvSpPr>
        <p:spPr>
          <a:xfrm>
            <a:off x="508000" y="1117600"/>
            <a:ext cx="2921000" cy="254000"/>
          </a:xfrm>
          <a:prstGeom prst="rect">
            <a:avLst/>
          </a:prstGeom>
          <a:noFill/>
        </p:spPr>
        <p:txBody>
          <a:bodyPr vert="horz" wrap="square" lIns="0" tIns="0" rIns="0" bIns="0" rtlCol="0" anchor="t">
            <a:noAutofit/>
          </a:bodyPr>
          <a:lstStyle/>
          <a:p>
            <a:r>
              <a:rPr lang="en-US" sz="700">
                <a:solidFill>
                  <a:srgbClr val="78849A"/>
                </a:solidFill>
                <a:latin typeface="Segoe UI" panose="020B0502040204020203" pitchFamily="34" charset="0"/>
              </a:rPr>
              <a:t>Completed bars cover the period between the Zeroth Review and Review 1; start dates are approximate.</a:t>
            </a:r>
            <a:endParaRPr lang="en-IN" sz="700">
              <a:solidFill>
                <a:srgbClr val="78849A"/>
              </a:solidFill>
              <a:latin typeface="Segoe UI" panose="020B0502040204020203" pitchFamily="34" charset="0"/>
            </a:endParaRPr>
          </a:p>
        </p:txBody>
      </p:sp>
      <p:sp>
        <p:nvSpPr>
          <p:cNvPr id="50" name="Rectangle: Rounded Corners 49">
            <a:extLst>
              <a:ext uri="{FF2B5EF4-FFF2-40B4-BE49-F238E27FC236}">
                <a16:creationId xmlns:a16="http://schemas.microsoft.com/office/drawing/2014/main" id="{E10B0838-F8E5-2A97-681B-12BDF52F16F7}"/>
              </a:ext>
            </a:extLst>
          </p:cNvPr>
          <p:cNvSpPr/>
          <p:nvPr/>
        </p:nvSpPr>
        <p:spPr>
          <a:xfrm>
            <a:off x="508000" y="5486400"/>
            <a:ext cx="11176000" cy="787400"/>
          </a:xfrm>
          <a:prstGeom prst="roundRect">
            <a:avLst>
              <a:gd name="adj" fmla="val 12903"/>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2E0E0D71-7AC9-DEBB-CB0D-9823326B4779}"/>
              </a:ext>
            </a:extLst>
          </p:cNvPr>
          <p:cNvSpPr txBox="1"/>
          <p:nvPr/>
        </p:nvSpPr>
        <p:spPr>
          <a:xfrm>
            <a:off x="711200" y="5613400"/>
            <a:ext cx="381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REMAINING WORK</a:t>
            </a:r>
          </a:p>
        </p:txBody>
      </p:sp>
      <p:sp>
        <p:nvSpPr>
          <p:cNvPr id="52" name="TextBox 51">
            <a:extLst>
              <a:ext uri="{FF2B5EF4-FFF2-40B4-BE49-F238E27FC236}">
                <a16:creationId xmlns:a16="http://schemas.microsoft.com/office/drawing/2014/main" id="{0E7CFB88-726D-C23E-1EBA-9B66D4D2BF79}"/>
              </a:ext>
            </a:extLst>
          </p:cNvPr>
          <p:cNvSpPr txBox="1"/>
          <p:nvPr/>
        </p:nvSpPr>
        <p:spPr>
          <a:xfrm>
            <a:off x="711200" y="5816600"/>
            <a:ext cx="7112000" cy="431800"/>
          </a:xfrm>
          <a:prstGeom prst="rect">
            <a:avLst/>
          </a:prstGeom>
          <a:noFill/>
        </p:spPr>
        <p:txBody>
          <a:bodyPr vert="horz" wrap="square" lIns="0" tIns="0" rIns="0" bIns="0" rtlCol="0" anchor="t">
            <a:noAutofit/>
          </a:bodyPr>
          <a:lstStyle/>
          <a:p>
            <a:r>
              <a:rPr lang="en-US" sz="850">
                <a:solidFill>
                  <a:srgbClr val="B3BDCF"/>
                </a:solidFill>
                <a:latin typeface="Segoe UI" panose="020B0502040204020203" pitchFamily="34" charset="0"/>
              </a:rPr>
              <a:t>9 of 14 planned implementation phases are complete (a count of phases, not of effort). Remaining: 2I engineering context, AI orchestrator, AI services, quality / risk, CI/CD — plus evaluation and the paper.</a:t>
            </a:r>
            <a:endParaRPr lang="en-IN" sz="850">
              <a:solidFill>
                <a:srgbClr val="B3BDCF"/>
              </a:solidFill>
              <a:latin typeface="Segoe UI" panose="020B0502040204020203" pitchFamily="34" charset="0"/>
            </a:endParaRPr>
          </a:p>
        </p:txBody>
      </p:sp>
      <p:sp>
        <p:nvSpPr>
          <p:cNvPr id="53" name="Rectangle: Rounded Corners 52">
            <a:extLst>
              <a:ext uri="{FF2B5EF4-FFF2-40B4-BE49-F238E27FC236}">
                <a16:creationId xmlns:a16="http://schemas.microsoft.com/office/drawing/2014/main" id="{8D9F4957-6751-24C4-64A5-5768D93559E6}"/>
              </a:ext>
            </a:extLst>
          </p:cNvPr>
          <p:cNvSpPr/>
          <p:nvPr/>
        </p:nvSpPr>
        <p:spPr>
          <a:xfrm>
            <a:off x="8128000" y="5613400"/>
            <a:ext cx="3378200" cy="558800"/>
          </a:xfrm>
          <a:prstGeom prst="roundRect">
            <a:avLst>
              <a:gd name="adj" fmla="val 13636"/>
            </a:avLst>
          </a:prstGeom>
          <a:solidFill>
            <a:srgbClr val="33270F"/>
          </a:solidFill>
          <a:ln w="9525">
            <a:solidFill>
              <a:srgbClr val="B07A2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TextBox 53">
            <a:extLst>
              <a:ext uri="{FF2B5EF4-FFF2-40B4-BE49-F238E27FC236}">
                <a16:creationId xmlns:a16="http://schemas.microsoft.com/office/drawing/2014/main" id="{53273593-A456-C392-768F-E282C39A9C3D}"/>
              </a:ext>
            </a:extLst>
          </p:cNvPr>
          <p:cNvSpPr txBox="1"/>
          <p:nvPr/>
        </p:nvSpPr>
        <p:spPr>
          <a:xfrm>
            <a:off x="8255000" y="5638800"/>
            <a:ext cx="3175000" cy="508000"/>
          </a:xfrm>
          <a:prstGeom prst="rect">
            <a:avLst/>
          </a:prstGeom>
          <a:noFill/>
        </p:spPr>
        <p:txBody>
          <a:bodyPr vert="horz" wrap="square" lIns="0" tIns="0" rIns="0" bIns="0" rtlCol="0" anchor="ctr">
            <a:noAutofit/>
          </a:bodyPr>
          <a:lstStyle/>
          <a:p>
            <a:r>
              <a:rPr lang="en-US" sz="900">
                <a:solidFill>
                  <a:srgbClr val="F1A73B"/>
                </a:solidFill>
                <a:latin typeface="Segoe UI Semibold" panose="020B0702040204020203" pitchFamily="34" charset="0"/>
              </a:rPr>
              <a:t>Estimated overall completion: [PLACEHOLDER – team to confirm %]</a:t>
            </a:r>
            <a:endParaRPr lang="en-IN" sz="900">
              <a:solidFill>
                <a:srgbClr val="F1A73B"/>
              </a:solidFill>
              <a:latin typeface="Segoe UI Semibold" panose="020B0702040204020203" pitchFamily="34" charset="0"/>
            </a:endParaRPr>
          </a:p>
        </p:txBody>
      </p:sp>
    </p:spTree>
    <p:extLst>
      <p:ext uri="{BB962C8B-B14F-4D97-AF65-F5344CB8AC3E}">
        <p14:creationId xmlns:p14="http://schemas.microsoft.com/office/powerpoint/2010/main" val="415900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F56C4B-9D4C-DF87-0A3F-8438B1353A22}"/>
              </a:ext>
            </a:extLst>
          </p:cNvPr>
          <p:cNvSpPr txBox="1"/>
          <p:nvPr/>
        </p:nvSpPr>
        <p:spPr>
          <a:xfrm>
            <a:off x="508000" y="279400"/>
            <a:ext cx="7620000" cy="152400"/>
          </a:xfrm>
          <a:prstGeom prst="rect">
            <a:avLst/>
          </a:prstGeom>
          <a:noFill/>
        </p:spPr>
        <p:txBody>
          <a:bodyPr vert="horz" wrap="square" lIns="0" tIns="0" rIns="0" bIns="0" rtlCol="0" anchor="t">
            <a:noAutofit/>
          </a:bodyPr>
          <a:lstStyle/>
          <a:p>
            <a:r>
              <a:rPr lang="en-IN" sz="750" spc="110">
                <a:solidFill>
                  <a:srgbClr val="8B9BFF"/>
                </a:solidFill>
                <a:latin typeface="Segoe UI Semibold" panose="020B0702040204020203" pitchFamily="34" charset="0"/>
              </a:rPr>
              <a:t>20  ·  CONCLUSION AND REFERENCES</a:t>
            </a:r>
          </a:p>
        </p:txBody>
      </p:sp>
      <p:sp>
        <p:nvSpPr>
          <p:cNvPr id="3" name="TextBox 2">
            <a:extLst>
              <a:ext uri="{FF2B5EF4-FFF2-40B4-BE49-F238E27FC236}">
                <a16:creationId xmlns:a16="http://schemas.microsoft.com/office/drawing/2014/main" id="{6A4ED5FC-9384-A8EB-5338-BF15A46C6920}"/>
              </a:ext>
            </a:extLst>
          </p:cNvPr>
          <p:cNvSpPr txBox="1"/>
          <p:nvPr/>
        </p:nvSpPr>
        <p:spPr>
          <a:xfrm>
            <a:off x="508000" y="457200"/>
            <a:ext cx="8890000" cy="381000"/>
          </a:xfrm>
          <a:prstGeom prst="rect">
            <a:avLst/>
          </a:prstGeom>
          <a:noFill/>
        </p:spPr>
        <p:txBody>
          <a:bodyPr vert="horz" wrap="square" lIns="0" tIns="0" rIns="0" bIns="0" rtlCol="0" anchor="t">
            <a:noAutofit/>
          </a:bodyPr>
          <a:lstStyle/>
          <a:p>
            <a:r>
              <a:rPr lang="en-IN" sz="2200">
                <a:solidFill>
                  <a:srgbClr val="F1F4F9"/>
                </a:solidFill>
                <a:latin typeface="Segoe UI Semibold" panose="020B0702040204020203" pitchFamily="34" charset="0"/>
              </a:rPr>
              <a:t>Conclusion and References</a:t>
            </a:r>
          </a:p>
        </p:txBody>
      </p:sp>
      <p:cxnSp>
        <p:nvCxnSpPr>
          <p:cNvPr id="4" name="Straight Connector 3">
            <a:extLst>
              <a:ext uri="{FF2B5EF4-FFF2-40B4-BE49-F238E27FC236}">
                <a16:creationId xmlns:a16="http://schemas.microsoft.com/office/drawing/2014/main" id="{BB6CAA7A-B10C-B410-94DA-840612F821A7}"/>
              </a:ext>
            </a:extLst>
          </p:cNvPr>
          <p:cNvCxnSpPr/>
          <p:nvPr/>
        </p:nvCxnSpPr>
        <p:spPr>
          <a:xfrm>
            <a:off x="508000" y="6451600"/>
            <a:ext cx="11176000" cy="0"/>
          </a:xfrm>
          <a:prstGeom prst="line">
            <a:avLst/>
          </a:prstGeom>
          <a:ln w="6350">
            <a:solidFill>
              <a:srgbClr val="25314C"/>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1888F28-14F2-E6B9-CD5D-58E15B888C9B}"/>
              </a:ext>
            </a:extLst>
          </p:cNvPr>
          <p:cNvSpPr txBox="1"/>
          <p:nvPr/>
        </p:nvSpPr>
        <p:spPr>
          <a:xfrm>
            <a:off x="508000" y="6527800"/>
            <a:ext cx="7620000" cy="152400"/>
          </a:xfrm>
          <a:prstGeom prst="rect">
            <a:avLst/>
          </a:prstGeom>
          <a:noFill/>
        </p:spPr>
        <p:txBody>
          <a:bodyPr vert="horz" wrap="square" lIns="0" tIns="0" rIns="0" bIns="0" rtlCol="0" anchor="t">
            <a:noAutofit/>
          </a:bodyPr>
          <a:lstStyle/>
          <a:p>
            <a:r>
              <a:rPr lang="en-US" sz="750">
                <a:solidFill>
                  <a:srgbClr val="78849A"/>
                </a:solidFill>
                <a:latin typeface="Segoe UI" panose="020B0502040204020203" pitchFamily="34" charset="0"/>
              </a:rPr>
              <a:t>OneForAll  ·  Project Phase I – Review 1  ·  Team 14  ·  Dept. of CSE, MITS</a:t>
            </a:r>
            <a:endParaRPr lang="en-IN" sz="750">
              <a:solidFill>
                <a:srgbClr val="78849A"/>
              </a:solidFill>
              <a:latin typeface="Segoe UI" panose="020B0502040204020203" pitchFamily="34" charset="0"/>
            </a:endParaRPr>
          </a:p>
        </p:txBody>
      </p:sp>
      <p:sp>
        <p:nvSpPr>
          <p:cNvPr id="6" name="TextBox 5">
            <a:extLst>
              <a:ext uri="{FF2B5EF4-FFF2-40B4-BE49-F238E27FC236}">
                <a16:creationId xmlns:a16="http://schemas.microsoft.com/office/drawing/2014/main" id="{85D0047E-B8F8-743E-BD72-42467E286D8C}"/>
              </a:ext>
            </a:extLst>
          </p:cNvPr>
          <p:cNvSpPr txBox="1"/>
          <p:nvPr/>
        </p:nvSpPr>
        <p:spPr>
          <a:xfrm>
            <a:off x="10414000" y="6527800"/>
            <a:ext cx="1270000" cy="152400"/>
          </a:xfrm>
          <a:prstGeom prst="rect">
            <a:avLst/>
          </a:prstGeom>
          <a:noFill/>
        </p:spPr>
        <p:txBody>
          <a:bodyPr vert="horz" wrap="square" lIns="0" tIns="0" rIns="0" bIns="0" rtlCol="0" anchor="t">
            <a:noAutofit/>
          </a:bodyPr>
          <a:lstStyle/>
          <a:p>
            <a:pPr algn="r"/>
            <a:r>
              <a:rPr lang="en-IN" sz="750">
                <a:solidFill>
                  <a:srgbClr val="78849A"/>
                </a:solidFill>
                <a:latin typeface="Segoe UI" panose="020B0502040204020203" pitchFamily="34" charset="0"/>
              </a:rPr>
              <a:t>20 / 20</a:t>
            </a:r>
          </a:p>
        </p:txBody>
      </p:sp>
      <p:sp>
        <p:nvSpPr>
          <p:cNvPr id="7" name="Rectangle: Rounded Corners 6">
            <a:extLst>
              <a:ext uri="{FF2B5EF4-FFF2-40B4-BE49-F238E27FC236}">
                <a16:creationId xmlns:a16="http://schemas.microsoft.com/office/drawing/2014/main" id="{674CC2AA-DFD3-48D0-09BC-2CB6CC537D44}"/>
              </a:ext>
            </a:extLst>
          </p:cNvPr>
          <p:cNvSpPr/>
          <p:nvPr/>
        </p:nvSpPr>
        <p:spPr>
          <a:xfrm>
            <a:off x="508000" y="939800"/>
            <a:ext cx="11176000" cy="1066800"/>
          </a:xfrm>
          <a:prstGeom prst="roundRect">
            <a:avLst>
              <a:gd name="adj" fmla="val 9524"/>
            </a:avLst>
          </a:prstGeom>
          <a:solidFill>
            <a:srgbClr val="111A2E"/>
          </a:solidFill>
          <a:ln w="9525">
            <a:solidFill>
              <a:srgbClr val="2531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EBE1138-BC70-FFD6-B921-6C81C2DE335D}"/>
              </a:ext>
            </a:extLst>
          </p:cNvPr>
          <p:cNvSpPr txBox="1"/>
          <p:nvPr/>
        </p:nvSpPr>
        <p:spPr>
          <a:xfrm>
            <a:off x="711200" y="1066800"/>
            <a:ext cx="10820400" cy="914400"/>
          </a:xfrm>
          <a:prstGeom prst="rect">
            <a:avLst/>
          </a:prstGeom>
          <a:noFill/>
        </p:spPr>
        <p:txBody>
          <a:bodyPr vert="horz" wrap="square" lIns="0" tIns="0" rIns="0" bIns="0" rtlCol="0">
            <a:noAutofit/>
          </a:bodyPr>
          <a:lstStyle/>
          <a:p>
            <a:pPr marL="139700" indent="-139700">
              <a:spcAft>
                <a:spcPts val="400"/>
              </a:spcAft>
              <a:buClr>
                <a:srgbClr val="8B9BFF"/>
              </a:buClr>
              <a:buSzPct val="90000"/>
              <a:buFont typeface="+mj-lt"/>
              <a:buChar char="▪"/>
            </a:pPr>
            <a:r>
              <a:rPr lang="en-US" sz="900">
                <a:solidFill>
                  <a:srgbClr val="F1F4F9"/>
                </a:solidFill>
                <a:latin typeface="Segoe UI Semibold" panose="020B0702040204020203" pitchFamily="34" charset="0"/>
              </a:rPr>
              <a:t>Implemented and validated:</a:t>
            </a:r>
            <a:r>
              <a:rPr lang="en-US" sz="900">
                <a:solidFill>
                  <a:srgbClr val="B3BDCF"/>
                </a:solidFill>
                <a:latin typeface="Segoe UI" panose="020B0502040204020203" pitchFamily="34" charset="0"/>
              </a:rPr>
              <a:t>  a secure multi-tenant engineering workspace and the repository-intelligence foundation (snapshots, manifests, AST-based symbols and relationships), checked by automated authorization, parser and mutation tests.</a:t>
            </a:r>
          </a:p>
          <a:p>
            <a:pPr marL="139700" indent="-139700">
              <a:spcAft>
                <a:spcPts val="400"/>
              </a:spcAft>
              <a:buClr>
                <a:srgbClr val="8B9BFF"/>
              </a:buClr>
              <a:buSzPct val="90000"/>
              <a:buFont typeface="+mj-lt"/>
              <a:buChar char="▪"/>
            </a:pPr>
            <a:r>
              <a:rPr lang="en-US" sz="900">
                <a:solidFill>
                  <a:srgbClr val="F1F4F9"/>
                </a:solidFill>
                <a:latin typeface="Segoe UI Semibold" panose="020B0702040204020203" pitchFamily="34" charset="0"/>
              </a:rPr>
              <a:t>Research position:</a:t>
            </a:r>
            <a:r>
              <a:rPr lang="en-US" sz="900">
                <a:solidFill>
                  <a:srgbClr val="B3BDCF"/>
                </a:solidFill>
                <a:latin typeface="Segoe UI" panose="020B0502040204020203" pitchFamily="34" charset="0"/>
              </a:rPr>
              <a:t>  five core papers form one pipeline — Represent, Understand, Plan, Predict, Explain. OneForAll's contribution is the permission-aware engineering context that connects them.</a:t>
            </a:r>
          </a:p>
          <a:p>
            <a:pPr marL="139700" indent="-139700">
              <a:spcAft>
                <a:spcPts val="400"/>
              </a:spcAft>
              <a:buClr>
                <a:srgbClr val="8B9BFF"/>
              </a:buClr>
              <a:buSzPct val="90000"/>
              <a:buFont typeface="+mj-lt"/>
              <a:buChar char="▪"/>
            </a:pPr>
            <a:r>
              <a:rPr lang="en-US" sz="900">
                <a:solidFill>
                  <a:srgbClr val="F1F4F9"/>
                </a:solidFill>
                <a:latin typeface="Segoe UI Semibold" panose="020B0702040204020203" pitchFamily="34" charset="0"/>
              </a:rPr>
              <a:t>Next:</a:t>
            </a:r>
            <a:r>
              <a:rPr lang="en-US" sz="900">
                <a:solidFill>
                  <a:srgbClr val="B3BDCF"/>
                </a:solidFill>
                <a:latin typeface="Segoe UI" panose="020B0502040204020203" pitchFamily="34" charset="0"/>
              </a:rPr>
              <a:t>  Phase 2I engineering context, then AI orchestration and explainable defect-risk prediction.</a:t>
            </a:r>
            <a:endParaRPr lang="en-IN" sz="900">
              <a:solidFill>
                <a:srgbClr val="B3BDCF"/>
              </a:solidFill>
              <a:latin typeface="Segoe UI" panose="020B0502040204020203" pitchFamily="34" charset="0"/>
            </a:endParaRPr>
          </a:p>
        </p:txBody>
      </p:sp>
      <p:sp>
        <p:nvSpPr>
          <p:cNvPr id="9" name="TextBox 8">
            <a:extLst>
              <a:ext uri="{FF2B5EF4-FFF2-40B4-BE49-F238E27FC236}">
                <a16:creationId xmlns:a16="http://schemas.microsoft.com/office/drawing/2014/main" id="{763463A2-DED9-050E-1CC3-F60BEC43CFA8}"/>
              </a:ext>
            </a:extLst>
          </p:cNvPr>
          <p:cNvSpPr txBox="1"/>
          <p:nvPr/>
        </p:nvSpPr>
        <p:spPr>
          <a:xfrm>
            <a:off x="508000" y="2159000"/>
            <a:ext cx="5486400" cy="4064000"/>
          </a:xfrm>
          <a:prstGeom prst="rect">
            <a:avLst/>
          </a:prstGeom>
          <a:noFill/>
        </p:spPr>
        <p:txBody>
          <a:bodyPr vert="horz" wrap="square" lIns="0" tIns="0" rIns="0" bIns="0" rtlCol="0">
            <a:noAutofit/>
          </a:bodyPr>
          <a:lstStyle/>
          <a:p>
            <a:pPr>
              <a:spcAft>
                <a:spcPts val="500"/>
              </a:spcAft>
            </a:pPr>
            <a:r>
              <a:rPr lang="en-IN" sz="850">
                <a:solidFill>
                  <a:srgbClr val="B3BDCF"/>
                </a:solidFill>
                <a:latin typeface="Segoe UI" panose="020B0502040204020203" pitchFamily="34" charset="0"/>
              </a:rPr>
              <a:t>[1] S. Ouyang, W. Yu, K. Ma, Z. Xiao, Z. Zhang, M. Jia, J. Han, H. Zhang, and D. Yu, “RepoGraph: Enhancing AI software engineering with repository-level code graph,” in Proc. ICLR, 2025.</a:t>
            </a:r>
          </a:p>
          <a:p>
            <a:pPr>
              <a:spcAft>
                <a:spcPts val="500"/>
              </a:spcAft>
            </a:pPr>
            <a:r>
              <a:rPr lang="en-IN" sz="850">
                <a:solidFill>
                  <a:srgbClr val="B3BDCF"/>
                </a:solidFill>
                <a:latin typeface="Segoe UI" panose="020B0502040204020203" pitchFamily="34" charset="0"/>
              </a:rPr>
              <a:t>[2] H. Tao et al., “Code Graph Model (CGM): A graph-integrated large language model for repository-level software engineering tasks,” in Proc. NeurIPS, vol. 38, 2025.</a:t>
            </a:r>
          </a:p>
          <a:p>
            <a:pPr>
              <a:spcAft>
                <a:spcPts val="500"/>
              </a:spcAft>
            </a:pPr>
            <a:r>
              <a:rPr lang="en-IN" sz="850">
                <a:solidFill>
                  <a:srgbClr val="B3BDCF"/>
                </a:solidFill>
                <a:latin typeface="Segoe UI" panose="020B0502040204020203" pitchFamily="34" charset="0"/>
              </a:rPr>
              <a:t>[3] R. Bairi et al., “CodePlan: Repository-level coding using LLMs and planning,” Proc. ACM Softw. Eng., vol. 1, no. FSE, pp. 675–698, 2024.</a:t>
            </a:r>
          </a:p>
          <a:p>
            <a:pPr>
              <a:spcAft>
                <a:spcPts val="500"/>
              </a:spcAft>
            </a:pPr>
            <a:r>
              <a:rPr lang="en-IN" sz="850">
                <a:solidFill>
                  <a:srgbClr val="B3BDCF"/>
                </a:solidFill>
                <a:latin typeface="Segoe UI" panose="020B0502040204020203" pitchFamily="34" charset="0"/>
              </a:rPr>
              <a:t>[4] Y. Jiang, B. Shen, and X. Gu, “Just-in-time software defect prediction via bi-modal change representation learning,” J. Syst. Softw., vol. 219, Art. 112253, 2025.</a:t>
            </a:r>
          </a:p>
          <a:p>
            <a:pPr>
              <a:spcAft>
                <a:spcPts val="500"/>
              </a:spcAft>
            </a:pPr>
            <a:r>
              <a:rPr lang="en-IN" sz="850">
                <a:solidFill>
                  <a:srgbClr val="B3BDCF"/>
                </a:solidFill>
                <a:latin typeface="Segoe UI" panose="020B0502040204020203" pitchFamily="34" charset="0"/>
              </a:rPr>
              <a:t>[5] J. Yu, M. Fu, A. Ignatiev, C. Tantithamthavorn, and P. Stuckey, “A formal explainer for just-in-time defect predictions,” ACM Trans. Softw. Eng. Methodol., vol. 33, no. 7, pp. 1–31, 2024.</a:t>
            </a:r>
          </a:p>
          <a:p>
            <a:pPr>
              <a:spcAft>
                <a:spcPts val="500"/>
              </a:spcAft>
            </a:pPr>
            <a:r>
              <a:rPr lang="en-IN" sz="850">
                <a:solidFill>
                  <a:srgbClr val="B3BDCF"/>
                </a:solidFill>
                <a:latin typeface="Segoe UI" panose="020B0502040204020203" pitchFamily="34" charset="0"/>
              </a:rPr>
              <a:t>[6] F. Zhang et al., “RepoCoder: Repository-level code completion through iterative retrieval and generation,” in Proc. EMNLP, 2023.</a:t>
            </a:r>
          </a:p>
          <a:p>
            <a:pPr>
              <a:spcAft>
                <a:spcPts val="500"/>
              </a:spcAft>
            </a:pPr>
            <a:r>
              <a:rPr lang="en-IN" sz="850">
                <a:solidFill>
                  <a:srgbClr val="B3BDCF"/>
                </a:solidFill>
                <a:latin typeface="Segoe UI" panose="020B0502040204020203" pitchFamily="34" charset="0"/>
              </a:rPr>
              <a:t>[7] C. E. Jimenez et al., “SWE-bench: Can language models resolve real-world GitHub issues?,” in Proc. ICLR, 2024.</a:t>
            </a:r>
          </a:p>
          <a:p>
            <a:pPr>
              <a:spcAft>
                <a:spcPts val="500"/>
              </a:spcAft>
            </a:pPr>
            <a:r>
              <a:rPr lang="en-IN" sz="850">
                <a:solidFill>
                  <a:srgbClr val="B3BDCF"/>
                </a:solidFill>
                <a:latin typeface="Segoe UI" panose="020B0502040204020203" pitchFamily="34" charset="0"/>
              </a:rPr>
              <a:t>[8] J. Yang et al., “SWE-agent: Agent-computer interfaces enable automated software engineering,” in Proc. NeurIPS, 2024.</a:t>
            </a:r>
          </a:p>
        </p:txBody>
      </p:sp>
      <p:sp>
        <p:nvSpPr>
          <p:cNvPr id="10" name="TextBox 9">
            <a:extLst>
              <a:ext uri="{FF2B5EF4-FFF2-40B4-BE49-F238E27FC236}">
                <a16:creationId xmlns:a16="http://schemas.microsoft.com/office/drawing/2014/main" id="{D5451D76-9607-9602-2C68-E7DD658C202A}"/>
              </a:ext>
            </a:extLst>
          </p:cNvPr>
          <p:cNvSpPr txBox="1"/>
          <p:nvPr/>
        </p:nvSpPr>
        <p:spPr>
          <a:xfrm>
            <a:off x="6197600" y="2159000"/>
            <a:ext cx="5486400" cy="3556000"/>
          </a:xfrm>
          <a:prstGeom prst="rect">
            <a:avLst/>
          </a:prstGeom>
          <a:noFill/>
        </p:spPr>
        <p:txBody>
          <a:bodyPr vert="horz" wrap="square" lIns="0" tIns="0" rIns="0" bIns="0" rtlCol="0">
            <a:noAutofit/>
          </a:bodyPr>
          <a:lstStyle/>
          <a:p>
            <a:pPr>
              <a:spcAft>
                <a:spcPts val="500"/>
              </a:spcAft>
            </a:pPr>
            <a:r>
              <a:rPr lang="en-IN" sz="850">
                <a:solidFill>
                  <a:srgbClr val="B3BDCF"/>
                </a:solidFill>
                <a:latin typeface="Segoe UI" panose="020B0502040204020203" pitchFamily="34" charset="0"/>
              </a:rPr>
              <a:t>[9] Z. Feng et al., “CodeBERT: A pre-trained model for programming and natural languages,” in Findings of EMNLP, 2020.</a:t>
            </a:r>
          </a:p>
          <a:p>
            <a:pPr>
              <a:spcAft>
                <a:spcPts val="500"/>
              </a:spcAft>
            </a:pPr>
            <a:r>
              <a:rPr lang="en-IN" sz="850">
                <a:solidFill>
                  <a:srgbClr val="B3BDCF"/>
                </a:solidFill>
                <a:latin typeface="Segoe UI" panose="020B0502040204020203" pitchFamily="34" charset="0"/>
              </a:rPr>
              <a:t>[10] D. Guo et al., “GraphCodeBERT: Pre-training code representations with data flow,” in Proc. ICLR, 2021.</a:t>
            </a:r>
          </a:p>
          <a:p>
            <a:pPr>
              <a:spcAft>
                <a:spcPts val="500"/>
              </a:spcAft>
            </a:pPr>
            <a:r>
              <a:rPr lang="en-IN" sz="850">
                <a:solidFill>
                  <a:srgbClr val="B3BDCF"/>
                </a:solidFill>
                <a:latin typeface="Segoe UI" panose="020B0502040204020203" pitchFamily="34" charset="0"/>
              </a:rPr>
              <a:t>[11] Z. Zeng et al., “Deep just-in-time defect prediction: How far are we?,” in Proc. ISSTA, 2021.</a:t>
            </a:r>
          </a:p>
          <a:p>
            <a:pPr>
              <a:spcAft>
                <a:spcPts val="500"/>
              </a:spcAft>
            </a:pPr>
            <a:r>
              <a:rPr lang="en-IN" sz="850">
                <a:solidFill>
                  <a:srgbClr val="B3BDCF"/>
                </a:solidFill>
                <a:latin typeface="Segoe UI" panose="020B0502040204020203" pitchFamily="34" charset="0"/>
              </a:rPr>
              <a:t>[12] Y. Kamei et al., “A large-scale empirical study of just-in-time quality assurance,” IEEE Trans. Softw. Eng., vol. 39, no. 6, pp. 757–773, 2013.</a:t>
            </a:r>
          </a:p>
          <a:p>
            <a:pPr>
              <a:spcAft>
                <a:spcPts val="500"/>
              </a:spcAft>
            </a:pPr>
            <a:r>
              <a:rPr lang="en-IN" sz="850">
                <a:solidFill>
                  <a:srgbClr val="B3BDCF"/>
                </a:solidFill>
                <a:latin typeface="Segoe UI" panose="020B0502040204020203" pitchFamily="34" charset="0"/>
              </a:rPr>
              <a:t>[13] Tree-sitter, “Tree-sitter: An incremental parsing system,” documentation. [Online]. Available: https://tree-sitter.github.io</a:t>
            </a:r>
          </a:p>
          <a:p>
            <a:pPr>
              <a:spcAft>
                <a:spcPts val="500"/>
              </a:spcAft>
            </a:pPr>
            <a:r>
              <a:rPr lang="en-IN" sz="850">
                <a:solidFill>
                  <a:srgbClr val="B3BDCF"/>
                </a:solidFill>
                <a:latin typeface="Segoe UI" panose="020B0502040204020203" pitchFamily="34" charset="0"/>
              </a:rPr>
              <a:t>[14] PostgreSQL Global Development Group, “Row Security Policies,” PostgreSQL Documentation. [Online]. Available: https://www.postgresql.org/docs/</a:t>
            </a:r>
          </a:p>
          <a:p>
            <a:pPr>
              <a:spcAft>
                <a:spcPts val="500"/>
              </a:spcAft>
            </a:pPr>
            <a:r>
              <a:rPr lang="en-IN" sz="850">
                <a:solidFill>
                  <a:srgbClr val="B3BDCF"/>
                </a:solidFill>
                <a:latin typeface="Segoe UI" panose="020B0502040204020203" pitchFamily="34" charset="0"/>
              </a:rPr>
              <a:t>[15] Supabase, “Row Level Security” and “Vault,” Supabase Documentation. [Online]. Available: https://supabase.com/docs</a:t>
            </a:r>
          </a:p>
        </p:txBody>
      </p:sp>
      <p:sp>
        <p:nvSpPr>
          <p:cNvPr id="11" name="TextBox 10">
            <a:extLst>
              <a:ext uri="{FF2B5EF4-FFF2-40B4-BE49-F238E27FC236}">
                <a16:creationId xmlns:a16="http://schemas.microsoft.com/office/drawing/2014/main" id="{132E32E4-B108-33C6-E3CC-289B93571696}"/>
              </a:ext>
            </a:extLst>
          </p:cNvPr>
          <p:cNvSpPr txBox="1"/>
          <p:nvPr/>
        </p:nvSpPr>
        <p:spPr>
          <a:xfrm>
            <a:off x="6197600" y="5867400"/>
            <a:ext cx="5486400" cy="381000"/>
          </a:xfrm>
          <a:prstGeom prst="rect">
            <a:avLst/>
          </a:prstGeom>
          <a:noFill/>
        </p:spPr>
        <p:txBody>
          <a:bodyPr vert="horz" wrap="square" lIns="0" tIns="0" rIns="0" bIns="0" rtlCol="0" anchor="b">
            <a:noAutofit/>
          </a:bodyPr>
          <a:lstStyle/>
          <a:p>
            <a:pPr algn="r"/>
            <a:r>
              <a:rPr lang="en-IN" sz="1600">
                <a:solidFill>
                  <a:srgbClr val="F1F4F9"/>
                </a:solidFill>
                <a:latin typeface="Segoe UI Semibold" panose="020B0702040204020203" pitchFamily="34" charset="0"/>
              </a:rPr>
              <a:t>Thank you  ·  Questions</a:t>
            </a:r>
          </a:p>
        </p:txBody>
      </p:sp>
    </p:spTree>
    <p:extLst>
      <p:ext uri="{BB962C8B-B14F-4D97-AF65-F5344CB8AC3E}">
        <p14:creationId xmlns:p14="http://schemas.microsoft.com/office/powerpoint/2010/main" val="2230774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6563</Words>
  <Application>Microsoft Office PowerPoint</Application>
  <PresentationFormat>Custom</PresentationFormat>
  <Paragraphs>701</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JITHIN P R</dc:creator>
  <cp:lastModifiedBy>JITHIN P R</cp:lastModifiedBy>
  <cp:revision>1</cp:revision>
  <dcterms:created xsi:type="dcterms:W3CDTF">2026-10-07T20:07:24Z</dcterms:created>
  <dcterms:modified xsi:type="dcterms:W3CDTF">2026-10-07T20:07:24Z</dcterms:modified>
</cp:coreProperties>
</file>